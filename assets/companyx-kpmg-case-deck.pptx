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ial Bold" panose="020B0704020202020204" pitchFamily="34" charset="0"/>
      <p:regular r:id="rId12"/>
      <p:bold r:id="rId13"/>
    </p:embeddedFont>
    <p:embeddedFont>
      <p:font typeface="Arial Bold Italics" panose="020B070402020209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15" autoAdjust="0"/>
    <p:restoredTop sz="94584" autoAdjust="0"/>
  </p:normalViewPr>
  <p:slideViewPr>
    <p:cSldViewPr>
      <p:cViewPr varScale="1">
        <p:scale>
          <a:sx n="167" d="100"/>
          <a:sy n="167" d="100"/>
        </p:scale>
        <p:origin x="208" y="3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5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239000" cy="10287000"/>
            <a:chOff x="0" y="0"/>
            <a:chExt cx="9652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52000" cy="13716000"/>
            </a:xfrm>
            <a:custGeom>
              <a:avLst/>
              <a:gdLst/>
              <a:ahLst/>
              <a:cxnLst/>
              <a:rect l="l" t="t" r="r" b="b"/>
              <a:pathLst>
                <a:path w="9652000" h="13716000">
                  <a:moveTo>
                    <a:pt x="0" y="0"/>
                  </a:moveTo>
                  <a:lnTo>
                    <a:pt x="9652000" y="0"/>
                  </a:lnTo>
                  <a:lnTo>
                    <a:pt x="9652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61B3F"/>
            </a:solidFill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239000" y="0"/>
            <a:ext cx="2476500" cy="10287000"/>
            <a:chOff x="0" y="0"/>
            <a:chExt cx="3302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302000" cy="13716000"/>
            </a:xfrm>
            <a:custGeom>
              <a:avLst/>
              <a:gdLst/>
              <a:ahLst/>
              <a:cxnLst/>
              <a:rect l="l" t="t" r="r" b="b"/>
              <a:pathLst>
                <a:path w="3302000" h="13716000">
                  <a:moveTo>
                    <a:pt x="0" y="0"/>
                  </a:moveTo>
                  <a:lnTo>
                    <a:pt x="3302000" y="0"/>
                  </a:lnTo>
                  <a:lnTo>
                    <a:pt x="3302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8F5F8"/>
            </a:solidFill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239000" y="6191250"/>
            <a:ext cx="2476500" cy="1085850"/>
            <a:chOff x="0" y="0"/>
            <a:chExt cx="3302000" cy="1447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02000" cy="1447800"/>
            </a:xfrm>
            <a:custGeom>
              <a:avLst/>
              <a:gdLst/>
              <a:ahLst/>
              <a:cxnLst/>
              <a:rect l="l" t="t" r="r" b="b"/>
              <a:pathLst>
                <a:path w="3302000" h="1447800">
                  <a:moveTo>
                    <a:pt x="0" y="0"/>
                  </a:moveTo>
                  <a:lnTo>
                    <a:pt x="3302000" y="0"/>
                  </a:lnTo>
                  <a:lnTo>
                    <a:pt x="3302000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00BAFF"/>
            </a:solidFill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22846" y="2389661"/>
            <a:ext cx="4825259" cy="4067084"/>
            <a:chOff x="0" y="0"/>
            <a:chExt cx="4154795" cy="35019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54795" cy="3501968"/>
            </a:xfrm>
            <a:custGeom>
              <a:avLst/>
              <a:gdLst/>
              <a:ahLst/>
              <a:cxnLst/>
              <a:rect l="l" t="t" r="r" b="b"/>
              <a:pathLst>
                <a:path w="4154795" h="3501968">
                  <a:moveTo>
                    <a:pt x="90251" y="0"/>
                  </a:moveTo>
                  <a:lnTo>
                    <a:pt x="4064544" y="0"/>
                  </a:lnTo>
                  <a:cubicBezTo>
                    <a:pt x="4088480" y="0"/>
                    <a:pt x="4111436" y="9509"/>
                    <a:pt x="4128361" y="26434"/>
                  </a:cubicBezTo>
                  <a:cubicBezTo>
                    <a:pt x="4145287" y="43359"/>
                    <a:pt x="4154795" y="66315"/>
                    <a:pt x="4154795" y="90251"/>
                  </a:cubicBezTo>
                  <a:lnTo>
                    <a:pt x="4154795" y="3411717"/>
                  </a:lnTo>
                  <a:cubicBezTo>
                    <a:pt x="4154795" y="3435653"/>
                    <a:pt x="4145287" y="3458609"/>
                    <a:pt x="4128361" y="3475534"/>
                  </a:cubicBezTo>
                  <a:cubicBezTo>
                    <a:pt x="4111436" y="3492459"/>
                    <a:pt x="4088480" y="3501968"/>
                    <a:pt x="4064544" y="3501968"/>
                  </a:cubicBezTo>
                  <a:lnTo>
                    <a:pt x="90251" y="3501968"/>
                  </a:lnTo>
                  <a:cubicBezTo>
                    <a:pt x="40407" y="3501968"/>
                    <a:pt x="0" y="3461561"/>
                    <a:pt x="0" y="3411717"/>
                  </a:cubicBezTo>
                  <a:lnTo>
                    <a:pt x="0" y="90251"/>
                  </a:lnTo>
                  <a:cubicBezTo>
                    <a:pt x="0" y="66315"/>
                    <a:pt x="9509" y="43359"/>
                    <a:pt x="26434" y="26434"/>
                  </a:cubicBezTo>
                  <a:cubicBezTo>
                    <a:pt x="43359" y="9509"/>
                    <a:pt x="66315" y="0"/>
                    <a:pt x="90251" y="0"/>
                  </a:cubicBezTo>
                  <a:close/>
                </a:path>
              </a:pathLst>
            </a:custGeom>
            <a:solidFill>
              <a:srgbClr val="E5EDF6"/>
            </a:solidFill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334750" y="2228850"/>
            <a:ext cx="4762500" cy="4095750"/>
            <a:chOff x="0" y="0"/>
            <a:chExt cx="6350000" cy="5461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5461000"/>
            </a:xfrm>
            <a:custGeom>
              <a:avLst/>
              <a:gdLst/>
              <a:ahLst/>
              <a:cxnLst/>
              <a:rect l="l" t="t" r="r" b="b"/>
              <a:pathLst>
                <a:path w="6350000" h="5461000">
                  <a:moveTo>
                    <a:pt x="127000" y="0"/>
                  </a:moveTo>
                  <a:lnTo>
                    <a:pt x="6223000" y="0"/>
                  </a:lnTo>
                  <a:cubicBezTo>
                    <a:pt x="6293140" y="0"/>
                    <a:pt x="6350000" y="56860"/>
                    <a:pt x="6350000" y="127000"/>
                  </a:cubicBezTo>
                  <a:lnTo>
                    <a:pt x="6350000" y="5334000"/>
                  </a:lnTo>
                  <a:cubicBezTo>
                    <a:pt x="6350000" y="5404140"/>
                    <a:pt x="6293140" y="5461000"/>
                    <a:pt x="6223000" y="5461000"/>
                  </a:cubicBezTo>
                  <a:lnTo>
                    <a:pt x="127000" y="5461000"/>
                  </a:lnTo>
                  <a:cubicBezTo>
                    <a:pt x="56860" y="5461000"/>
                    <a:pt x="0" y="5404140"/>
                    <a:pt x="0" y="5334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92A5C"/>
            </a:solidFill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76300" y="1600200"/>
            <a:ext cx="514350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i="1">
                <a:solidFill>
                  <a:srgbClr val="00BA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Company X customer service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6300" y="2495550"/>
            <a:ext cx="6096563" cy="1432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50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Fra systemjagt</a:t>
            </a:r>
          </a:p>
          <a:p>
            <a:pPr algn="l">
              <a:lnSpc>
                <a:spcPts val="5520"/>
              </a:lnSpc>
            </a:pPr>
            <a:r>
              <a:rPr lang="en-US" sz="50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til beslutningsstøtte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6300" y="4472330"/>
            <a:ext cx="5334000" cy="1366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0"/>
              </a:lnSpc>
            </a:pPr>
            <a:r>
              <a:rPr lang="en-US" sz="2025">
                <a:solidFill>
                  <a:srgbClr val="D7E2EF"/>
                </a:solidFill>
                <a:latin typeface="Arial"/>
                <a:ea typeface="Arial"/>
                <a:cs typeface="Arial"/>
                <a:sym typeface="Arial"/>
              </a:rPr>
              <a:t>Et fokuseret AI-enabled program for billing support, hvor medarbejderen får et samlet kundeoverblik, en mulig forklaring og et godkendelsesklart svar.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6300" y="6943725"/>
            <a:ext cx="190500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1800" b="1">
                <a:solidFill>
                  <a:srgbClr val="00BAFF"/>
                </a:solidFill>
                <a:latin typeface="Arial Bold"/>
                <a:ea typeface="Arial Bold"/>
                <a:cs typeface="Arial Bold"/>
                <a:sym typeface="Arial Bold"/>
              </a:rPr>
              <a:t>Anbefaling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6300" y="7343775"/>
            <a:ext cx="5619750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Start internt med SIGNAL AGENT.</a:t>
            </a:r>
          </a:p>
          <a:p>
            <a:pPr algn="l">
              <a:lnSpc>
                <a:spcPts val="2721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Bevis effekt på fakturaflowet.</a:t>
            </a:r>
          </a:p>
          <a:p>
            <a:pPr algn="l">
              <a:lnSpc>
                <a:spcPts val="2721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Skalér først når KPI’erne holder.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906250" y="2743200"/>
            <a:ext cx="314325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500" b="1">
                <a:solidFill>
                  <a:srgbClr val="2FC3D7"/>
                </a:solidFill>
                <a:latin typeface="Arial Bold"/>
                <a:ea typeface="Arial Bold"/>
                <a:cs typeface="Arial Bold"/>
                <a:sym typeface="Arial Bold"/>
              </a:rPr>
              <a:t>Kernepåstand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906250" y="3286125"/>
            <a:ext cx="3286125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325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Company X har dataene. Værdien ligger i at samle dem hurtigt, forklare dem sikkert og dokumentere beslutningen.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76300" y="9667875"/>
            <a:ext cx="723900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9"/>
              </a:lnSpc>
            </a:pPr>
            <a:r>
              <a:rPr lang="en-US" sz="900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rPr>
              <a:t>© 2026 KPMG P/S · Arbejdsmateriale til Company X case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621000" y="9667875"/>
            <a:ext cx="142875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09"/>
              </a:lnSpc>
            </a:pPr>
            <a:r>
              <a:rPr lang="en-US" sz="900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rPr>
              <a:t>Storyline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297400" y="9620250"/>
            <a:ext cx="2667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sz="13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  <p:sp>
        <p:nvSpPr>
          <p:cNvPr id="24" name="Freeform 24"/>
          <p:cNvSpPr/>
          <p:nvPr/>
        </p:nvSpPr>
        <p:spPr>
          <a:xfrm>
            <a:off x="15621000" y="324641"/>
            <a:ext cx="287675" cy="287675"/>
          </a:xfrm>
          <a:custGeom>
            <a:avLst/>
            <a:gdLst/>
            <a:ahLst/>
            <a:cxnLst/>
            <a:rect l="l" t="t" r="r" b="b"/>
            <a:pathLst>
              <a:path w="287675" h="287675">
                <a:moveTo>
                  <a:pt x="0" y="0"/>
                </a:moveTo>
                <a:lnTo>
                  <a:pt x="287675" y="0"/>
                </a:lnTo>
                <a:lnTo>
                  <a:pt x="287675" y="287675"/>
                </a:lnTo>
                <a:lnTo>
                  <a:pt x="0" y="28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25" name="Freeform 25"/>
          <p:cNvSpPr/>
          <p:nvPr/>
        </p:nvSpPr>
        <p:spPr>
          <a:xfrm>
            <a:off x="15629775" y="324641"/>
            <a:ext cx="270125" cy="270125"/>
          </a:xfrm>
          <a:custGeom>
            <a:avLst/>
            <a:gdLst/>
            <a:ahLst/>
            <a:cxnLst/>
            <a:rect l="l" t="t" r="r" b="b"/>
            <a:pathLst>
              <a:path w="270125" h="270125">
                <a:moveTo>
                  <a:pt x="0" y="0"/>
                </a:moveTo>
                <a:lnTo>
                  <a:pt x="270125" y="0"/>
                </a:lnTo>
                <a:lnTo>
                  <a:pt x="270125" y="270125"/>
                </a:lnTo>
                <a:lnTo>
                  <a:pt x="0" y="270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26" name="Freeform 26"/>
          <p:cNvSpPr/>
          <p:nvPr/>
        </p:nvSpPr>
        <p:spPr>
          <a:xfrm>
            <a:off x="15746594" y="363749"/>
            <a:ext cx="36487" cy="36487"/>
          </a:xfrm>
          <a:custGeom>
            <a:avLst/>
            <a:gdLst/>
            <a:ahLst/>
            <a:cxnLst/>
            <a:rect l="l" t="t" r="r" b="b"/>
            <a:pathLst>
              <a:path w="36487" h="36487">
                <a:moveTo>
                  <a:pt x="0" y="0"/>
                </a:moveTo>
                <a:lnTo>
                  <a:pt x="36487" y="0"/>
                </a:lnTo>
                <a:lnTo>
                  <a:pt x="36487" y="36487"/>
                </a:lnTo>
                <a:lnTo>
                  <a:pt x="0" y="364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27" name="Freeform 27"/>
          <p:cNvSpPr/>
          <p:nvPr/>
        </p:nvSpPr>
        <p:spPr>
          <a:xfrm>
            <a:off x="15746594" y="520512"/>
            <a:ext cx="36487" cy="36487"/>
          </a:xfrm>
          <a:custGeom>
            <a:avLst/>
            <a:gdLst/>
            <a:ahLst/>
            <a:cxnLst/>
            <a:rect l="l" t="t" r="r" b="b"/>
            <a:pathLst>
              <a:path w="36487" h="36487">
                <a:moveTo>
                  <a:pt x="0" y="0"/>
                </a:moveTo>
                <a:lnTo>
                  <a:pt x="36487" y="0"/>
                </a:lnTo>
                <a:lnTo>
                  <a:pt x="36487" y="36487"/>
                </a:lnTo>
                <a:lnTo>
                  <a:pt x="0" y="364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28" name="Freeform 28"/>
          <p:cNvSpPr/>
          <p:nvPr/>
        </p:nvSpPr>
        <p:spPr>
          <a:xfrm>
            <a:off x="17284250" y="329482"/>
            <a:ext cx="697707" cy="277993"/>
          </a:xfrm>
          <a:custGeom>
            <a:avLst/>
            <a:gdLst/>
            <a:ahLst/>
            <a:cxnLst/>
            <a:rect l="l" t="t" r="r" b="b"/>
            <a:pathLst>
              <a:path w="697707" h="277993">
                <a:moveTo>
                  <a:pt x="0" y="0"/>
                </a:moveTo>
                <a:lnTo>
                  <a:pt x="697707" y="0"/>
                </a:lnTo>
                <a:lnTo>
                  <a:pt x="697707" y="277993"/>
                </a:lnTo>
                <a:lnTo>
                  <a:pt x="0" y="2779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29" name="TextBox 29"/>
          <p:cNvSpPr txBox="1"/>
          <p:nvPr/>
        </p:nvSpPr>
        <p:spPr>
          <a:xfrm>
            <a:off x="16004827" y="482215"/>
            <a:ext cx="1628357" cy="149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0"/>
              </a:lnSpc>
            </a:pPr>
            <a:r>
              <a:rPr lang="en-US" sz="595" b="1">
                <a:solidFill>
                  <a:srgbClr val="6D7584"/>
                </a:solidFill>
                <a:latin typeface="Arial Bold"/>
                <a:ea typeface="Arial Bold"/>
                <a:cs typeface="Arial Bold"/>
                <a:sym typeface="Arial Bold"/>
              </a:rPr>
              <a:t>TELECOMMUNICATIONS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004827" y="265436"/>
            <a:ext cx="1279423" cy="203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5"/>
              </a:lnSpc>
            </a:pPr>
            <a:r>
              <a:rPr lang="en-US" sz="1282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Company X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013370" y="333117"/>
            <a:ext cx="186098" cy="216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lang="en-US" sz="1465">
                <a:solidFill>
                  <a:srgbClr val="798399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76300" y="9667875"/>
            <a:ext cx="723900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9"/>
              </a:lnSpc>
            </a:pPr>
            <a:r>
              <a:rPr lang="en-US" sz="900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rPr>
              <a:t>© 2026 KPMG P/S · Arbejdsmateriale til Company X case</a:t>
            </a:r>
          </a:p>
        </p:txBody>
      </p:sp>
      <p:sp>
        <p:nvSpPr>
          <p:cNvPr id="33" name="Freeform 33"/>
          <p:cNvSpPr/>
          <p:nvPr/>
        </p:nvSpPr>
        <p:spPr>
          <a:xfrm>
            <a:off x="876300" y="9476345"/>
            <a:ext cx="456796" cy="182005"/>
          </a:xfrm>
          <a:custGeom>
            <a:avLst/>
            <a:gdLst/>
            <a:ahLst/>
            <a:cxnLst/>
            <a:rect l="l" t="t" r="r" b="b"/>
            <a:pathLst>
              <a:path w="456796" h="182005">
                <a:moveTo>
                  <a:pt x="0" y="0"/>
                </a:moveTo>
                <a:lnTo>
                  <a:pt x="456796" y="0"/>
                </a:lnTo>
                <a:lnTo>
                  <a:pt x="456796" y="182005"/>
                </a:lnTo>
                <a:lnTo>
                  <a:pt x="0" y="1820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grpSp>
        <p:nvGrpSpPr>
          <p:cNvPr id="34" name="Group 32">
            <a:extLst>
              <a:ext uri="{FF2B5EF4-FFF2-40B4-BE49-F238E27FC236}">
                <a16:creationId xmlns:a16="http://schemas.microsoft.com/office/drawing/2014/main" id="{F03CA2F5-1D78-1D12-03B3-D8D7DC32AFCC}"/>
              </a:ext>
            </a:extLst>
          </p:cNvPr>
          <p:cNvGrpSpPr/>
          <p:nvPr/>
        </p:nvGrpSpPr>
        <p:grpSpPr>
          <a:xfrm rot="381449">
            <a:off x="17164050" y="9647389"/>
            <a:ext cx="19050" cy="190500"/>
            <a:chOff x="0" y="0"/>
            <a:chExt cx="25400" cy="254000"/>
          </a:xfrm>
        </p:grpSpPr>
        <p:sp>
          <p:nvSpPr>
            <p:cNvPr id="35" name="Freeform 33">
              <a:extLst>
                <a:ext uri="{FF2B5EF4-FFF2-40B4-BE49-F238E27FC236}">
                  <a16:creationId xmlns:a16="http://schemas.microsoft.com/office/drawing/2014/main" id="{B29D0FF4-D0FD-2A73-7951-BD8220C16579}"/>
                </a:ext>
              </a:extLst>
            </p:cNvPr>
            <p:cNvSpPr/>
            <p:nvPr/>
          </p:nvSpPr>
          <p:spPr>
            <a:xfrm>
              <a:off x="0" y="0"/>
              <a:ext cx="25400" cy="254000"/>
            </a:xfrm>
            <a:custGeom>
              <a:avLst/>
              <a:gdLst/>
              <a:ahLst/>
              <a:cxnLst/>
              <a:rect l="l" t="t" r="r" b="b"/>
              <a:pathLst>
                <a:path w="25400" h="254000">
                  <a:moveTo>
                    <a:pt x="0" y="0"/>
                  </a:moveTo>
                  <a:lnTo>
                    <a:pt x="25400" y="254000"/>
                  </a:lnTo>
                </a:path>
              </a:pathLst>
            </a:custGeom>
            <a:blipFill>
              <a:blip r:embed="rId6">
                <a:alphaModFix amt="0"/>
              </a:blip>
              <a:stretch>
                <a:fillRect l="-1233035" r="-1233035"/>
              </a:stretch>
            </a:blipFill>
            <a:ln w="19050" cap="sq">
              <a:solidFill>
                <a:srgbClr val="061B3F"/>
              </a:solidFill>
              <a:prstDash val="solid"/>
              <a:miter/>
            </a:ln>
          </p:spPr>
          <p:txBody>
            <a:bodyPr/>
            <a:lstStyle/>
            <a:p>
              <a:endParaRPr lang="da-DK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66750"/>
            <a:ext cx="409575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i="1">
                <a:solidFill>
                  <a:srgbClr val="00BA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Business problem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6300" y="1228086"/>
            <a:ext cx="11811000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5"/>
              </a:lnSpc>
            </a:pPr>
            <a:r>
              <a:rPr lang="en-US" sz="46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Customer service er en stor omkostningsbase</a:t>
            </a:r>
          </a:p>
          <a:p>
            <a:pPr algn="l">
              <a:lnSpc>
                <a:spcPts val="5245"/>
              </a:lnSpc>
            </a:pPr>
            <a:r>
              <a:rPr lang="en-US" sz="46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med for meget manuel systemjagt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90600" y="3400425"/>
            <a:ext cx="1123950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1950">
                <a:solidFill>
                  <a:srgbClr val="061B3F"/>
                </a:solidFill>
                <a:latin typeface="Arial"/>
                <a:ea typeface="Arial"/>
                <a:cs typeface="Arial"/>
                <a:sym typeface="Arial"/>
              </a:rPr>
              <a:t>Company X baseline fra kundeservice-, faktura- og opkaldsdata: kunden oplever ventetid, mens medarbejderen samler kontekst på tværs af fragmenterede systemer.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04900" y="4419600"/>
            <a:ext cx="3429000" cy="2457450"/>
            <a:chOff x="0" y="0"/>
            <a:chExt cx="4572000" cy="3276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72000" cy="3276600"/>
            </a:xfrm>
            <a:custGeom>
              <a:avLst/>
              <a:gdLst/>
              <a:ahLst/>
              <a:cxnLst/>
              <a:rect l="l" t="t" r="r" b="b"/>
              <a:pathLst>
                <a:path w="4572000" h="3276600">
                  <a:moveTo>
                    <a:pt x="127000" y="0"/>
                  </a:moveTo>
                  <a:lnTo>
                    <a:pt x="4445000" y="0"/>
                  </a:lnTo>
                  <a:cubicBezTo>
                    <a:pt x="4515140" y="0"/>
                    <a:pt x="4572000" y="56860"/>
                    <a:pt x="4572000" y="127000"/>
                  </a:cubicBezTo>
                  <a:lnTo>
                    <a:pt x="4572000" y="3149600"/>
                  </a:lnTo>
                  <a:cubicBezTo>
                    <a:pt x="4572000" y="3219740"/>
                    <a:pt x="4515140" y="3276600"/>
                    <a:pt x="4445000" y="3276600"/>
                  </a:cubicBezTo>
                  <a:lnTo>
                    <a:pt x="127000" y="3276600"/>
                  </a:lnTo>
                  <a:cubicBezTo>
                    <a:pt x="56860" y="3276600"/>
                    <a:pt x="0" y="3219740"/>
                    <a:pt x="0" y="31496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5EDF6"/>
            </a:solidFill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90600" y="4286250"/>
            <a:ext cx="3429000" cy="2457450"/>
            <a:chOff x="0" y="0"/>
            <a:chExt cx="4572000" cy="3276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72000" cy="3276600"/>
            </a:xfrm>
            <a:custGeom>
              <a:avLst/>
              <a:gdLst/>
              <a:ahLst/>
              <a:cxnLst/>
              <a:rect l="l" t="t" r="r" b="b"/>
              <a:pathLst>
                <a:path w="4572000" h="3276600">
                  <a:moveTo>
                    <a:pt x="127000" y="0"/>
                  </a:moveTo>
                  <a:lnTo>
                    <a:pt x="4445000" y="0"/>
                  </a:lnTo>
                  <a:cubicBezTo>
                    <a:pt x="4515140" y="0"/>
                    <a:pt x="4572000" y="56860"/>
                    <a:pt x="4572000" y="127000"/>
                  </a:cubicBezTo>
                  <a:lnTo>
                    <a:pt x="4572000" y="3149600"/>
                  </a:lnTo>
                  <a:cubicBezTo>
                    <a:pt x="4572000" y="3219740"/>
                    <a:pt x="4515140" y="3276600"/>
                    <a:pt x="4445000" y="3276600"/>
                  </a:cubicBezTo>
                  <a:lnTo>
                    <a:pt x="127000" y="3276600"/>
                  </a:lnTo>
                  <a:cubicBezTo>
                    <a:pt x="56860" y="3276600"/>
                    <a:pt x="0" y="3219740"/>
                    <a:pt x="0" y="31496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0BAFF"/>
            </a:solidFill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314450" y="4876800"/>
            <a:ext cx="278130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46"/>
              </a:lnSpc>
            </a:pPr>
            <a:r>
              <a:rPr lang="en-US" sz="43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4,2m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33500" y="5800725"/>
            <a:ext cx="2781300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875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årlige kunde-</a:t>
            </a:r>
          </a:p>
          <a:p>
            <a:pPr algn="l">
              <a:lnSpc>
                <a:spcPts val="2295"/>
              </a:lnSpc>
            </a:pPr>
            <a:r>
              <a:rPr lang="en-US" sz="1875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henvendelser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105400" y="4419600"/>
            <a:ext cx="3429000" cy="2457450"/>
            <a:chOff x="0" y="0"/>
            <a:chExt cx="4572000" cy="3276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572000" cy="3276600"/>
            </a:xfrm>
            <a:custGeom>
              <a:avLst/>
              <a:gdLst/>
              <a:ahLst/>
              <a:cxnLst/>
              <a:rect l="l" t="t" r="r" b="b"/>
              <a:pathLst>
                <a:path w="4572000" h="3276600">
                  <a:moveTo>
                    <a:pt x="127000" y="0"/>
                  </a:moveTo>
                  <a:lnTo>
                    <a:pt x="4445000" y="0"/>
                  </a:lnTo>
                  <a:cubicBezTo>
                    <a:pt x="4515140" y="0"/>
                    <a:pt x="4572000" y="56860"/>
                    <a:pt x="4572000" y="127000"/>
                  </a:cubicBezTo>
                  <a:lnTo>
                    <a:pt x="4572000" y="3149600"/>
                  </a:lnTo>
                  <a:cubicBezTo>
                    <a:pt x="4572000" y="3219740"/>
                    <a:pt x="4515140" y="3276600"/>
                    <a:pt x="4445000" y="3276600"/>
                  </a:cubicBezTo>
                  <a:lnTo>
                    <a:pt x="127000" y="3276600"/>
                  </a:lnTo>
                  <a:cubicBezTo>
                    <a:pt x="56860" y="3276600"/>
                    <a:pt x="0" y="3219740"/>
                    <a:pt x="0" y="31496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5EDF6"/>
            </a:solidFill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91100" y="4286250"/>
            <a:ext cx="3429000" cy="2457450"/>
            <a:chOff x="0" y="0"/>
            <a:chExt cx="4572000" cy="3276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572000" cy="3276600"/>
            </a:xfrm>
            <a:custGeom>
              <a:avLst/>
              <a:gdLst/>
              <a:ahLst/>
              <a:cxnLst/>
              <a:rect l="l" t="t" r="r" b="b"/>
              <a:pathLst>
                <a:path w="4572000" h="3276600">
                  <a:moveTo>
                    <a:pt x="127000" y="0"/>
                  </a:moveTo>
                  <a:lnTo>
                    <a:pt x="4445000" y="0"/>
                  </a:lnTo>
                  <a:cubicBezTo>
                    <a:pt x="4515140" y="0"/>
                    <a:pt x="4572000" y="56860"/>
                    <a:pt x="4572000" y="127000"/>
                  </a:cubicBezTo>
                  <a:lnTo>
                    <a:pt x="4572000" y="3149600"/>
                  </a:lnTo>
                  <a:cubicBezTo>
                    <a:pt x="4572000" y="3219740"/>
                    <a:pt x="4515140" y="3276600"/>
                    <a:pt x="4445000" y="3276600"/>
                  </a:cubicBezTo>
                  <a:lnTo>
                    <a:pt x="127000" y="3276600"/>
                  </a:lnTo>
                  <a:cubicBezTo>
                    <a:pt x="56860" y="3276600"/>
                    <a:pt x="0" y="3219740"/>
                    <a:pt x="0" y="31496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92A5C"/>
            </a:solidFill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314950" y="4876800"/>
            <a:ext cx="278130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46"/>
              </a:lnSpc>
            </a:pPr>
            <a:r>
              <a:rPr lang="en-US" sz="43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1.180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34000" y="5800725"/>
            <a:ext cx="2781300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875" b="1">
                <a:solidFill>
                  <a:srgbClr val="E8F0FA"/>
                </a:solidFill>
                <a:latin typeface="Arial Bold"/>
                <a:ea typeface="Arial Bold"/>
                <a:cs typeface="Arial Bold"/>
                <a:sym typeface="Arial Bold"/>
              </a:rPr>
              <a:t>FTE i service og</a:t>
            </a:r>
          </a:p>
          <a:p>
            <a:pPr algn="l">
              <a:lnSpc>
                <a:spcPts val="2295"/>
              </a:lnSpc>
            </a:pPr>
            <a:r>
              <a:rPr lang="en-US" sz="1875" b="1">
                <a:solidFill>
                  <a:srgbClr val="E8F0FA"/>
                </a:solidFill>
                <a:latin typeface="Arial Bold"/>
                <a:ea typeface="Arial Bold"/>
                <a:cs typeface="Arial Bold"/>
                <a:sym typeface="Arial Bold"/>
              </a:rPr>
              <a:t>back-office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105900" y="4419600"/>
            <a:ext cx="3429000" cy="2457450"/>
            <a:chOff x="0" y="0"/>
            <a:chExt cx="4572000" cy="3276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572000" cy="3276600"/>
            </a:xfrm>
            <a:custGeom>
              <a:avLst/>
              <a:gdLst/>
              <a:ahLst/>
              <a:cxnLst/>
              <a:rect l="l" t="t" r="r" b="b"/>
              <a:pathLst>
                <a:path w="4572000" h="3276600">
                  <a:moveTo>
                    <a:pt x="127000" y="0"/>
                  </a:moveTo>
                  <a:lnTo>
                    <a:pt x="4445000" y="0"/>
                  </a:lnTo>
                  <a:cubicBezTo>
                    <a:pt x="4515140" y="0"/>
                    <a:pt x="4572000" y="56860"/>
                    <a:pt x="4572000" y="127000"/>
                  </a:cubicBezTo>
                  <a:lnTo>
                    <a:pt x="4572000" y="3149600"/>
                  </a:lnTo>
                  <a:cubicBezTo>
                    <a:pt x="4572000" y="3219740"/>
                    <a:pt x="4515140" y="3276600"/>
                    <a:pt x="4445000" y="3276600"/>
                  </a:cubicBezTo>
                  <a:lnTo>
                    <a:pt x="127000" y="3276600"/>
                  </a:lnTo>
                  <a:cubicBezTo>
                    <a:pt x="56860" y="3276600"/>
                    <a:pt x="0" y="3219740"/>
                    <a:pt x="0" y="31496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5EDF6"/>
            </a:solidFill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991600" y="4286250"/>
            <a:ext cx="3429000" cy="2457450"/>
            <a:chOff x="0" y="0"/>
            <a:chExt cx="4572000" cy="32766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572000" cy="3276600"/>
            </a:xfrm>
            <a:custGeom>
              <a:avLst/>
              <a:gdLst/>
              <a:ahLst/>
              <a:cxnLst/>
              <a:rect l="l" t="t" r="r" b="b"/>
              <a:pathLst>
                <a:path w="4572000" h="3276600">
                  <a:moveTo>
                    <a:pt x="127000" y="0"/>
                  </a:moveTo>
                  <a:lnTo>
                    <a:pt x="4445000" y="0"/>
                  </a:lnTo>
                  <a:cubicBezTo>
                    <a:pt x="4515140" y="0"/>
                    <a:pt x="4572000" y="56860"/>
                    <a:pt x="4572000" y="127000"/>
                  </a:cubicBezTo>
                  <a:lnTo>
                    <a:pt x="4572000" y="3149600"/>
                  </a:lnTo>
                  <a:cubicBezTo>
                    <a:pt x="4572000" y="3219740"/>
                    <a:pt x="4515140" y="3276600"/>
                    <a:pt x="4445000" y="3276600"/>
                  </a:cubicBezTo>
                  <a:lnTo>
                    <a:pt x="127000" y="3276600"/>
                  </a:lnTo>
                  <a:cubicBezTo>
                    <a:pt x="56860" y="3276600"/>
                    <a:pt x="0" y="3219740"/>
                    <a:pt x="0" y="31496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0BAFF"/>
            </a:solidFill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315450" y="4876800"/>
            <a:ext cx="278130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46"/>
              </a:lnSpc>
            </a:pPr>
            <a:r>
              <a:rPr lang="en-US" sz="43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640k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34500" y="5800725"/>
            <a:ext cx="2781300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875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faktura-</a:t>
            </a:r>
          </a:p>
          <a:p>
            <a:pPr algn="l">
              <a:lnSpc>
                <a:spcPts val="2295"/>
              </a:lnSpc>
            </a:pPr>
            <a:r>
              <a:rPr lang="en-US" sz="1875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relaterede sager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3106400" y="4419600"/>
            <a:ext cx="3429000" cy="2457450"/>
            <a:chOff x="0" y="0"/>
            <a:chExt cx="4572000" cy="32766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572000" cy="3276600"/>
            </a:xfrm>
            <a:custGeom>
              <a:avLst/>
              <a:gdLst/>
              <a:ahLst/>
              <a:cxnLst/>
              <a:rect l="l" t="t" r="r" b="b"/>
              <a:pathLst>
                <a:path w="4572000" h="3276600">
                  <a:moveTo>
                    <a:pt x="127000" y="0"/>
                  </a:moveTo>
                  <a:lnTo>
                    <a:pt x="4445000" y="0"/>
                  </a:lnTo>
                  <a:cubicBezTo>
                    <a:pt x="4515140" y="0"/>
                    <a:pt x="4572000" y="56860"/>
                    <a:pt x="4572000" y="127000"/>
                  </a:cubicBezTo>
                  <a:lnTo>
                    <a:pt x="4572000" y="3149600"/>
                  </a:lnTo>
                  <a:cubicBezTo>
                    <a:pt x="4572000" y="3219740"/>
                    <a:pt x="4515140" y="3276600"/>
                    <a:pt x="4445000" y="3276600"/>
                  </a:cubicBezTo>
                  <a:lnTo>
                    <a:pt x="127000" y="3276600"/>
                  </a:lnTo>
                  <a:cubicBezTo>
                    <a:pt x="56860" y="3276600"/>
                    <a:pt x="0" y="3219740"/>
                    <a:pt x="0" y="31496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5EDF6"/>
            </a:solidFill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992100" y="4286250"/>
            <a:ext cx="3429000" cy="2457450"/>
            <a:chOff x="0" y="0"/>
            <a:chExt cx="4572000" cy="32766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572000" cy="3276600"/>
            </a:xfrm>
            <a:custGeom>
              <a:avLst/>
              <a:gdLst/>
              <a:ahLst/>
              <a:cxnLst/>
              <a:rect l="l" t="t" r="r" b="b"/>
              <a:pathLst>
                <a:path w="4572000" h="3276600">
                  <a:moveTo>
                    <a:pt x="127000" y="0"/>
                  </a:moveTo>
                  <a:lnTo>
                    <a:pt x="4445000" y="0"/>
                  </a:lnTo>
                  <a:cubicBezTo>
                    <a:pt x="4515140" y="0"/>
                    <a:pt x="4572000" y="56860"/>
                    <a:pt x="4572000" y="127000"/>
                  </a:cubicBezTo>
                  <a:lnTo>
                    <a:pt x="4572000" y="3149600"/>
                  </a:lnTo>
                  <a:cubicBezTo>
                    <a:pt x="4572000" y="3219740"/>
                    <a:pt x="4515140" y="3276600"/>
                    <a:pt x="4445000" y="3276600"/>
                  </a:cubicBezTo>
                  <a:lnTo>
                    <a:pt x="127000" y="3276600"/>
                  </a:lnTo>
                  <a:cubicBezTo>
                    <a:pt x="56860" y="3276600"/>
                    <a:pt x="0" y="3219740"/>
                    <a:pt x="0" y="31496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92A5C"/>
            </a:solidFill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3315950" y="4886325"/>
            <a:ext cx="2781300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6"/>
              </a:lnSpc>
            </a:pPr>
            <a:r>
              <a:rPr lang="en-US" sz="34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31k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335000" y="5800725"/>
            <a:ext cx="2781300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875" b="1">
                <a:solidFill>
                  <a:srgbClr val="E8F0FA"/>
                </a:solidFill>
                <a:latin typeface="Arial Bold"/>
                <a:ea typeface="Arial Bold"/>
                <a:cs typeface="Arial Bold"/>
                <a:sym typeface="Arial Bold"/>
              </a:rPr>
              <a:t>timer i faktura-flow</a:t>
            </a:r>
          </a:p>
          <a:p>
            <a:pPr algn="l">
              <a:lnSpc>
                <a:spcPts val="2295"/>
              </a:lnSpc>
            </a:pPr>
            <a:r>
              <a:rPr lang="en-US" sz="1875" b="1">
                <a:solidFill>
                  <a:srgbClr val="E8F0FA"/>
                </a:solidFill>
                <a:latin typeface="Arial Bold"/>
                <a:ea typeface="Arial Bold"/>
                <a:cs typeface="Arial Bold"/>
                <a:sym typeface="Arial Bold"/>
              </a:rPr>
              <a:t>kan frigøres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0" y="7696200"/>
            <a:ext cx="18288000" cy="1123950"/>
            <a:chOff x="0" y="0"/>
            <a:chExt cx="24384000" cy="14986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4384000" cy="1498600"/>
            </a:xfrm>
            <a:custGeom>
              <a:avLst/>
              <a:gdLst/>
              <a:ahLst/>
              <a:cxnLst/>
              <a:rect l="l" t="t" r="r" b="b"/>
              <a:pathLst>
                <a:path w="24384000" h="1498600">
                  <a:moveTo>
                    <a:pt x="0" y="0"/>
                  </a:moveTo>
                  <a:lnTo>
                    <a:pt x="24384000" y="0"/>
                  </a:lnTo>
                  <a:lnTo>
                    <a:pt x="24384000" y="1498600"/>
                  </a:lnTo>
                  <a:lnTo>
                    <a:pt x="0" y="1498600"/>
                  </a:lnTo>
                  <a:close/>
                </a:path>
              </a:pathLst>
            </a:custGeom>
            <a:solidFill>
              <a:srgbClr val="061B3F"/>
            </a:solidFill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2152650" y="7886700"/>
            <a:ext cx="1390650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2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Kerneproblem: lange ventetider, inkonsistente svar, lav first-contact resolution og høj afhængighed af medarbejdererfaring.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76300" y="9667875"/>
            <a:ext cx="723900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9"/>
              </a:lnSpc>
            </a:pPr>
            <a:r>
              <a:rPr lang="en-US" sz="900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rPr>
              <a:t>© 2026 KPMG P/S · Arbejdsmateriale til Company X case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621000" y="9667875"/>
            <a:ext cx="142875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09"/>
              </a:lnSpc>
            </a:pPr>
            <a:r>
              <a:rPr lang="en-US" sz="900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rPr>
              <a:t>Problem size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7297400" y="9620250"/>
            <a:ext cx="2667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sz="13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76300" y="9667875"/>
            <a:ext cx="723900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9"/>
              </a:lnSpc>
            </a:pPr>
            <a:r>
              <a:rPr lang="en-US" sz="900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rPr>
              <a:t>© 2026 KPMG P/S · Arbejdsmateriale til Company X case</a:t>
            </a:r>
          </a:p>
        </p:txBody>
      </p:sp>
      <p:sp>
        <p:nvSpPr>
          <p:cNvPr id="38" name="Freeform 38"/>
          <p:cNvSpPr/>
          <p:nvPr/>
        </p:nvSpPr>
        <p:spPr>
          <a:xfrm>
            <a:off x="876300" y="9476345"/>
            <a:ext cx="456796" cy="182005"/>
          </a:xfrm>
          <a:custGeom>
            <a:avLst/>
            <a:gdLst/>
            <a:ahLst/>
            <a:cxnLst/>
            <a:rect l="l" t="t" r="r" b="b"/>
            <a:pathLst>
              <a:path w="456796" h="182005">
                <a:moveTo>
                  <a:pt x="0" y="0"/>
                </a:moveTo>
                <a:lnTo>
                  <a:pt x="456796" y="0"/>
                </a:lnTo>
                <a:lnTo>
                  <a:pt x="456796" y="182005"/>
                </a:lnTo>
                <a:lnTo>
                  <a:pt x="0" y="1820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grpSp>
        <p:nvGrpSpPr>
          <p:cNvPr id="39" name="Group 32">
            <a:extLst>
              <a:ext uri="{FF2B5EF4-FFF2-40B4-BE49-F238E27FC236}">
                <a16:creationId xmlns:a16="http://schemas.microsoft.com/office/drawing/2014/main" id="{8B93D812-989A-E8BC-B2C3-F0016205204D}"/>
              </a:ext>
            </a:extLst>
          </p:cNvPr>
          <p:cNvGrpSpPr/>
          <p:nvPr/>
        </p:nvGrpSpPr>
        <p:grpSpPr>
          <a:xfrm rot="381449">
            <a:off x="17164050" y="9647389"/>
            <a:ext cx="19050" cy="190500"/>
            <a:chOff x="0" y="0"/>
            <a:chExt cx="25400" cy="254000"/>
          </a:xfrm>
        </p:grpSpPr>
        <p:sp>
          <p:nvSpPr>
            <p:cNvPr id="40" name="Freeform 33">
              <a:extLst>
                <a:ext uri="{FF2B5EF4-FFF2-40B4-BE49-F238E27FC236}">
                  <a16:creationId xmlns:a16="http://schemas.microsoft.com/office/drawing/2014/main" id="{B89CE364-FC55-4C9A-55DA-4DE7BB669BC1}"/>
                </a:ext>
              </a:extLst>
            </p:cNvPr>
            <p:cNvSpPr/>
            <p:nvPr/>
          </p:nvSpPr>
          <p:spPr>
            <a:xfrm>
              <a:off x="0" y="0"/>
              <a:ext cx="25400" cy="254000"/>
            </a:xfrm>
            <a:custGeom>
              <a:avLst/>
              <a:gdLst/>
              <a:ahLst/>
              <a:cxnLst/>
              <a:rect l="l" t="t" r="r" b="b"/>
              <a:pathLst>
                <a:path w="25400" h="254000">
                  <a:moveTo>
                    <a:pt x="0" y="0"/>
                  </a:moveTo>
                  <a:lnTo>
                    <a:pt x="25400" y="2540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233035" r="-1233035"/>
              </a:stretch>
            </a:blipFill>
            <a:ln w="19050" cap="sq">
              <a:solidFill>
                <a:srgbClr val="061B3F"/>
              </a:solidFill>
              <a:prstDash val="solid"/>
              <a:miter/>
            </a:ln>
          </p:spPr>
          <p:txBody>
            <a:bodyPr/>
            <a:lstStyle/>
            <a:p>
              <a:endParaRPr lang="da-DK" dirty="0"/>
            </a:p>
          </p:txBody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66750"/>
            <a:ext cx="409575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i="1">
                <a:solidFill>
                  <a:srgbClr val="00BA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Investeringscase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6300" y="1343025"/>
            <a:ext cx="10858500" cy="2091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14"/>
              </a:lnSpc>
            </a:pPr>
            <a:r>
              <a:rPr lang="en-US" sz="480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Første flow skal bevise en skalerbar værdimotor</a:t>
            </a:r>
          </a:p>
          <a:p>
            <a:pPr algn="l">
              <a:lnSpc>
                <a:spcPts val="5414"/>
              </a:lnSpc>
            </a:pPr>
            <a:endParaRPr lang="en-US" sz="4800" b="1">
              <a:solidFill>
                <a:srgbClr val="061B3F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76300" y="2857500"/>
            <a:ext cx="11620500" cy="664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1875">
                <a:solidFill>
                  <a:srgbClr val="061B3F"/>
                </a:solidFill>
                <a:latin typeface="Arial"/>
                <a:ea typeface="Arial"/>
                <a:cs typeface="Arial"/>
                <a:sym typeface="Arial"/>
              </a:rPr>
              <a:t>Company X investerer først i fakturaflowet, fordi effekten kan måles hurtigt. Når mønsteret er dokumenteret, kan samme agentmønster genbruges på flere servicejourneys.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238250" y="4095750"/>
            <a:ext cx="3905250" cy="2476500"/>
            <a:chOff x="0" y="0"/>
            <a:chExt cx="5207000" cy="3302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07000" cy="3302000"/>
            </a:xfrm>
            <a:custGeom>
              <a:avLst/>
              <a:gdLst/>
              <a:ahLst/>
              <a:cxnLst/>
              <a:rect l="l" t="t" r="r" b="b"/>
              <a:pathLst>
                <a:path w="5207000" h="3302000">
                  <a:moveTo>
                    <a:pt x="127000" y="0"/>
                  </a:moveTo>
                  <a:lnTo>
                    <a:pt x="5080000" y="0"/>
                  </a:lnTo>
                  <a:cubicBezTo>
                    <a:pt x="5150140" y="0"/>
                    <a:pt x="5207000" y="56860"/>
                    <a:pt x="5207000" y="127000"/>
                  </a:cubicBezTo>
                  <a:lnTo>
                    <a:pt x="5207000" y="3175000"/>
                  </a:lnTo>
                  <a:cubicBezTo>
                    <a:pt x="5207000" y="3245140"/>
                    <a:pt x="5150140" y="3302000"/>
                    <a:pt x="5080000" y="3302000"/>
                  </a:cubicBezTo>
                  <a:lnTo>
                    <a:pt x="127000" y="3302000"/>
                  </a:lnTo>
                  <a:cubicBezTo>
                    <a:pt x="56860" y="3302000"/>
                    <a:pt x="0" y="3245140"/>
                    <a:pt x="0" y="3175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DDE8F4"/>
            </a:solidFill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47750" y="3905250"/>
            <a:ext cx="3905250" cy="2476500"/>
            <a:chOff x="0" y="0"/>
            <a:chExt cx="5207000" cy="3302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207000" cy="3302000"/>
            </a:xfrm>
            <a:custGeom>
              <a:avLst/>
              <a:gdLst/>
              <a:ahLst/>
              <a:cxnLst/>
              <a:rect l="l" t="t" r="r" b="b"/>
              <a:pathLst>
                <a:path w="5207000" h="3302000">
                  <a:moveTo>
                    <a:pt x="127000" y="0"/>
                  </a:moveTo>
                  <a:lnTo>
                    <a:pt x="5080000" y="0"/>
                  </a:lnTo>
                  <a:cubicBezTo>
                    <a:pt x="5150140" y="0"/>
                    <a:pt x="5207000" y="56860"/>
                    <a:pt x="5207000" y="127000"/>
                  </a:cubicBezTo>
                  <a:lnTo>
                    <a:pt x="5207000" y="3175000"/>
                  </a:lnTo>
                  <a:cubicBezTo>
                    <a:pt x="5207000" y="3245140"/>
                    <a:pt x="5150140" y="3302000"/>
                    <a:pt x="5080000" y="3302000"/>
                  </a:cubicBezTo>
                  <a:lnTo>
                    <a:pt x="127000" y="3302000"/>
                  </a:lnTo>
                  <a:cubicBezTo>
                    <a:pt x="56860" y="3302000"/>
                    <a:pt x="0" y="3245140"/>
                    <a:pt x="0" y="3175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61B3F"/>
            </a:solidFill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28750" y="4267200"/>
            <a:ext cx="200025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sz="1350" b="1">
                <a:solidFill>
                  <a:srgbClr val="00BAFF"/>
                </a:solidFill>
                <a:latin typeface="Arial Bold"/>
                <a:ea typeface="Arial Bold"/>
                <a:cs typeface="Arial Bold"/>
                <a:sym typeface="Arial Bold"/>
              </a:rPr>
              <a:t>INVESTERING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28750" y="4695825"/>
            <a:ext cx="2476500" cy="1123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5"/>
              </a:lnSpc>
            </a:pPr>
            <a:r>
              <a:rPr lang="en-US" sz="39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DKK</a:t>
            </a:r>
          </a:p>
          <a:p>
            <a:pPr algn="l">
              <a:lnSpc>
                <a:spcPts val="4305"/>
              </a:lnSpc>
            </a:pPr>
            <a:r>
              <a:rPr lang="en-US" sz="39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4-7m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28750" y="5791200"/>
            <a:ext cx="2857500" cy="724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500">
                <a:solidFill>
                  <a:srgbClr val="D7E2EF"/>
                </a:solidFill>
                <a:latin typeface="Arial"/>
                <a:ea typeface="Arial"/>
                <a:cs typeface="Arial"/>
                <a:sym typeface="Arial"/>
              </a:rPr>
              <a:t>for første produktionsklare fakturaflow</a:t>
            </a:r>
          </a:p>
          <a:p>
            <a:pPr algn="l">
              <a:lnSpc>
                <a:spcPts val="1944"/>
              </a:lnSpc>
            </a:pPr>
            <a:endParaRPr lang="en-US" sz="1500">
              <a:solidFill>
                <a:srgbClr val="D7E2E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5657850" y="4629150"/>
            <a:ext cx="4667250" cy="2724150"/>
            <a:chOff x="0" y="0"/>
            <a:chExt cx="6223000" cy="3632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23000" cy="3632200"/>
            </a:xfrm>
            <a:custGeom>
              <a:avLst/>
              <a:gdLst/>
              <a:ahLst/>
              <a:cxnLst/>
              <a:rect l="l" t="t" r="r" b="b"/>
              <a:pathLst>
                <a:path w="6223000" h="3632200">
                  <a:moveTo>
                    <a:pt x="127000" y="0"/>
                  </a:moveTo>
                  <a:lnTo>
                    <a:pt x="6096000" y="0"/>
                  </a:lnTo>
                  <a:cubicBezTo>
                    <a:pt x="6166140" y="0"/>
                    <a:pt x="6223000" y="56860"/>
                    <a:pt x="6223000" y="127000"/>
                  </a:cubicBezTo>
                  <a:lnTo>
                    <a:pt x="6223000" y="3505200"/>
                  </a:lnTo>
                  <a:cubicBezTo>
                    <a:pt x="6223000" y="3575340"/>
                    <a:pt x="6166140" y="3632200"/>
                    <a:pt x="6096000" y="3632200"/>
                  </a:cubicBezTo>
                  <a:lnTo>
                    <a:pt x="127000" y="3632200"/>
                  </a:lnTo>
                  <a:cubicBezTo>
                    <a:pt x="56860" y="3632200"/>
                    <a:pt x="0" y="3575340"/>
                    <a:pt x="0" y="35052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3EBF4"/>
            </a:solidFill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467350" y="4438650"/>
            <a:ext cx="4667250" cy="2724150"/>
            <a:chOff x="0" y="0"/>
            <a:chExt cx="6223000" cy="3632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223000" cy="3632200"/>
            </a:xfrm>
            <a:custGeom>
              <a:avLst/>
              <a:gdLst/>
              <a:ahLst/>
              <a:cxnLst/>
              <a:rect l="l" t="t" r="r" b="b"/>
              <a:pathLst>
                <a:path w="6223000" h="3632200">
                  <a:moveTo>
                    <a:pt x="127000" y="0"/>
                  </a:moveTo>
                  <a:lnTo>
                    <a:pt x="6096000" y="0"/>
                  </a:lnTo>
                  <a:cubicBezTo>
                    <a:pt x="6166140" y="0"/>
                    <a:pt x="6223000" y="56860"/>
                    <a:pt x="6223000" y="127000"/>
                  </a:cubicBezTo>
                  <a:lnTo>
                    <a:pt x="6223000" y="3505200"/>
                  </a:lnTo>
                  <a:cubicBezTo>
                    <a:pt x="6223000" y="3575340"/>
                    <a:pt x="6166140" y="3632200"/>
                    <a:pt x="6096000" y="3632200"/>
                  </a:cubicBezTo>
                  <a:lnTo>
                    <a:pt x="127000" y="3632200"/>
                  </a:lnTo>
                  <a:cubicBezTo>
                    <a:pt x="56860" y="3632200"/>
                    <a:pt x="0" y="3575340"/>
                    <a:pt x="0" y="35052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D8F4FF"/>
            </a:solidFill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962650" y="4838700"/>
            <a:ext cx="20955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sz="13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FØRSTE FLOW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62650" y="5286375"/>
            <a:ext cx="247650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3"/>
              </a:lnSpc>
            </a:pPr>
            <a:r>
              <a:rPr lang="en-US" sz="31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Faktura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62650" y="5991225"/>
            <a:ext cx="34290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75">
                <a:solidFill>
                  <a:srgbClr val="061B3F"/>
                </a:solidFill>
                <a:latin typeface="Arial"/>
                <a:ea typeface="Arial"/>
                <a:cs typeface="Arial"/>
                <a:sym typeface="Arial"/>
              </a:rPr>
              <a:t>640k årlige sager, tydelige datakilder og en kundeoplevelse, hvor kortere svartid kan mærkes direkte.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648950" y="3905250"/>
            <a:ext cx="3905250" cy="2476500"/>
            <a:chOff x="0" y="0"/>
            <a:chExt cx="5207000" cy="3302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207000" cy="3302000"/>
            </a:xfrm>
            <a:custGeom>
              <a:avLst/>
              <a:gdLst/>
              <a:ahLst/>
              <a:cxnLst/>
              <a:rect l="l" t="t" r="r" b="b"/>
              <a:pathLst>
                <a:path w="5207000" h="3302000">
                  <a:moveTo>
                    <a:pt x="127000" y="0"/>
                  </a:moveTo>
                  <a:lnTo>
                    <a:pt x="5080000" y="0"/>
                  </a:lnTo>
                  <a:cubicBezTo>
                    <a:pt x="5150140" y="0"/>
                    <a:pt x="5207000" y="56860"/>
                    <a:pt x="5207000" y="127000"/>
                  </a:cubicBezTo>
                  <a:lnTo>
                    <a:pt x="5207000" y="3175000"/>
                  </a:lnTo>
                  <a:cubicBezTo>
                    <a:pt x="5207000" y="3245140"/>
                    <a:pt x="5150140" y="3302000"/>
                    <a:pt x="5080000" y="3302000"/>
                  </a:cubicBezTo>
                  <a:lnTo>
                    <a:pt x="127000" y="3302000"/>
                  </a:lnTo>
                  <a:cubicBezTo>
                    <a:pt x="56860" y="3302000"/>
                    <a:pt x="0" y="3245140"/>
                    <a:pt x="0" y="3175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DDE8F4"/>
            </a:solidFill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458450" y="3714750"/>
            <a:ext cx="3905250" cy="2476500"/>
            <a:chOff x="0" y="0"/>
            <a:chExt cx="5207000" cy="3302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207000" cy="3302000"/>
            </a:xfrm>
            <a:custGeom>
              <a:avLst/>
              <a:gdLst/>
              <a:ahLst/>
              <a:cxnLst/>
              <a:rect l="l" t="t" r="r" b="b"/>
              <a:pathLst>
                <a:path w="5207000" h="3302000">
                  <a:moveTo>
                    <a:pt x="127000" y="0"/>
                  </a:moveTo>
                  <a:lnTo>
                    <a:pt x="5080000" y="0"/>
                  </a:lnTo>
                  <a:cubicBezTo>
                    <a:pt x="5150140" y="0"/>
                    <a:pt x="5207000" y="56860"/>
                    <a:pt x="5207000" y="127000"/>
                  </a:cubicBezTo>
                  <a:lnTo>
                    <a:pt x="5207000" y="3175000"/>
                  </a:lnTo>
                  <a:cubicBezTo>
                    <a:pt x="5207000" y="3245140"/>
                    <a:pt x="5150140" y="3302000"/>
                    <a:pt x="5080000" y="3302000"/>
                  </a:cubicBezTo>
                  <a:lnTo>
                    <a:pt x="127000" y="3302000"/>
                  </a:lnTo>
                  <a:cubicBezTo>
                    <a:pt x="56860" y="3302000"/>
                    <a:pt x="0" y="3245140"/>
                    <a:pt x="0" y="3175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0BAFF"/>
            </a:solidFill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839450" y="4076700"/>
            <a:ext cx="180975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sz="13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PAYBACK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839450" y="4507230"/>
            <a:ext cx="2476500" cy="1093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7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Måned</a:t>
            </a:r>
          </a:p>
          <a:p>
            <a:pPr algn="l">
              <a:lnSpc>
                <a:spcPts val="4140"/>
              </a:lnSpc>
            </a:pPr>
            <a:r>
              <a:rPr lang="en-US" sz="37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11-14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839450" y="5638800"/>
            <a:ext cx="285750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50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Når kumulativ tidsbesparelse overstiger første investering.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5030450" y="3448050"/>
            <a:ext cx="2571750" cy="4000500"/>
            <a:chOff x="0" y="0"/>
            <a:chExt cx="3429000" cy="5334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429000" cy="5334000"/>
            </a:xfrm>
            <a:custGeom>
              <a:avLst/>
              <a:gdLst/>
              <a:ahLst/>
              <a:cxnLst/>
              <a:rect l="l" t="t" r="r" b="b"/>
              <a:pathLst>
                <a:path w="3429000" h="53340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3327400" y="0"/>
                  </a:lnTo>
                  <a:cubicBezTo>
                    <a:pt x="3383534" y="0"/>
                    <a:pt x="3429000" y="45466"/>
                    <a:pt x="3429000" y="101600"/>
                  </a:cubicBezTo>
                  <a:lnTo>
                    <a:pt x="3429000" y="5232400"/>
                  </a:lnTo>
                  <a:cubicBezTo>
                    <a:pt x="3429000" y="5288534"/>
                    <a:pt x="3383534" y="5334000"/>
                    <a:pt x="3327400" y="5334000"/>
                  </a:cubicBezTo>
                  <a:lnTo>
                    <a:pt x="101600" y="5334000"/>
                  </a:lnTo>
                  <a:cubicBezTo>
                    <a:pt x="45466" y="5334000"/>
                    <a:pt x="0" y="5288534"/>
                    <a:pt x="0" y="5232400"/>
                  </a:cubicBezTo>
                  <a:close/>
                </a:path>
              </a:pathLst>
            </a:custGeom>
            <a:solidFill>
              <a:srgbClr val="E7E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4949488" y="3348038"/>
            <a:ext cx="2581275" cy="4010025"/>
            <a:chOff x="0" y="0"/>
            <a:chExt cx="3441700" cy="53467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441700" cy="5346700"/>
            </a:xfrm>
            <a:custGeom>
              <a:avLst/>
              <a:gdLst/>
              <a:ahLst/>
              <a:cxnLst/>
              <a:rect l="l" t="t" r="r" b="b"/>
              <a:pathLst>
                <a:path w="3441700" h="5346700">
                  <a:moveTo>
                    <a:pt x="0" y="101981"/>
                  </a:moveTo>
                  <a:cubicBezTo>
                    <a:pt x="0" y="45720"/>
                    <a:pt x="45720" y="0"/>
                    <a:pt x="101981" y="0"/>
                  </a:cubicBezTo>
                  <a:lnTo>
                    <a:pt x="3339719" y="0"/>
                  </a:lnTo>
                  <a:cubicBezTo>
                    <a:pt x="3395980" y="0"/>
                    <a:pt x="3441700" y="45720"/>
                    <a:pt x="3441700" y="101981"/>
                  </a:cubicBezTo>
                  <a:lnTo>
                    <a:pt x="3441700" y="5244719"/>
                  </a:lnTo>
                  <a:cubicBezTo>
                    <a:pt x="3441700" y="5300980"/>
                    <a:pt x="3395980" y="5346700"/>
                    <a:pt x="3339719" y="5346700"/>
                  </a:cubicBezTo>
                  <a:lnTo>
                    <a:pt x="101981" y="5346700"/>
                  </a:lnTo>
                  <a:cubicBezTo>
                    <a:pt x="45720" y="5346700"/>
                    <a:pt x="0" y="5300980"/>
                    <a:pt x="0" y="524471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7F1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5297150" y="3752850"/>
            <a:ext cx="161925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sz="1350" b="1">
                <a:solidFill>
                  <a:srgbClr val="00BAFF"/>
                </a:solidFill>
                <a:latin typeface="Arial Bold"/>
                <a:ea typeface="Arial Bold"/>
                <a:cs typeface="Arial Bold"/>
                <a:sym typeface="Arial Bold"/>
              </a:rPr>
              <a:t>ÅR 1-EFFEKT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297150" y="4486275"/>
            <a:ext cx="1809750" cy="905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7"/>
              </a:lnSpc>
            </a:pPr>
            <a:r>
              <a:rPr lang="en-US" sz="31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DKK</a:t>
            </a:r>
          </a:p>
          <a:p>
            <a:pPr algn="l">
              <a:lnSpc>
                <a:spcPts val="3477"/>
              </a:lnSpc>
            </a:pPr>
            <a:r>
              <a:rPr lang="en-US" sz="31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10-15m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316200" y="5572125"/>
            <a:ext cx="1809750" cy="468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lang="en-US" sz="1425" b="1">
                <a:solidFill>
                  <a:srgbClr val="6D7584"/>
                </a:solidFill>
                <a:latin typeface="Arial Bold"/>
                <a:ea typeface="Arial Bold"/>
                <a:cs typeface="Arial Bold"/>
                <a:sym typeface="Arial Bold"/>
              </a:rPr>
              <a:t>årlig bruttoværdi i første fakturaflow.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504950" y="7905750"/>
            <a:ext cx="4476750" cy="1066800"/>
            <a:chOff x="0" y="0"/>
            <a:chExt cx="5969000" cy="14224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969000" cy="1422400"/>
            </a:xfrm>
            <a:custGeom>
              <a:avLst/>
              <a:gdLst/>
              <a:ahLst/>
              <a:cxnLst/>
              <a:rect l="l" t="t" r="r" b="b"/>
              <a:pathLst>
                <a:path w="5969000" h="14224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5867400" y="0"/>
                  </a:lnTo>
                  <a:cubicBezTo>
                    <a:pt x="5923534" y="0"/>
                    <a:pt x="5969000" y="45466"/>
                    <a:pt x="5969000" y="101600"/>
                  </a:cubicBezTo>
                  <a:lnTo>
                    <a:pt x="5969000" y="1320800"/>
                  </a:lnTo>
                  <a:cubicBezTo>
                    <a:pt x="5969000" y="1376934"/>
                    <a:pt x="5923534" y="1422400"/>
                    <a:pt x="5867400" y="1422400"/>
                  </a:cubicBezTo>
                  <a:lnTo>
                    <a:pt x="101600" y="1422400"/>
                  </a:lnTo>
                  <a:cubicBezTo>
                    <a:pt x="45466" y="1422400"/>
                    <a:pt x="0" y="1376934"/>
                    <a:pt x="0" y="1320800"/>
                  </a:cubicBezTo>
                  <a:close/>
                </a:path>
              </a:pathLst>
            </a:custGeom>
            <a:solidFill>
              <a:srgbClr val="E7E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423988" y="7805738"/>
            <a:ext cx="4486275" cy="1076325"/>
            <a:chOff x="0" y="0"/>
            <a:chExt cx="5981700" cy="14351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981700" cy="1435100"/>
            </a:xfrm>
            <a:custGeom>
              <a:avLst/>
              <a:gdLst/>
              <a:ahLst/>
              <a:cxnLst/>
              <a:rect l="l" t="t" r="r" b="b"/>
              <a:pathLst>
                <a:path w="5981700" h="1435100">
                  <a:moveTo>
                    <a:pt x="0" y="102489"/>
                  </a:moveTo>
                  <a:cubicBezTo>
                    <a:pt x="0" y="45847"/>
                    <a:pt x="45847" y="0"/>
                    <a:pt x="102489" y="0"/>
                  </a:cubicBezTo>
                  <a:lnTo>
                    <a:pt x="5879211" y="0"/>
                  </a:lnTo>
                  <a:cubicBezTo>
                    <a:pt x="5935853" y="0"/>
                    <a:pt x="5981700" y="45847"/>
                    <a:pt x="5981700" y="102489"/>
                  </a:cubicBezTo>
                  <a:lnTo>
                    <a:pt x="5981700" y="1332611"/>
                  </a:lnTo>
                  <a:cubicBezTo>
                    <a:pt x="5981700" y="1389253"/>
                    <a:pt x="5935853" y="1435100"/>
                    <a:pt x="5879211" y="1435100"/>
                  </a:cubicBezTo>
                  <a:lnTo>
                    <a:pt x="102489" y="1435100"/>
                  </a:lnTo>
                  <a:cubicBezTo>
                    <a:pt x="45847" y="1435100"/>
                    <a:pt x="0" y="1389253"/>
                    <a:pt x="0" y="1332611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7F1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676400" y="8058150"/>
            <a:ext cx="55245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1">
                <a:solidFill>
                  <a:srgbClr val="00BAFF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419350" y="7972425"/>
            <a:ext cx="257175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725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Hurtigere svar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419350" y="8343900"/>
            <a:ext cx="295275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D7584"/>
                </a:solidFill>
                <a:latin typeface="Arial"/>
                <a:ea typeface="Arial"/>
                <a:cs typeface="Arial"/>
                <a:sym typeface="Arial"/>
              </a:rPr>
              <a:t>Mikkel bruger mindre tid på at finde årsagen.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6629400" y="7905750"/>
            <a:ext cx="4476750" cy="1066800"/>
            <a:chOff x="0" y="0"/>
            <a:chExt cx="5969000" cy="14224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969000" cy="1422400"/>
            </a:xfrm>
            <a:custGeom>
              <a:avLst/>
              <a:gdLst/>
              <a:ahLst/>
              <a:cxnLst/>
              <a:rect l="l" t="t" r="r" b="b"/>
              <a:pathLst>
                <a:path w="5969000" h="14224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5867400" y="0"/>
                  </a:lnTo>
                  <a:cubicBezTo>
                    <a:pt x="5923534" y="0"/>
                    <a:pt x="5969000" y="45466"/>
                    <a:pt x="5969000" y="101600"/>
                  </a:cubicBezTo>
                  <a:lnTo>
                    <a:pt x="5969000" y="1320800"/>
                  </a:lnTo>
                  <a:cubicBezTo>
                    <a:pt x="5969000" y="1376934"/>
                    <a:pt x="5923534" y="1422400"/>
                    <a:pt x="5867400" y="1422400"/>
                  </a:cubicBezTo>
                  <a:lnTo>
                    <a:pt x="101600" y="1422400"/>
                  </a:lnTo>
                  <a:cubicBezTo>
                    <a:pt x="45466" y="1422400"/>
                    <a:pt x="0" y="1376934"/>
                    <a:pt x="0" y="1320800"/>
                  </a:cubicBezTo>
                  <a:close/>
                </a:path>
              </a:pathLst>
            </a:custGeom>
            <a:solidFill>
              <a:srgbClr val="E7E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548438" y="7805738"/>
            <a:ext cx="4486275" cy="1076325"/>
            <a:chOff x="0" y="0"/>
            <a:chExt cx="5981700" cy="14351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981700" cy="1435100"/>
            </a:xfrm>
            <a:custGeom>
              <a:avLst/>
              <a:gdLst/>
              <a:ahLst/>
              <a:cxnLst/>
              <a:rect l="l" t="t" r="r" b="b"/>
              <a:pathLst>
                <a:path w="5981700" h="1435100">
                  <a:moveTo>
                    <a:pt x="0" y="102489"/>
                  </a:moveTo>
                  <a:cubicBezTo>
                    <a:pt x="0" y="45847"/>
                    <a:pt x="45847" y="0"/>
                    <a:pt x="102489" y="0"/>
                  </a:cubicBezTo>
                  <a:lnTo>
                    <a:pt x="5879211" y="0"/>
                  </a:lnTo>
                  <a:cubicBezTo>
                    <a:pt x="5935853" y="0"/>
                    <a:pt x="5981700" y="45847"/>
                    <a:pt x="5981700" y="102489"/>
                  </a:cubicBezTo>
                  <a:lnTo>
                    <a:pt x="5981700" y="1332611"/>
                  </a:lnTo>
                  <a:cubicBezTo>
                    <a:pt x="5981700" y="1389253"/>
                    <a:pt x="5935853" y="1435100"/>
                    <a:pt x="5879211" y="1435100"/>
                  </a:cubicBezTo>
                  <a:lnTo>
                    <a:pt x="102489" y="1435100"/>
                  </a:lnTo>
                  <a:cubicBezTo>
                    <a:pt x="45847" y="1435100"/>
                    <a:pt x="0" y="1389253"/>
                    <a:pt x="0" y="1332611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7F1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6800850" y="8058150"/>
            <a:ext cx="55245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543800" y="7972425"/>
            <a:ext cx="257175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725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Mindre efterarbejde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543800" y="8343900"/>
            <a:ext cx="295275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D7584"/>
                </a:solidFill>
                <a:latin typeface="Arial"/>
                <a:ea typeface="Arial"/>
                <a:cs typeface="Arial"/>
                <a:sym typeface="Arial"/>
              </a:rPr>
              <a:t>Sagsnotat og dokumentation skabes i flowet.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1753850" y="7905750"/>
            <a:ext cx="4476750" cy="1066800"/>
            <a:chOff x="0" y="0"/>
            <a:chExt cx="5969000" cy="14224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969000" cy="1422400"/>
            </a:xfrm>
            <a:custGeom>
              <a:avLst/>
              <a:gdLst/>
              <a:ahLst/>
              <a:cxnLst/>
              <a:rect l="l" t="t" r="r" b="b"/>
              <a:pathLst>
                <a:path w="5969000" h="14224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5867400" y="0"/>
                  </a:lnTo>
                  <a:cubicBezTo>
                    <a:pt x="5923534" y="0"/>
                    <a:pt x="5969000" y="45466"/>
                    <a:pt x="5969000" y="101600"/>
                  </a:cubicBezTo>
                  <a:lnTo>
                    <a:pt x="5969000" y="1320800"/>
                  </a:lnTo>
                  <a:cubicBezTo>
                    <a:pt x="5969000" y="1376934"/>
                    <a:pt x="5923534" y="1422400"/>
                    <a:pt x="5867400" y="1422400"/>
                  </a:cubicBezTo>
                  <a:lnTo>
                    <a:pt x="101600" y="1422400"/>
                  </a:lnTo>
                  <a:cubicBezTo>
                    <a:pt x="45466" y="1422400"/>
                    <a:pt x="0" y="1376934"/>
                    <a:pt x="0" y="1320800"/>
                  </a:cubicBezTo>
                  <a:close/>
                </a:path>
              </a:pathLst>
            </a:custGeom>
            <a:solidFill>
              <a:srgbClr val="E7E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1672888" y="7805738"/>
            <a:ext cx="4486275" cy="1076325"/>
            <a:chOff x="0" y="0"/>
            <a:chExt cx="5981700" cy="14351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5981700" cy="1435100"/>
            </a:xfrm>
            <a:custGeom>
              <a:avLst/>
              <a:gdLst/>
              <a:ahLst/>
              <a:cxnLst/>
              <a:rect l="l" t="t" r="r" b="b"/>
              <a:pathLst>
                <a:path w="5981700" h="1435100">
                  <a:moveTo>
                    <a:pt x="0" y="102489"/>
                  </a:moveTo>
                  <a:cubicBezTo>
                    <a:pt x="0" y="45847"/>
                    <a:pt x="45847" y="0"/>
                    <a:pt x="102489" y="0"/>
                  </a:cubicBezTo>
                  <a:lnTo>
                    <a:pt x="5879211" y="0"/>
                  </a:lnTo>
                  <a:cubicBezTo>
                    <a:pt x="5935853" y="0"/>
                    <a:pt x="5981700" y="45847"/>
                    <a:pt x="5981700" y="102489"/>
                  </a:cubicBezTo>
                  <a:lnTo>
                    <a:pt x="5981700" y="1332611"/>
                  </a:lnTo>
                  <a:cubicBezTo>
                    <a:pt x="5981700" y="1389253"/>
                    <a:pt x="5935853" y="1435100"/>
                    <a:pt x="5879211" y="1435100"/>
                  </a:cubicBezTo>
                  <a:lnTo>
                    <a:pt x="102489" y="1435100"/>
                  </a:lnTo>
                  <a:cubicBezTo>
                    <a:pt x="45847" y="1435100"/>
                    <a:pt x="0" y="1389253"/>
                    <a:pt x="0" y="1332611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7F1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1925300" y="8058150"/>
            <a:ext cx="55245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1">
                <a:solidFill>
                  <a:srgbClr val="00BAFF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2668250" y="7972425"/>
            <a:ext cx="257175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725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Genbrug på journeys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2668250" y="8343900"/>
            <a:ext cx="295275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D7584"/>
                </a:solidFill>
                <a:latin typeface="Arial"/>
                <a:ea typeface="Arial"/>
                <a:cs typeface="Arial"/>
                <a:sym typeface="Arial"/>
              </a:rPr>
              <a:t>Samme agentmønster kan genbruges på nye servicejourneys.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76300" y="9667875"/>
            <a:ext cx="723900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9"/>
              </a:lnSpc>
            </a:pPr>
            <a:r>
              <a:rPr lang="en-US" sz="900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rPr>
              <a:t>© 2026 KPMG P/S · Arbejdsmateriale til Company X case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5621000" y="9667875"/>
            <a:ext cx="142875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09"/>
              </a:lnSpc>
            </a:pPr>
            <a:r>
              <a:rPr lang="en-US" sz="900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rPr>
              <a:t>Value case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7297400" y="9620250"/>
            <a:ext cx="2667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sz="13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</a:p>
        </p:txBody>
      </p:sp>
      <p:sp>
        <p:nvSpPr>
          <p:cNvPr id="59" name="Freeform 59"/>
          <p:cNvSpPr/>
          <p:nvPr/>
        </p:nvSpPr>
        <p:spPr>
          <a:xfrm>
            <a:off x="876300" y="9476345"/>
            <a:ext cx="456796" cy="182005"/>
          </a:xfrm>
          <a:custGeom>
            <a:avLst/>
            <a:gdLst/>
            <a:ahLst/>
            <a:cxnLst/>
            <a:rect l="l" t="t" r="r" b="b"/>
            <a:pathLst>
              <a:path w="456796" h="182005">
                <a:moveTo>
                  <a:pt x="0" y="0"/>
                </a:moveTo>
                <a:lnTo>
                  <a:pt x="456796" y="0"/>
                </a:lnTo>
                <a:lnTo>
                  <a:pt x="456796" y="182005"/>
                </a:lnTo>
                <a:lnTo>
                  <a:pt x="0" y="1820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grpSp>
        <p:nvGrpSpPr>
          <p:cNvPr id="60" name="Group 32">
            <a:extLst>
              <a:ext uri="{FF2B5EF4-FFF2-40B4-BE49-F238E27FC236}">
                <a16:creationId xmlns:a16="http://schemas.microsoft.com/office/drawing/2014/main" id="{FD48E9DB-3027-C576-729D-3DCCA6A3D22B}"/>
              </a:ext>
            </a:extLst>
          </p:cNvPr>
          <p:cNvGrpSpPr/>
          <p:nvPr/>
        </p:nvGrpSpPr>
        <p:grpSpPr>
          <a:xfrm rot="381449">
            <a:off x="17164050" y="9647389"/>
            <a:ext cx="19050" cy="190500"/>
            <a:chOff x="0" y="0"/>
            <a:chExt cx="25400" cy="254000"/>
          </a:xfrm>
        </p:grpSpPr>
        <p:sp>
          <p:nvSpPr>
            <p:cNvPr id="61" name="Freeform 33">
              <a:extLst>
                <a:ext uri="{FF2B5EF4-FFF2-40B4-BE49-F238E27FC236}">
                  <a16:creationId xmlns:a16="http://schemas.microsoft.com/office/drawing/2014/main" id="{DFE2554C-ECAF-267F-924C-534013242CEC}"/>
                </a:ext>
              </a:extLst>
            </p:cNvPr>
            <p:cNvSpPr/>
            <p:nvPr/>
          </p:nvSpPr>
          <p:spPr>
            <a:xfrm>
              <a:off x="0" y="0"/>
              <a:ext cx="25400" cy="254000"/>
            </a:xfrm>
            <a:custGeom>
              <a:avLst/>
              <a:gdLst/>
              <a:ahLst/>
              <a:cxnLst/>
              <a:rect l="l" t="t" r="r" b="b"/>
              <a:pathLst>
                <a:path w="25400" h="254000">
                  <a:moveTo>
                    <a:pt x="0" y="0"/>
                  </a:moveTo>
                  <a:lnTo>
                    <a:pt x="25400" y="2540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233035" r="-1233035"/>
              </a:stretch>
            </a:blipFill>
            <a:ln w="19050" cap="sq">
              <a:solidFill>
                <a:srgbClr val="061B3F"/>
              </a:solidFill>
              <a:prstDash val="solid"/>
              <a:miter/>
            </a:ln>
          </p:spPr>
          <p:txBody>
            <a:bodyPr/>
            <a:lstStyle/>
            <a:p>
              <a:endParaRPr lang="da-DK" dirty="0"/>
            </a:p>
          </p:txBody>
        </p: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2001500" y="2076450"/>
            <a:ext cx="704850" cy="704850"/>
            <a:chOff x="0" y="0"/>
            <a:chExt cx="939800" cy="939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39800" cy="939800"/>
            </a:xfrm>
            <a:custGeom>
              <a:avLst/>
              <a:gdLst/>
              <a:ahLst/>
              <a:cxnLst/>
              <a:rect l="l" t="t" r="r" b="b"/>
              <a:pathLst>
                <a:path w="939800" h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061B3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001500" y="3924300"/>
            <a:ext cx="704850" cy="704850"/>
            <a:chOff x="0" y="0"/>
            <a:chExt cx="939800" cy="939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39800" cy="939800"/>
            </a:xfrm>
            <a:custGeom>
              <a:avLst/>
              <a:gdLst/>
              <a:ahLst/>
              <a:cxnLst/>
              <a:rect l="l" t="t" r="r" b="b"/>
              <a:pathLst>
                <a:path w="939800" h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092A5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001500" y="5772150"/>
            <a:ext cx="704850" cy="704850"/>
            <a:chOff x="0" y="0"/>
            <a:chExt cx="939800" cy="939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39800" cy="939800"/>
            </a:xfrm>
            <a:custGeom>
              <a:avLst/>
              <a:gdLst/>
              <a:ahLst/>
              <a:cxnLst/>
              <a:rect l="l" t="t" r="r" b="b"/>
              <a:pathLst>
                <a:path w="939800" h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00BA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76300" y="7848600"/>
            <a:ext cx="8667750" cy="1333500"/>
            <a:chOff x="0" y="0"/>
            <a:chExt cx="11557000" cy="1778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557000" cy="1778000"/>
            </a:xfrm>
            <a:custGeom>
              <a:avLst/>
              <a:gdLst/>
              <a:ahLst/>
              <a:cxnLst/>
              <a:rect l="l" t="t" r="r" b="b"/>
              <a:pathLst>
                <a:path w="11557000" h="17780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11379200" y="0"/>
                  </a:lnTo>
                  <a:cubicBezTo>
                    <a:pt x="11477371" y="0"/>
                    <a:pt x="11557000" y="79629"/>
                    <a:pt x="11557000" y="177800"/>
                  </a:cubicBezTo>
                  <a:lnTo>
                    <a:pt x="11557000" y="1600200"/>
                  </a:lnTo>
                  <a:cubicBezTo>
                    <a:pt x="11557000" y="1698371"/>
                    <a:pt x="11477371" y="1778000"/>
                    <a:pt x="11379200" y="1778000"/>
                  </a:cubicBezTo>
                  <a:lnTo>
                    <a:pt x="177800" y="1778000"/>
                  </a:lnTo>
                  <a:cubicBezTo>
                    <a:pt x="79629" y="1778000"/>
                    <a:pt x="0" y="1698371"/>
                    <a:pt x="0" y="1600200"/>
                  </a:cubicBezTo>
                  <a:close/>
                </a:path>
              </a:pathLst>
            </a:custGeom>
            <a:solidFill>
              <a:srgbClr val="061B3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696450" y="7848600"/>
            <a:ext cx="7715250" cy="1333500"/>
            <a:chOff x="0" y="0"/>
            <a:chExt cx="10287000" cy="1778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287000" cy="1778000"/>
            </a:xfrm>
            <a:custGeom>
              <a:avLst/>
              <a:gdLst/>
              <a:ahLst/>
              <a:cxnLst/>
              <a:rect l="l" t="t" r="r" b="b"/>
              <a:pathLst>
                <a:path w="10287000" h="17780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10109200" y="0"/>
                  </a:lnTo>
                  <a:cubicBezTo>
                    <a:pt x="10207371" y="0"/>
                    <a:pt x="10287000" y="79629"/>
                    <a:pt x="10287000" y="177800"/>
                  </a:cubicBezTo>
                  <a:lnTo>
                    <a:pt x="10287000" y="1600200"/>
                  </a:lnTo>
                  <a:cubicBezTo>
                    <a:pt x="10287000" y="1698371"/>
                    <a:pt x="10207371" y="1778000"/>
                    <a:pt x="10109200" y="1778000"/>
                  </a:cubicBezTo>
                  <a:lnTo>
                    <a:pt x="177800" y="1778000"/>
                  </a:lnTo>
                  <a:cubicBezTo>
                    <a:pt x="79629" y="1778000"/>
                    <a:pt x="0" y="1698371"/>
                    <a:pt x="0" y="1600200"/>
                  </a:cubicBezTo>
                  <a:close/>
                </a:path>
              </a:pathLst>
            </a:custGeom>
            <a:solidFill>
              <a:srgbClr val="092A5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76300" y="4572000"/>
            <a:ext cx="6858000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sz="2100">
                <a:solidFill>
                  <a:srgbClr val="061B3F"/>
                </a:solidFill>
                <a:latin typeface="Arial"/>
                <a:ea typeface="Arial"/>
                <a:cs typeface="Arial"/>
                <a:sym typeface="Arial"/>
              </a:rPr>
              <a:t>Digitalt vant kunde, der vil forstå,</a:t>
            </a:r>
          </a:p>
          <a:p>
            <a:pPr algn="l">
              <a:lnSpc>
                <a:spcPts val="2646"/>
              </a:lnSpc>
            </a:pPr>
            <a:r>
              <a:rPr lang="en-US" sz="2100">
                <a:solidFill>
                  <a:srgbClr val="061B3F"/>
                </a:solidFill>
                <a:latin typeface="Arial"/>
                <a:ea typeface="Arial"/>
                <a:cs typeface="Arial"/>
                <a:sym typeface="Arial"/>
              </a:rPr>
              <a:t>hvorfor regningen er steget med 150 kr.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01500" y="2238375"/>
            <a:ext cx="70485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3"/>
              </a:lnSpc>
            </a:pPr>
            <a:r>
              <a:rPr lang="en-US" sz="25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992100" y="2085975"/>
            <a:ext cx="37147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3"/>
              </a:lnSpc>
            </a:pPr>
            <a:r>
              <a:rPr lang="en-US" sz="25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Kontekst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92100" y="2571750"/>
            <a:ext cx="4095750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2"/>
              </a:lnSpc>
            </a:pPr>
            <a:r>
              <a:rPr lang="en-US" sz="1800">
                <a:solidFill>
                  <a:srgbClr val="061B3F"/>
                </a:solidFill>
                <a:latin typeface="Arial"/>
                <a:ea typeface="Arial"/>
                <a:cs typeface="Arial"/>
                <a:sym typeface="Arial"/>
              </a:rPr>
              <a:t>34 år, København. Mobil- og</a:t>
            </a:r>
          </a:p>
          <a:p>
            <a:pPr algn="l">
              <a:lnSpc>
                <a:spcPts val="2332"/>
              </a:lnSpc>
            </a:pPr>
            <a:r>
              <a:rPr lang="en-US" sz="1800">
                <a:solidFill>
                  <a:srgbClr val="061B3F"/>
                </a:solidFill>
                <a:latin typeface="Arial"/>
                <a:ea typeface="Arial"/>
                <a:cs typeface="Arial"/>
                <a:sym typeface="Arial"/>
              </a:rPr>
              <a:t>fiberkunde. Bruger selvbetjening,</a:t>
            </a:r>
          </a:p>
          <a:p>
            <a:pPr algn="l">
              <a:lnSpc>
                <a:spcPts val="2332"/>
              </a:lnSpc>
            </a:pPr>
            <a:r>
              <a:rPr lang="en-US" sz="1800">
                <a:solidFill>
                  <a:srgbClr val="061B3F"/>
                </a:solidFill>
                <a:latin typeface="Arial"/>
                <a:ea typeface="Arial"/>
                <a:cs typeface="Arial"/>
                <a:sym typeface="Arial"/>
              </a:rPr>
              <a:t>når svaret kan findes hurtigt.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001500" y="4086225"/>
            <a:ext cx="70485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3"/>
              </a:lnSpc>
            </a:pPr>
            <a:r>
              <a:rPr lang="en-US" sz="25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992100" y="3933825"/>
            <a:ext cx="37147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3"/>
              </a:lnSpc>
            </a:pPr>
            <a:r>
              <a:rPr lang="en-US" sz="25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Behov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992100" y="4419600"/>
            <a:ext cx="4095750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2"/>
              </a:lnSpc>
            </a:pPr>
            <a:r>
              <a:rPr lang="en-US" sz="1800">
                <a:solidFill>
                  <a:srgbClr val="061B3F"/>
                </a:solidFill>
                <a:latin typeface="Arial"/>
                <a:ea typeface="Arial"/>
                <a:cs typeface="Arial"/>
                <a:sym typeface="Arial"/>
              </a:rPr>
              <a:t>Forstå regningsændringen med det</a:t>
            </a:r>
          </a:p>
          <a:p>
            <a:pPr algn="l">
              <a:lnSpc>
                <a:spcPts val="2332"/>
              </a:lnSpc>
            </a:pPr>
            <a:r>
              <a:rPr lang="en-US" sz="1800">
                <a:solidFill>
                  <a:srgbClr val="061B3F"/>
                </a:solidFill>
                <a:latin typeface="Arial"/>
                <a:ea typeface="Arial"/>
                <a:cs typeface="Arial"/>
                <a:sym typeface="Arial"/>
              </a:rPr>
              <a:t>samme uden at vente på en</a:t>
            </a:r>
          </a:p>
          <a:p>
            <a:pPr algn="l">
              <a:lnSpc>
                <a:spcPts val="2332"/>
              </a:lnSpc>
            </a:pPr>
            <a:r>
              <a:rPr lang="en-US" sz="1800">
                <a:solidFill>
                  <a:srgbClr val="061B3F"/>
                </a:solidFill>
                <a:latin typeface="Arial"/>
                <a:ea typeface="Arial"/>
                <a:cs typeface="Arial"/>
                <a:sym typeface="Arial"/>
              </a:rPr>
              <a:t>medarbejder.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001500" y="5900397"/>
            <a:ext cx="70485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3"/>
              </a:lnSpc>
            </a:pPr>
            <a:r>
              <a:rPr lang="en-US" sz="25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992100" y="5781675"/>
            <a:ext cx="37147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3"/>
              </a:lnSpc>
            </a:pPr>
            <a:r>
              <a:rPr lang="en-US" sz="25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Problem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992100" y="6267450"/>
            <a:ext cx="4095750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2"/>
              </a:lnSpc>
            </a:pPr>
            <a:r>
              <a:rPr lang="en-US" sz="1800">
                <a:solidFill>
                  <a:srgbClr val="061B3F"/>
                </a:solidFill>
                <a:latin typeface="Arial"/>
                <a:ea typeface="Arial"/>
                <a:cs typeface="Arial"/>
                <a:sym typeface="Arial"/>
              </a:rPr>
              <a:t>Kunde-, faktura- og forbrugsdata</a:t>
            </a:r>
          </a:p>
          <a:p>
            <a:pPr algn="l">
              <a:lnSpc>
                <a:spcPts val="2332"/>
              </a:lnSpc>
            </a:pPr>
            <a:r>
              <a:rPr lang="en-US" sz="1800">
                <a:solidFill>
                  <a:srgbClr val="061B3F"/>
                </a:solidFill>
                <a:latin typeface="Arial"/>
                <a:ea typeface="Arial"/>
                <a:cs typeface="Arial"/>
                <a:sym typeface="Arial"/>
              </a:rPr>
              <a:t>ligger på tværs af systemer, før</a:t>
            </a:r>
          </a:p>
          <a:p>
            <a:pPr algn="l">
              <a:lnSpc>
                <a:spcPts val="2332"/>
              </a:lnSpc>
            </a:pPr>
            <a:r>
              <a:rPr lang="en-US" sz="1800">
                <a:solidFill>
                  <a:srgbClr val="061B3F"/>
                </a:solidFill>
                <a:latin typeface="Arial"/>
                <a:ea typeface="Arial"/>
                <a:cs typeface="Arial"/>
                <a:sym typeface="Arial"/>
              </a:rPr>
              <a:t>regningen kan forklares.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8250" y="8143875"/>
            <a:ext cx="7810500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9"/>
              </a:lnSpc>
            </a:pPr>
            <a:r>
              <a:rPr lang="en-US" sz="2325" b="1" i="1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"Min regning er 150 kr. højere.</a:t>
            </a:r>
          </a:p>
          <a:p>
            <a:pPr algn="l">
              <a:lnSpc>
                <a:spcPts val="2929"/>
              </a:lnSpc>
            </a:pPr>
            <a:r>
              <a:rPr lang="en-US" sz="2325" b="1" i="1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Hvorfor skal jeg vente i kø?"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077450" y="7981950"/>
            <a:ext cx="285750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875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DESIGNIMPLIKATION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077450" y="8401050"/>
            <a:ext cx="6477000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Intern SIGNAL AGENT med </a:t>
            </a:r>
            <a:r>
              <a:rPr lang="en-US" sz="1875" b="1" dirty="0" err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adgang</a:t>
            </a:r>
            <a:r>
              <a:rPr lang="en-US" sz="1875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1875" b="1" dirty="0" err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til</a:t>
            </a:r>
            <a:r>
              <a:rPr lang="en-US" sz="1875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faktura- </a:t>
            </a:r>
            <a:r>
              <a:rPr lang="en-US" sz="1875" b="1" dirty="0" err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og</a:t>
            </a:r>
            <a:r>
              <a:rPr lang="en-US" sz="1875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1875" b="1" dirty="0" err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forbrugsdata</a:t>
            </a:r>
            <a:endParaRPr lang="en-US" sz="1875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7192625" y="9629775"/>
            <a:ext cx="228600" cy="227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1"/>
              </a:lnSpc>
            </a:pPr>
            <a:r>
              <a:rPr lang="en-US" sz="13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</a:p>
        </p:txBody>
      </p:sp>
      <p:sp>
        <p:nvSpPr>
          <p:cNvPr id="30" name="Freeform 30"/>
          <p:cNvSpPr/>
          <p:nvPr/>
        </p:nvSpPr>
        <p:spPr>
          <a:xfrm rot="-675444">
            <a:off x="-565628" y="4134492"/>
            <a:ext cx="5907872" cy="32613"/>
          </a:xfrm>
          <a:custGeom>
            <a:avLst/>
            <a:gdLst/>
            <a:ahLst/>
            <a:cxnLst/>
            <a:rect l="l" t="t" r="r" b="b"/>
            <a:pathLst>
              <a:path w="5907872" h="32613">
                <a:moveTo>
                  <a:pt x="0" y="0"/>
                </a:moveTo>
                <a:lnTo>
                  <a:pt x="5907872" y="0"/>
                </a:lnTo>
                <a:lnTo>
                  <a:pt x="5907872" y="32613"/>
                </a:lnTo>
                <a:lnTo>
                  <a:pt x="0" y="326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9346"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31" name="Freeform 31"/>
          <p:cNvSpPr/>
          <p:nvPr/>
        </p:nvSpPr>
        <p:spPr>
          <a:xfrm rot="734241">
            <a:off x="15881723" y="9643823"/>
            <a:ext cx="4715547" cy="29054"/>
          </a:xfrm>
          <a:custGeom>
            <a:avLst/>
            <a:gdLst/>
            <a:ahLst/>
            <a:cxnLst/>
            <a:rect l="l" t="t" r="r" b="b"/>
            <a:pathLst>
              <a:path w="4715547" h="29054">
                <a:moveTo>
                  <a:pt x="0" y="0"/>
                </a:moveTo>
                <a:lnTo>
                  <a:pt x="4715546" y="0"/>
                </a:lnTo>
                <a:lnTo>
                  <a:pt x="4715546" y="29054"/>
                </a:lnTo>
                <a:lnTo>
                  <a:pt x="0" y="290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05" r="-5805" b="-39346"/>
            </a:stretch>
          </a:blipFill>
        </p:spPr>
        <p:txBody>
          <a:bodyPr/>
          <a:lstStyle/>
          <a:p>
            <a:endParaRPr lang="da-DK"/>
          </a:p>
        </p:txBody>
      </p:sp>
      <p:grpSp>
        <p:nvGrpSpPr>
          <p:cNvPr id="32" name="Group 32"/>
          <p:cNvGrpSpPr/>
          <p:nvPr/>
        </p:nvGrpSpPr>
        <p:grpSpPr>
          <a:xfrm>
            <a:off x="8115300" y="2886075"/>
            <a:ext cx="3676650" cy="3676650"/>
            <a:chOff x="0" y="0"/>
            <a:chExt cx="4902200" cy="49022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902200" cy="4902200"/>
            </a:xfrm>
            <a:custGeom>
              <a:avLst/>
              <a:gdLst/>
              <a:ahLst/>
              <a:cxnLst/>
              <a:rect l="l" t="t" r="r" b="b"/>
              <a:pathLst>
                <a:path w="4902200" h="4902200">
                  <a:moveTo>
                    <a:pt x="0" y="2451100"/>
                  </a:moveTo>
                  <a:cubicBezTo>
                    <a:pt x="0" y="1097407"/>
                    <a:pt x="1097407" y="0"/>
                    <a:pt x="2451100" y="0"/>
                  </a:cubicBezTo>
                  <a:cubicBezTo>
                    <a:pt x="3804793" y="0"/>
                    <a:pt x="4902200" y="1097407"/>
                    <a:pt x="4902200" y="2451100"/>
                  </a:cubicBezTo>
                  <a:cubicBezTo>
                    <a:pt x="4902200" y="3804793"/>
                    <a:pt x="3804793" y="4902200"/>
                    <a:pt x="2451100" y="4902200"/>
                  </a:cubicBezTo>
                  <a:cubicBezTo>
                    <a:pt x="1097407" y="4902200"/>
                    <a:pt x="0" y="3804793"/>
                    <a:pt x="0" y="2451100"/>
                  </a:cubicBezTo>
                  <a:close/>
                </a:path>
              </a:pathLst>
            </a:custGeom>
            <a:solidFill>
              <a:srgbClr val="D8F5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362950" y="3133725"/>
            <a:ext cx="3181350" cy="3181350"/>
            <a:chOff x="0" y="0"/>
            <a:chExt cx="4241800" cy="4241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241800" cy="4241800"/>
            </a:xfrm>
            <a:custGeom>
              <a:avLst/>
              <a:gdLst/>
              <a:ahLst/>
              <a:cxnLst/>
              <a:rect l="l" t="t" r="r" b="b"/>
              <a:pathLst>
                <a:path w="4241800" h="4241800">
                  <a:moveTo>
                    <a:pt x="0" y="2120900"/>
                  </a:moveTo>
                  <a:cubicBezTo>
                    <a:pt x="0" y="949579"/>
                    <a:pt x="949579" y="0"/>
                    <a:pt x="2120900" y="0"/>
                  </a:cubicBezTo>
                  <a:cubicBezTo>
                    <a:pt x="3292221" y="0"/>
                    <a:pt x="4241800" y="949579"/>
                    <a:pt x="4241800" y="2120900"/>
                  </a:cubicBezTo>
                  <a:cubicBezTo>
                    <a:pt x="4241800" y="3292221"/>
                    <a:pt x="3292221" y="4241800"/>
                    <a:pt x="2120900" y="4241800"/>
                  </a:cubicBezTo>
                  <a:cubicBezTo>
                    <a:pt x="949579" y="4241800"/>
                    <a:pt x="0" y="3292221"/>
                    <a:pt x="0" y="2120900"/>
                  </a:cubicBezTo>
                  <a:close/>
                </a:path>
              </a:pathLst>
            </a:custGeom>
            <a:solidFill>
              <a:srgbClr val="061B3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559568" y="3324105"/>
            <a:ext cx="2794352" cy="2794352"/>
            <a:chOff x="0" y="0"/>
            <a:chExt cx="4241800" cy="4241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241800" cy="4241800"/>
            </a:xfrm>
            <a:custGeom>
              <a:avLst/>
              <a:gdLst/>
              <a:ahLst/>
              <a:cxnLst/>
              <a:rect l="l" t="t" r="r" b="b"/>
              <a:pathLst>
                <a:path w="4241800" h="4241800">
                  <a:moveTo>
                    <a:pt x="0" y="2120900"/>
                  </a:moveTo>
                  <a:cubicBezTo>
                    <a:pt x="0" y="949579"/>
                    <a:pt x="949579" y="0"/>
                    <a:pt x="2120900" y="0"/>
                  </a:cubicBezTo>
                  <a:cubicBezTo>
                    <a:pt x="3292221" y="0"/>
                    <a:pt x="4241800" y="949579"/>
                    <a:pt x="4241800" y="2120900"/>
                  </a:cubicBezTo>
                  <a:cubicBezTo>
                    <a:pt x="4241800" y="3292221"/>
                    <a:pt x="3292221" y="4241800"/>
                    <a:pt x="2120900" y="4241800"/>
                  </a:cubicBezTo>
                  <a:cubicBezTo>
                    <a:pt x="949579" y="4241800"/>
                    <a:pt x="0" y="3292221"/>
                    <a:pt x="0" y="212090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876300" y="9667875"/>
            <a:ext cx="723900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9"/>
              </a:lnSpc>
            </a:pPr>
            <a:r>
              <a:rPr lang="en-US" sz="900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rPr>
              <a:t>© 2026 KPMG P/S · Arbejdsmateriale til Company X case</a:t>
            </a:r>
          </a:p>
        </p:txBody>
      </p:sp>
      <p:sp>
        <p:nvSpPr>
          <p:cNvPr id="39" name="Freeform 39"/>
          <p:cNvSpPr/>
          <p:nvPr/>
        </p:nvSpPr>
        <p:spPr>
          <a:xfrm>
            <a:off x="876300" y="9476345"/>
            <a:ext cx="456796" cy="182005"/>
          </a:xfrm>
          <a:custGeom>
            <a:avLst/>
            <a:gdLst/>
            <a:ahLst/>
            <a:cxnLst/>
            <a:rect l="l" t="t" r="r" b="b"/>
            <a:pathLst>
              <a:path w="456796" h="182005">
                <a:moveTo>
                  <a:pt x="0" y="0"/>
                </a:moveTo>
                <a:lnTo>
                  <a:pt x="456796" y="0"/>
                </a:lnTo>
                <a:lnTo>
                  <a:pt x="456796" y="182005"/>
                </a:lnTo>
                <a:lnTo>
                  <a:pt x="0" y="1820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40" name="TextBox 40"/>
          <p:cNvSpPr txBox="1"/>
          <p:nvPr/>
        </p:nvSpPr>
        <p:spPr>
          <a:xfrm>
            <a:off x="15621000" y="9667875"/>
            <a:ext cx="1428750" cy="164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09"/>
              </a:lnSpc>
            </a:pPr>
            <a:r>
              <a:rPr lang="en-US" sz="900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rPr>
              <a:t>Persona 1: Maria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76300" y="666750"/>
            <a:ext cx="1829916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i="1">
                <a:solidFill>
                  <a:srgbClr val="00BA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Persona 01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9845" y="1261034"/>
            <a:ext cx="6934455" cy="346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14"/>
              </a:lnSpc>
            </a:pPr>
            <a:r>
              <a:rPr lang="en-US" sz="480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Maria vil have svar</a:t>
            </a:r>
          </a:p>
          <a:p>
            <a:pPr algn="just">
              <a:lnSpc>
                <a:spcPts val="5414"/>
              </a:lnSpc>
            </a:pPr>
            <a:r>
              <a:rPr lang="en-US" sz="480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uden at vente</a:t>
            </a:r>
          </a:p>
          <a:p>
            <a:pPr algn="just">
              <a:lnSpc>
                <a:spcPts val="5414"/>
              </a:lnSpc>
            </a:pPr>
            <a:r>
              <a:rPr lang="en-US" sz="480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i telefonkø</a:t>
            </a:r>
          </a:p>
          <a:p>
            <a:pPr algn="just">
              <a:lnSpc>
                <a:spcPts val="5414"/>
              </a:lnSpc>
            </a:pPr>
            <a:endParaRPr lang="en-US" sz="4800" b="1">
              <a:solidFill>
                <a:srgbClr val="061B3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ts val="5414"/>
              </a:lnSpc>
            </a:pPr>
            <a:endParaRPr lang="en-US" sz="4800" b="1">
              <a:solidFill>
                <a:srgbClr val="061B3F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43" name="Group 32">
            <a:extLst>
              <a:ext uri="{FF2B5EF4-FFF2-40B4-BE49-F238E27FC236}">
                <a16:creationId xmlns:a16="http://schemas.microsoft.com/office/drawing/2014/main" id="{F6868A74-4463-A3A7-FA08-1F9BBB61DC65}"/>
              </a:ext>
            </a:extLst>
          </p:cNvPr>
          <p:cNvGrpSpPr/>
          <p:nvPr/>
        </p:nvGrpSpPr>
        <p:grpSpPr>
          <a:xfrm rot="381449">
            <a:off x="17098338" y="9654883"/>
            <a:ext cx="19050" cy="190500"/>
            <a:chOff x="0" y="0"/>
            <a:chExt cx="25400" cy="254000"/>
          </a:xfrm>
        </p:grpSpPr>
        <p:sp>
          <p:nvSpPr>
            <p:cNvPr id="44" name="Freeform 33">
              <a:extLst>
                <a:ext uri="{FF2B5EF4-FFF2-40B4-BE49-F238E27FC236}">
                  <a16:creationId xmlns:a16="http://schemas.microsoft.com/office/drawing/2014/main" id="{97CEFB69-34CA-8744-20C2-1EB281347550}"/>
                </a:ext>
              </a:extLst>
            </p:cNvPr>
            <p:cNvSpPr/>
            <p:nvPr/>
          </p:nvSpPr>
          <p:spPr>
            <a:xfrm>
              <a:off x="0" y="0"/>
              <a:ext cx="25400" cy="254000"/>
            </a:xfrm>
            <a:custGeom>
              <a:avLst/>
              <a:gdLst/>
              <a:ahLst/>
              <a:cxnLst/>
              <a:rect l="l" t="t" r="r" b="b"/>
              <a:pathLst>
                <a:path w="25400" h="254000">
                  <a:moveTo>
                    <a:pt x="0" y="0"/>
                  </a:moveTo>
                  <a:lnTo>
                    <a:pt x="25400" y="254000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l="-1233035" r="-1233035"/>
              </a:stretch>
            </a:blipFill>
            <a:ln w="19050" cap="sq">
              <a:solidFill>
                <a:srgbClr val="061B3F"/>
              </a:solidFill>
              <a:prstDash val="solid"/>
              <a:miter/>
            </a:ln>
          </p:spPr>
          <p:txBody>
            <a:bodyPr/>
            <a:lstStyle/>
            <a:p>
              <a:endParaRPr lang="da-DK" dirty="0"/>
            </a:p>
          </p:txBody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406562" y="8596312"/>
            <a:ext cx="4333875" cy="904875"/>
            <a:chOff x="0" y="0"/>
            <a:chExt cx="5778500" cy="1206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78500" cy="1206500"/>
            </a:xfrm>
            <a:custGeom>
              <a:avLst/>
              <a:gdLst/>
              <a:ahLst/>
              <a:cxnLst/>
              <a:rect l="l" t="t" r="r" b="b"/>
              <a:pathLst>
                <a:path w="5778500" h="1206500">
                  <a:moveTo>
                    <a:pt x="0" y="0"/>
                  </a:moveTo>
                  <a:lnTo>
                    <a:pt x="5778500" y="12065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t="-43323" b="-43323"/>
              </a:stretch>
            </a:blipFill>
            <a:ln w="47625" cap="sq">
              <a:solidFill>
                <a:srgbClr val="061B3F"/>
              </a:solidFill>
              <a:prstDash val="sysDot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76300" y="3731698"/>
            <a:ext cx="7239000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8"/>
              </a:lnSpc>
            </a:pPr>
            <a:r>
              <a:rPr lang="en-US" sz="2175">
                <a:solidFill>
                  <a:srgbClr val="061B3F"/>
                </a:solidFill>
                <a:latin typeface="Arial"/>
                <a:ea typeface="Arial"/>
                <a:cs typeface="Arial"/>
                <a:sym typeface="Arial"/>
              </a:rPr>
              <a:t>Kundeserviceagenten skal forklare regningsafvigelser,</a:t>
            </a:r>
          </a:p>
          <a:p>
            <a:pPr algn="l">
              <a:lnSpc>
                <a:spcPts val="2818"/>
              </a:lnSpc>
            </a:pPr>
            <a:r>
              <a:rPr lang="en-US" sz="2175">
                <a:solidFill>
                  <a:srgbClr val="061B3F"/>
                </a:solidFill>
                <a:latin typeface="Arial"/>
                <a:ea typeface="Arial"/>
                <a:cs typeface="Arial"/>
                <a:sym typeface="Arial"/>
              </a:rPr>
              <a:t>mens kunden venter i røret.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220075" y="2905125"/>
            <a:ext cx="3676650" cy="3676650"/>
            <a:chOff x="0" y="0"/>
            <a:chExt cx="4902200" cy="4902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02200" cy="4902200"/>
            </a:xfrm>
            <a:custGeom>
              <a:avLst/>
              <a:gdLst/>
              <a:ahLst/>
              <a:cxnLst/>
              <a:rect l="l" t="t" r="r" b="b"/>
              <a:pathLst>
                <a:path w="4902200" h="4902200">
                  <a:moveTo>
                    <a:pt x="0" y="2451100"/>
                  </a:moveTo>
                  <a:cubicBezTo>
                    <a:pt x="0" y="1097407"/>
                    <a:pt x="1097407" y="0"/>
                    <a:pt x="2451100" y="0"/>
                  </a:cubicBezTo>
                  <a:cubicBezTo>
                    <a:pt x="3804793" y="0"/>
                    <a:pt x="4902200" y="1097407"/>
                    <a:pt x="4902200" y="2451100"/>
                  </a:cubicBezTo>
                  <a:cubicBezTo>
                    <a:pt x="4902200" y="3804793"/>
                    <a:pt x="3804793" y="4902200"/>
                    <a:pt x="2451100" y="4902200"/>
                  </a:cubicBezTo>
                  <a:cubicBezTo>
                    <a:pt x="1097407" y="4902200"/>
                    <a:pt x="0" y="3804793"/>
                    <a:pt x="0" y="2451100"/>
                  </a:cubicBezTo>
                  <a:close/>
                </a:path>
              </a:pathLst>
            </a:custGeom>
            <a:solidFill>
              <a:srgbClr val="D8F5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467725" y="3152775"/>
            <a:ext cx="3181350" cy="3181350"/>
            <a:chOff x="0" y="0"/>
            <a:chExt cx="4241800" cy="4241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41800" cy="4241800"/>
            </a:xfrm>
            <a:custGeom>
              <a:avLst/>
              <a:gdLst/>
              <a:ahLst/>
              <a:cxnLst/>
              <a:rect l="l" t="t" r="r" b="b"/>
              <a:pathLst>
                <a:path w="4241800" h="4241800">
                  <a:moveTo>
                    <a:pt x="0" y="2120900"/>
                  </a:moveTo>
                  <a:cubicBezTo>
                    <a:pt x="0" y="949579"/>
                    <a:pt x="949579" y="0"/>
                    <a:pt x="2120900" y="0"/>
                  </a:cubicBezTo>
                  <a:cubicBezTo>
                    <a:pt x="3292221" y="0"/>
                    <a:pt x="4241800" y="949579"/>
                    <a:pt x="4241800" y="2120900"/>
                  </a:cubicBezTo>
                  <a:cubicBezTo>
                    <a:pt x="4241800" y="3292221"/>
                    <a:pt x="3292221" y="4241800"/>
                    <a:pt x="2120900" y="4241800"/>
                  </a:cubicBezTo>
                  <a:cubicBezTo>
                    <a:pt x="949579" y="4241800"/>
                    <a:pt x="0" y="3292221"/>
                    <a:pt x="0" y="2120900"/>
                  </a:cubicBezTo>
                  <a:close/>
                </a:path>
              </a:pathLst>
            </a:custGeom>
            <a:solidFill>
              <a:srgbClr val="061B3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620125" y="3305175"/>
            <a:ext cx="2876550" cy="2876550"/>
            <a:chOff x="0" y="0"/>
            <a:chExt cx="3835400" cy="3835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835400" cy="3835400"/>
            </a:xfrm>
            <a:custGeom>
              <a:avLst/>
              <a:gdLst/>
              <a:ahLst/>
              <a:cxnLst/>
              <a:rect l="l" t="t" r="r" b="b"/>
              <a:pathLst>
                <a:path w="3835400" h="3835400">
                  <a:moveTo>
                    <a:pt x="0" y="0"/>
                  </a:moveTo>
                  <a:lnTo>
                    <a:pt x="3835400" y="0"/>
                  </a:lnTo>
                  <a:lnTo>
                    <a:pt x="3835400" y="3835400"/>
                  </a:lnTo>
                  <a:lnTo>
                    <a:pt x="0" y="383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106275" y="2095500"/>
            <a:ext cx="704850" cy="704850"/>
            <a:chOff x="0" y="0"/>
            <a:chExt cx="939800" cy="939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39800" cy="939800"/>
            </a:xfrm>
            <a:custGeom>
              <a:avLst/>
              <a:gdLst/>
              <a:ahLst/>
              <a:cxnLst/>
              <a:rect l="l" t="t" r="r" b="b"/>
              <a:pathLst>
                <a:path w="939800" h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061B3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106275" y="2221427"/>
            <a:ext cx="70485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3"/>
              </a:lnSpc>
            </a:pPr>
            <a:r>
              <a:rPr lang="en-US" sz="25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096875" y="2105025"/>
            <a:ext cx="37147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3"/>
              </a:lnSpc>
            </a:pPr>
            <a:r>
              <a:rPr lang="en-US" sz="25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Kontekst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096875" y="2590800"/>
            <a:ext cx="4095750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2"/>
              </a:lnSpc>
            </a:pPr>
            <a:r>
              <a:rPr lang="en-US" sz="1800">
                <a:solidFill>
                  <a:srgbClr val="061B3F"/>
                </a:solidFill>
                <a:latin typeface="Arial"/>
                <a:ea typeface="Arial"/>
                <a:cs typeface="Arial"/>
                <a:sym typeface="Arial"/>
              </a:rPr>
              <a:t>31 år, kundeserviceagent i billing</a:t>
            </a:r>
          </a:p>
          <a:p>
            <a:pPr algn="l">
              <a:lnSpc>
                <a:spcPts val="2332"/>
              </a:lnSpc>
            </a:pPr>
            <a:r>
              <a:rPr lang="en-US" sz="1800">
                <a:solidFill>
                  <a:srgbClr val="061B3F"/>
                </a:solidFill>
                <a:latin typeface="Arial"/>
                <a:ea typeface="Arial"/>
                <a:cs typeface="Arial"/>
                <a:sym typeface="Arial"/>
              </a:rPr>
              <a:t>support. Håndterer fakturaopkald</a:t>
            </a:r>
          </a:p>
          <a:p>
            <a:pPr algn="l">
              <a:lnSpc>
                <a:spcPts val="2332"/>
              </a:lnSpc>
            </a:pPr>
            <a:r>
              <a:rPr lang="en-US" sz="1800">
                <a:solidFill>
                  <a:srgbClr val="061B3F"/>
                </a:solidFill>
                <a:latin typeface="Arial"/>
                <a:ea typeface="Arial"/>
                <a:cs typeface="Arial"/>
                <a:sym typeface="Arial"/>
              </a:rPr>
              <a:t>og dokumenterer sagen bagefter.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106275" y="3943350"/>
            <a:ext cx="704850" cy="704850"/>
            <a:chOff x="0" y="0"/>
            <a:chExt cx="939800" cy="939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39800" cy="939800"/>
            </a:xfrm>
            <a:custGeom>
              <a:avLst/>
              <a:gdLst/>
              <a:ahLst/>
              <a:cxnLst/>
              <a:rect l="l" t="t" r="r" b="b"/>
              <a:pathLst>
                <a:path w="939800" h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092A5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106275" y="4048125"/>
            <a:ext cx="70485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3"/>
              </a:lnSpc>
            </a:pPr>
            <a:r>
              <a:rPr lang="en-US" sz="25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096875" y="3952875"/>
            <a:ext cx="37147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3"/>
              </a:lnSpc>
            </a:pPr>
            <a:r>
              <a:rPr lang="en-US" sz="25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Behov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096875" y="4438650"/>
            <a:ext cx="4095750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2"/>
              </a:lnSpc>
            </a:pPr>
            <a:r>
              <a:rPr lang="en-US" sz="1800">
                <a:solidFill>
                  <a:srgbClr val="061B3F"/>
                </a:solidFill>
                <a:latin typeface="Arial"/>
                <a:ea typeface="Arial"/>
                <a:cs typeface="Arial"/>
                <a:sym typeface="Arial"/>
              </a:rPr>
              <a:t>Samlet overblik over kunde,</a:t>
            </a:r>
          </a:p>
          <a:p>
            <a:pPr algn="l">
              <a:lnSpc>
                <a:spcPts val="2332"/>
              </a:lnSpc>
            </a:pPr>
            <a:r>
              <a:rPr lang="en-US" sz="1800">
                <a:solidFill>
                  <a:srgbClr val="061B3F"/>
                </a:solidFill>
                <a:latin typeface="Arial"/>
                <a:ea typeface="Arial"/>
                <a:cs typeface="Arial"/>
                <a:sym typeface="Arial"/>
              </a:rPr>
              <a:t>faktura, forbrug og ændringer,</a:t>
            </a:r>
          </a:p>
          <a:p>
            <a:pPr algn="l">
              <a:lnSpc>
                <a:spcPts val="2332"/>
              </a:lnSpc>
            </a:pPr>
            <a:r>
              <a:rPr lang="en-US" sz="1800">
                <a:solidFill>
                  <a:srgbClr val="061B3F"/>
                </a:solidFill>
                <a:latin typeface="Arial"/>
                <a:ea typeface="Arial"/>
                <a:cs typeface="Arial"/>
                <a:sym typeface="Arial"/>
              </a:rPr>
              <a:t>så han kan svare sikkert.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106275" y="5791200"/>
            <a:ext cx="704850" cy="704850"/>
            <a:chOff x="0" y="0"/>
            <a:chExt cx="939800" cy="939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39800" cy="939800"/>
            </a:xfrm>
            <a:custGeom>
              <a:avLst/>
              <a:gdLst/>
              <a:ahLst/>
              <a:cxnLst/>
              <a:rect l="l" t="t" r="r" b="b"/>
              <a:pathLst>
                <a:path w="939800" h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2FC3D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2106275" y="5895975"/>
            <a:ext cx="70485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3"/>
              </a:lnSpc>
            </a:pPr>
            <a:r>
              <a:rPr lang="en-US" sz="25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096875" y="5800725"/>
            <a:ext cx="37147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3"/>
              </a:lnSpc>
            </a:pPr>
            <a:r>
              <a:rPr lang="en-US" sz="25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Problem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096875" y="6286500"/>
            <a:ext cx="4095750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2"/>
              </a:lnSpc>
            </a:pPr>
            <a:r>
              <a:rPr lang="en-US" sz="1800">
                <a:solidFill>
                  <a:srgbClr val="061B3F"/>
                </a:solidFill>
                <a:latin typeface="Arial"/>
                <a:ea typeface="Arial"/>
                <a:cs typeface="Arial"/>
                <a:sym typeface="Arial"/>
              </a:rPr>
              <a:t>Data ligger på tværs af CRM,</a:t>
            </a:r>
          </a:p>
          <a:p>
            <a:pPr algn="l">
              <a:lnSpc>
                <a:spcPts val="2332"/>
              </a:lnSpc>
            </a:pPr>
            <a:r>
              <a:rPr lang="en-US" sz="1800">
                <a:solidFill>
                  <a:srgbClr val="061B3F"/>
                </a:solidFill>
                <a:latin typeface="Arial"/>
                <a:ea typeface="Arial"/>
                <a:cs typeface="Arial"/>
                <a:sym typeface="Arial"/>
              </a:rPr>
              <a:t>fakturasystem og forbrugsdata,</a:t>
            </a:r>
          </a:p>
          <a:p>
            <a:pPr algn="l">
              <a:lnSpc>
                <a:spcPts val="2332"/>
              </a:lnSpc>
            </a:pPr>
            <a:r>
              <a:rPr lang="en-US" sz="1800">
                <a:solidFill>
                  <a:srgbClr val="061B3F"/>
                </a:solidFill>
                <a:latin typeface="Arial"/>
                <a:ea typeface="Arial"/>
                <a:cs typeface="Arial"/>
                <a:sym typeface="Arial"/>
              </a:rPr>
              <a:t>mens samtaletiden stiger.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876300" y="7848600"/>
            <a:ext cx="8667750" cy="1333500"/>
            <a:chOff x="0" y="0"/>
            <a:chExt cx="11557000" cy="1778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557000" cy="1778000"/>
            </a:xfrm>
            <a:custGeom>
              <a:avLst/>
              <a:gdLst/>
              <a:ahLst/>
              <a:cxnLst/>
              <a:rect l="l" t="t" r="r" b="b"/>
              <a:pathLst>
                <a:path w="11557000" h="17780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11379200" y="0"/>
                  </a:lnTo>
                  <a:cubicBezTo>
                    <a:pt x="11477371" y="0"/>
                    <a:pt x="11557000" y="79629"/>
                    <a:pt x="11557000" y="177800"/>
                  </a:cubicBezTo>
                  <a:lnTo>
                    <a:pt x="11557000" y="1600200"/>
                  </a:lnTo>
                  <a:cubicBezTo>
                    <a:pt x="11557000" y="1698371"/>
                    <a:pt x="11477371" y="1778000"/>
                    <a:pt x="11379200" y="1778000"/>
                  </a:cubicBezTo>
                  <a:lnTo>
                    <a:pt x="177800" y="1778000"/>
                  </a:lnTo>
                  <a:cubicBezTo>
                    <a:pt x="79629" y="1778000"/>
                    <a:pt x="0" y="1698371"/>
                    <a:pt x="0" y="1600200"/>
                  </a:cubicBezTo>
                  <a:close/>
                </a:path>
              </a:pathLst>
            </a:custGeom>
            <a:solidFill>
              <a:srgbClr val="061B3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696450" y="7848600"/>
            <a:ext cx="7715250" cy="1333500"/>
            <a:chOff x="0" y="0"/>
            <a:chExt cx="10287000" cy="1778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287000" cy="1778000"/>
            </a:xfrm>
            <a:custGeom>
              <a:avLst/>
              <a:gdLst/>
              <a:ahLst/>
              <a:cxnLst/>
              <a:rect l="l" t="t" r="r" b="b"/>
              <a:pathLst>
                <a:path w="10287000" h="17780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10109200" y="0"/>
                  </a:lnTo>
                  <a:cubicBezTo>
                    <a:pt x="10207371" y="0"/>
                    <a:pt x="10287000" y="79629"/>
                    <a:pt x="10287000" y="177800"/>
                  </a:cubicBezTo>
                  <a:lnTo>
                    <a:pt x="10287000" y="1600200"/>
                  </a:lnTo>
                  <a:cubicBezTo>
                    <a:pt x="10287000" y="1698371"/>
                    <a:pt x="10207371" y="1778000"/>
                    <a:pt x="10109200" y="1778000"/>
                  </a:cubicBezTo>
                  <a:lnTo>
                    <a:pt x="177800" y="1778000"/>
                  </a:lnTo>
                  <a:cubicBezTo>
                    <a:pt x="79629" y="1778000"/>
                    <a:pt x="0" y="1698371"/>
                    <a:pt x="0" y="1600200"/>
                  </a:cubicBezTo>
                  <a:close/>
                </a:path>
              </a:pathLst>
            </a:custGeom>
            <a:solidFill>
              <a:srgbClr val="092A5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238250" y="8143875"/>
            <a:ext cx="78105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9"/>
              </a:lnSpc>
            </a:pPr>
            <a:r>
              <a:rPr lang="en-US" sz="2325" b="1" i="1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"Jeg vil gerne hjælpe, men jeg skal først</a:t>
            </a:r>
          </a:p>
          <a:p>
            <a:pPr algn="l">
              <a:lnSpc>
                <a:spcPts val="2929"/>
              </a:lnSpc>
            </a:pPr>
            <a:r>
              <a:rPr lang="en-US" sz="2325" b="1" i="1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samle svaret fra flere systemer."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077450" y="8115300"/>
            <a:ext cx="314325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875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DESIGNIMPLIKATION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077450" y="8467725"/>
            <a:ext cx="6477000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AI-copilot, der samler kontekst</a:t>
            </a:r>
          </a:p>
          <a:p>
            <a:pPr algn="l">
              <a:lnSpc>
                <a:spcPts val="2250"/>
              </a:lnSpc>
            </a:pPr>
            <a:r>
              <a:rPr lang="en-US" sz="1875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og giver en klar forklaring.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7192625" y="9629775"/>
            <a:ext cx="228600" cy="227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1"/>
              </a:lnSpc>
            </a:pPr>
            <a:r>
              <a:rPr lang="en-US" sz="13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5</a:t>
            </a:r>
          </a:p>
        </p:txBody>
      </p:sp>
      <p:sp>
        <p:nvSpPr>
          <p:cNvPr id="36" name="Freeform 36"/>
          <p:cNvSpPr/>
          <p:nvPr/>
        </p:nvSpPr>
        <p:spPr>
          <a:xfrm rot="-675444">
            <a:off x="-852413" y="5812993"/>
            <a:ext cx="5907872" cy="32613"/>
          </a:xfrm>
          <a:custGeom>
            <a:avLst/>
            <a:gdLst/>
            <a:ahLst/>
            <a:cxnLst/>
            <a:rect l="l" t="t" r="r" b="b"/>
            <a:pathLst>
              <a:path w="5907872" h="32613">
                <a:moveTo>
                  <a:pt x="0" y="0"/>
                </a:moveTo>
                <a:lnTo>
                  <a:pt x="5907872" y="0"/>
                </a:lnTo>
                <a:lnTo>
                  <a:pt x="5907872" y="32614"/>
                </a:lnTo>
                <a:lnTo>
                  <a:pt x="0" y="32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9346"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37" name="Freeform 37"/>
          <p:cNvSpPr/>
          <p:nvPr/>
        </p:nvSpPr>
        <p:spPr>
          <a:xfrm rot="734241">
            <a:off x="15930227" y="9681529"/>
            <a:ext cx="4715547" cy="29054"/>
          </a:xfrm>
          <a:custGeom>
            <a:avLst/>
            <a:gdLst/>
            <a:ahLst/>
            <a:cxnLst/>
            <a:rect l="l" t="t" r="r" b="b"/>
            <a:pathLst>
              <a:path w="4715547" h="29054">
                <a:moveTo>
                  <a:pt x="0" y="0"/>
                </a:moveTo>
                <a:lnTo>
                  <a:pt x="4715546" y="0"/>
                </a:lnTo>
                <a:lnTo>
                  <a:pt x="4715546" y="29053"/>
                </a:lnTo>
                <a:lnTo>
                  <a:pt x="0" y="290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805" r="-5805" b="-39346"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38" name="TextBox 38"/>
          <p:cNvSpPr txBox="1"/>
          <p:nvPr/>
        </p:nvSpPr>
        <p:spPr>
          <a:xfrm>
            <a:off x="876300" y="9667875"/>
            <a:ext cx="723900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9"/>
              </a:lnSpc>
            </a:pPr>
            <a:r>
              <a:rPr lang="en-US" sz="900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rPr>
              <a:t>© 2026 KPMG P/S · Arbejdsmateriale til Company X case</a:t>
            </a:r>
          </a:p>
        </p:txBody>
      </p:sp>
      <p:sp>
        <p:nvSpPr>
          <p:cNvPr id="39" name="Freeform 39"/>
          <p:cNvSpPr/>
          <p:nvPr/>
        </p:nvSpPr>
        <p:spPr>
          <a:xfrm>
            <a:off x="876300" y="9476345"/>
            <a:ext cx="456796" cy="182005"/>
          </a:xfrm>
          <a:custGeom>
            <a:avLst/>
            <a:gdLst/>
            <a:ahLst/>
            <a:cxnLst/>
            <a:rect l="l" t="t" r="r" b="b"/>
            <a:pathLst>
              <a:path w="456796" h="182005">
                <a:moveTo>
                  <a:pt x="0" y="0"/>
                </a:moveTo>
                <a:lnTo>
                  <a:pt x="456796" y="0"/>
                </a:lnTo>
                <a:lnTo>
                  <a:pt x="456796" y="182005"/>
                </a:lnTo>
                <a:lnTo>
                  <a:pt x="0" y="1820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40" name="TextBox 40"/>
          <p:cNvSpPr txBox="1"/>
          <p:nvPr/>
        </p:nvSpPr>
        <p:spPr>
          <a:xfrm>
            <a:off x="15621000" y="9667875"/>
            <a:ext cx="1428750" cy="164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09"/>
              </a:lnSpc>
            </a:pPr>
            <a:r>
              <a:rPr lang="en-US" sz="900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rPr>
              <a:t>Persona 2: Mikkel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76300" y="666750"/>
            <a:ext cx="1829916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i="1">
                <a:solidFill>
                  <a:srgbClr val="00BA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Persona 02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76300" y="1266825"/>
            <a:ext cx="6745542" cy="2091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14"/>
              </a:lnSpc>
            </a:pPr>
            <a:r>
              <a:rPr lang="en-US" sz="480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Mikkel skal hjælpe</a:t>
            </a:r>
          </a:p>
          <a:p>
            <a:pPr algn="l">
              <a:lnSpc>
                <a:spcPts val="5414"/>
              </a:lnSpc>
            </a:pPr>
            <a:r>
              <a:rPr lang="en-US" sz="480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uden samlet overblik</a:t>
            </a:r>
          </a:p>
          <a:p>
            <a:pPr algn="l">
              <a:lnSpc>
                <a:spcPts val="5414"/>
              </a:lnSpc>
            </a:pPr>
            <a:endParaRPr lang="en-US" sz="4800" b="1">
              <a:solidFill>
                <a:srgbClr val="061B3F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43" name="Group 32">
            <a:extLst>
              <a:ext uri="{FF2B5EF4-FFF2-40B4-BE49-F238E27FC236}">
                <a16:creationId xmlns:a16="http://schemas.microsoft.com/office/drawing/2014/main" id="{D4BC1956-681D-C03C-B3C4-ECA45637B629}"/>
              </a:ext>
            </a:extLst>
          </p:cNvPr>
          <p:cNvGrpSpPr/>
          <p:nvPr/>
        </p:nvGrpSpPr>
        <p:grpSpPr>
          <a:xfrm rot="381449">
            <a:off x="17111662" y="9654883"/>
            <a:ext cx="19050" cy="190500"/>
            <a:chOff x="0" y="0"/>
            <a:chExt cx="25400" cy="254000"/>
          </a:xfrm>
        </p:grpSpPr>
        <p:sp>
          <p:nvSpPr>
            <p:cNvPr id="44" name="Freeform 33">
              <a:extLst>
                <a:ext uri="{FF2B5EF4-FFF2-40B4-BE49-F238E27FC236}">
                  <a16:creationId xmlns:a16="http://schemas.microsoft.com/office/drawing/2014/main" id="{CA92DF04-9567-9792-5EFA-37E532D136C6}"/>
                </a:ext>
              </a:extLst>
            </p:cNvPr>
            <p:cNvSpPr/>
            <p:nvPr/>
          </p:nvSpPr>
          <p:spPr>
            <a:xfrm>
              <a:off x="0" y="0"/>
              <a:ext cx="25400" cy="254000"/>
            </a:xfrm>
            <a:custGeom>
              <a:avLst/>
              <a:gdLst/>
              <a:ahLst/>
              <a:cxnLst/>
              <a:rect l="l" t="t" r="r" b="b"/>
              <a:pathLst>
                <a:path w="25400" h="254000">
                  <a:moveTo>
                    <a:pt x="0" y="0"/>
                  </a:moveTo>
                  <a:lnTo>
                    <a:pt x="25400" y="2540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233035" r="-1233035"/>
              </a:stretch>
            </a:blipFill>
            <a:ln w="19050" cap="sq">
              <a:solidFill>
                <a:srgbClr val="061B3F"/>
              </a:solidFill>
              <a:prstDash val="solid"/>
              <a:miter/>
            </a:ln>
          </p:spPr>
          <p:txBody>
            <a:bodyPr/>
            <a:lstStyle/>
            <a:p>
              <a:endParaRPr lang="da-DK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600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095625"/>
            <a:ext cx="8001000" cy="7191375"/>
            <a:chOff x="0" y="0"/>
            <a:chExt cx="10668000" cy="9588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668000" cy="9588500"/>
            </a:xfrm>
            <a:custGeom>
              <a:avLst/>
              <a:gdLst/>
              <a:ahLst/>
              <a:cxnLst/>
              <a:rect l="l" t="t" r="r" b="b"/>
              <a:pathLst>
                <a:path w="10668000" h="9588500">
                  <a:moveTo>
                    <a:pt x="50800" y="0"/>
                  </a:moveTo>
                  <a:lnTo>
                    <a:pt x="10617200" y="0"/>
                  </a:lnTo>
                  <a:cubicBezTo>
                    <a:pt x="10645256" y="0"/>
                    <a:pt x="10668000" y="22744"/>
                    <a:pt x="10668000" y="50800"/>
                  </a:cubicBezTo>
                  <a:lnTo>
                    <a:pt x="10668000" y="9537700"/>
                  </a:lnTo>
                  <a:cubicBezTo>
                    <a:pt x="10668000" y="9565756"/>
                    <a:pt x="10645256" y="9588500"/>
                    <a:pt x="10617200" y="9588500"/>
                  </a:cubicBezTo>
                  <a:lnTo>
                    <a:pt x="50800" y="9588500"/>
                  </a:lnTo>
                  <a:cubicBezTo>
                    <a:pt x="22744" y="9588500"/>
                    <a:pt x="0" y="9565756"/>
                    <a:pt x="0" y="95377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61B3F">
                    <a:alpha val="100000"/>
                  </a:srgbClr>
                </a:gs>
                <a:gs pos="26000">
                  <a:srgbClr val="092A5C">
                    <a:alpha val="100000"/>
                  </a:srgbClr>
                </a:gs>
                <a:gs pos="76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16152" y="3174462"/>
            <a:ext cx="17855695" cy="6243507"/>
            <a:chOff x="-67329" y="105116"/>
            <a:chExt cx="23807593" cy="8324676"/>
          </a:xfrm>
        </p:grpSpPr>
        <p:sp>
          <p:nvSpPr>
            <p:cNvPr id="5" name="Freeform 5"/>
            <p:cNvSpPr/>
            <p:nvPr/>
          </p:nvSpPr>
          <p:spPr>
            <a:xfrm>
              <a:off x="-67329" y="105116"/>
              <a:ext cx="23807593" cy="8324676"/>
            </a:xfrm>
            <a:custGeom>
              <a:avLst/>
              <a:gdLst/>
              <a:ahLst/>
              <a:cxnLst/>
              <a:rect l="l" t="t" r="r" b="b"/>
              <a:pathLst>
                <a:path w="23807593" h="8324676">
                  <a:moveTo>
                    <a:pt x="0" y="362021"/>
                  </a:moveTo>
                  <a:cubicBezTo>
                    <a:pt x="0" y="161997"/>
                    <a:pt x="174340" y="0"/>
                    <a:pt x="389604" y="0"/>
                  </a:cubicBezTo>
                  <a:lnTo>
                    <a:pt x="23417988" y="0"/>
                  </a:lnTo>
                  <a:cubicBezTo>
                    <a:pt x="23633254" y="0"/>
                    <a:pt x="23807593" y="161997"/>
                    <a:pt x="23807593" y="362021"/>
                  </a:cubicBezTo>
                  <a:lnTo>
                    <a:pt x="23807593" y="7962656"/>
                  </a:lnTo>
                  <a:cubicBezTo>
                    <a:pt x="23807593" y="8162551"/>
                    <a:pt x="23633254" y="8324676"/>
                    <a:pt x="23417988" y="8324676"/>
                  </a:cubicBezTo>
                  <a:lnTo>
                    <a:pt x="389604" y="8324676"/>
                  </a:lnTo>
                  <a:cubicBezTo>
                    <a:pt x="174340" y="8324676"/>
                    <a:pt x="0" y="8162679"/>
                    <a:pt x="0" y="7962656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61B3F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0200" y="4019550"/>
            <a:ext cx="2190750" cy="304800"/>
            <a:chOff x="0" y="0"/>
            <a:chExt cx="2921000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21000" cy="406400"/>
            </a:xfrm>
            <a:custGeom>
              <a:avLst/>
              <a:gdLst/>
              <a:ahLst/>
              <a:cxnLst/>
              <a:rect l="l" t="t" r="r" b="b"/>
              <a:pathLst>
                <a:path w="2921000" h="4064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2717800" y="0"/>
                  </a:lnTo>
                  <a:cubicBezTo>
                    <a:pt x="2830068" y="0"/>
                    <a:pt x="2921000" y="90932"/>
                    <a:pt x="2921000" y="203200"/>
                  </a:cubicBezTo>
                  <a:cubicBezTo>
                    <a:pt x="2921000" y="315468"/>
                    <a:pt x="2830068" y="406400"/>
                    <a:pt x="2717800" y="406400"/>
                  </a:cubicBezTo>
                  <a:lnTo>
                    <a:pt x="203200" y="406400"/>
                  </a:lnTo>
                  <a:cubicBezTo>
                    <a:pt x="90932" y="406400"/>
                    <a:pt x="0" y="315468"/>
                    <a:pt x="0" y="203200"/>
                  </a:cubicBezTo>
                  <a:close/>
                </a:path>
              </a:pathLst>
            </a:custGeom>
            <a:solidFill>
              <a:srgbClr val="D8F4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921000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50"/>
                </a:lnSpc>
              </a:pPr>
              <a:r>
                <a:rPr lang="en-US" sz="1125" b="1">
                  <a:solidFill>
                    <a:srgbClr val="061B3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KUNDE &amp; KANALER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115300" y="4033838"/>
            <a:ext cx="2571750" cy="304800"/>
            <a:chOff x="0" y="0"/>
            <a:chExt cx="3429000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29000" cy="406400"/>
            </a:xfrm>
            <a:custGeom>
              <a:avLst/>
              <a:gdLst/>
              <a:ahLst/>
              <a:cxnLst/>
              <a:rect l="l" t="t" r="r" b="b"/>
              <a:pathLst>
                <a:path w="3429000" h="4064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3225800" y="0"/>
                  </a:lnTo>
                  <a:cubicBezTo>
                    <a:pt x="3338068" y="0"/>
                    <a:pt x="3429000" y="90932"/>
                    <a:pt x="3429000" y="203200"/>
                  </a:cubicBezTo>
                  <a:cubicBezTo>
                    <a:pt x="3429000" y="315468"/>
                    <a:pt x="3338068" y="406400"/>
                    <a:pt x="3225800" y="406400"/>
                  </a:cubicBezTo>
                  <a:lnTo>
                    <a:pt x="203200" y="406400"/>
                  </a:lnTo>
                  <a:cubicBezTo>
                    <a:pt x="90932" y="406400"/>
                    <a:pt x="0" y="315468"/>
                    <a:pt x="0" y="203200"/>
                  </a:cubicBezTo>
                  <a:close/>
                </a:path>
              </a:pathLst>
            </a:custGeom>
            <a:solidFill>
              <a:srgbClr val="D8F4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3429000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50"/>
                </a:lnSpc>
              </a:pPr>
              <a:r>
                <a:rPr lang="en-US" sz="1125" b="1">
                  <a:solidFill>
                    <a:srgbClr val="061B3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MEDARBEJDER I RØRET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534900" y="4076700"/>
            <a:ext cx="3238500" cy="304800"/>
            <a:chOff x="0" y="0"/>
            <a:chExt cx="4318000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318000" cy="406400"/>
            </a:xfrm>
            <a:custGeom>
              <a:avLst/>
              <a:gdLst/>
              <a:ahLst/>
              <a:cxnLst/>
              <a:rect l="l" t="t" r="r" b="b"/>
              <a:pathLst>
                <a:path w="4318000" h="4064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4114800" y="0"/>
                  </a:lnTo>
                  <a:cubicBezTo>
                    <a:pt x="4227068" y="0"/>
                    <a:pt x="4318000" y="90932"/>
                    <a:pt x="4318000" y="203200"/>
                  </a:cubicBezTo>
                  <a:cubicBezTo>
                    <a:pt x="4318000" y="315468"/>
                    <a:pt x="4227068" y="406400"/>
                    <a:pt x="4114800" y="406400"/>
                  </a:cubicBezTo>
                  <a:lnTo>
                    <a:pt x="203200" y="406400"/>
                  </a:lnTo>
                  <a:cubicBezTo>
                    <a:pt x="90932" y="406400"/>
                    <a:pt x="0" y="315468"/>
                    <a:pt x="0" y="203200"/>
                  </a:cubicBezTo>
                  <a:close/>
                </a:path>
              </a:pathLst>
            </a:custGeom>
            <a:solidFill>
              <a:srgbClr val="D8F4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4318000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50"/>
                </a:lnSpc>
              </a:pPr>
              <a:r>
                <a:rPr lang="en-US" sz="1125" b="1">
                  <a:solidFill>
                    <a:srgbClr val="061B3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FRAGMENTERET SYSTEMLANDSKAB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247900" y="5524500"/>
            <a:ext cx="1181100" cy="1181100"/>
            <a:chOff x="0" y="0"/>
            <a:chExt cx="1574800" cy="1574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74800" cy="1574800"/>
            </a:xfrm>
            <a:custGeom>
              <a:avLst/>
              <a:gdLst/>
              <a:ahLst/>
              <a:cxnLst/>
              <a:rect l="l" t="t" r="r" b="b"/>
              <a:pathLst>
                <a:path w="1574800" h="1574800">
                  <a:moveTo>
                    <a:pt x="0" y="787400"/>
                  </a:moveTo>
                  <a:cubicBezTo>
                    <a:pt x="0" y="352552"/>
                    <a:pt x="352552" y="0"/>
                    <a:pt x="787400" y="0"/>
                  </a:cubicBezTo>
                  <a:cubicBezTo>
                    <a:pt x="1222248" y="0"/>
                    <a:pt x="1574800" y="352552"/>
                    <a:pt x="1574800" y="787400"/>
                  </a:cubicBezTo>
                  <a:cubicBezTo>
                    <a:pt x="1574800" y="1222248"/>
                    <a:pt x="1222248" y="1574800"/>
                    <a:pt x="787400" y="1574800"/>
                  </a:cubicBezTo>
                  <a:cubicBezTo>
                    <a:pt x="352552" y="1574800"/>
                    <a:pt x="0" y="1222248"/>
                    <a:pt x="0" y="787400"/>
                  </a:cubicBezTo>
                  <a:close/>
                </a:path>
              </a:pathLst>
            </a:custGeom>
            <a:solidFill>
              <a:srgbClr val="D8F4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352675" y="5629275"/>
            <a:ext cx="971550" cy="971550"/>
            <a:chOff x="0" y="0"/>
            <a:chExt cx="1295400" cy="1295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95400" cy="1295400"/>
            </a:xfrm>
            <a:custGeom>
              <a:avLst/>
              <a:gdLst/>
              <a:ahLst/>
              <a:cxnLst/>
              <a:rect l="l" t="t" r="r" b="b"/>
              <a:pathLst>
                <a:path w="1295400" h="1295400">
                  <a:moveTo>
                    <a:pt x="0" y="647700"/>
                  </a:moveTo>
                  <a:cubicBezTo>
                    <a:pt x="0" y="289941"/>
                    <a:pt x="289941" y="0"/>
                    <a:pt x="647700" y="0"/>
                  </a:cubicBezTo>
                  <a:cubicBezTo>
                    <a:pt x="1005459" y="0"/>
                    <a:pt x="1295400" y="289941"/>
                    <a:pt x="1295400" y="647700"/>
                  </a:cubicBezTo>
                  <a:cubicBezTo>
                    <a:pt x="1295400" y="1005459"/>
                    <a:pt x="1005459" y="1295400"/>
                    <a:pt x="647700" y="1295400"/>
                  </a:cubicBezTo>
                  <a:cubicBezTo>
                    <a:pt x="289941" y="1295400"/>
                    <a:pt x="0" y="1005459"/>
                    <a:pt x="0" y="64770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061B3F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646426" y="5381625"/>
            <a:ext cx="190500" cy="190500"/>
            <a:chOff x="0" y="0"/>
            <a:chExt cx="254000" cy="254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cubicBezTo>
                    <a:pt x="197104" y="0"/>
                    <a:pt x="254000" y="56896"/>
                    <a:pt x="254000" y="127000"/>
                  </a:cubicBezTo>
                  <a:cubicBezTo>
                    <a:pt x="254000" y="197104"/>
                    <a:pt x="197104" y="254000"/>
                    <a:pt x="127000" y="254000"/>
                  </a:cubicBezTo>
                  <a:cubicBezTo>
                    <a:pt x="56896" y="254000"/>
                    <a:pt x="0" y="197104"/>
                    <a:pt x="0" y="12700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61B3F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919032" y="5505450"/>
            <a:ext cx="133350" cy="133350"/>
            <a:chOff x="0" y="0"/>
            <a:chExt cx="177800" cy="177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88900"/>
                  </a:moveTo>
                  <a:cubicBezTo>
                    <a:pt x="0" y="39751"/>
                    <a:pt x="39751" y="0"/>
                    <a:pt x="88900" y="0"/>
                  </a:cubicBezTo>
                  <a:cubicBezTo>
                    <a:pt x="138049" y="0"/>
                    <a:pt x="177800" y="39751"/>
                    <a:pt x="177800" y="88900"/>
                  </a:cubicBezTo>
                  <a:cubicBezTo>
                    <a:pt x="177800" y="138049"/>
                    <a:pt x="138049" y="177800"/>
                    <a:pt x="88900" y="177800"/>
                  </a:cubicBezTo>
                  <a:cubicBezTo>
                    <a:pt x="39751" y="177800"/>
                    <a:pt x="0" y="138049"/>
                    <a:pt x="0" y="8890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61B3F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833938" y="4586288"/>
            <a:ext cx="1685925" cy="638175"/>
            <a:chOff x="0" y="0"/>
            <a:chExt cx="2247900" cy="8509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247900" cy="850900"/>
            </a:xfrm>
            <a:custGeom>
              <a:avLst/>
              <a:gdLst/>
              <a:ahLst/>
              <a:cxnLst/>
              <a:rect l="l" t="t" r="r" b="b"/>
              <a:pathLst>
                <a:path w="2247900" h="850900">
                  <a:moveTo>
                    <a:pt x="0" y="154686"/>
                  </a:moveTo>
                  <a:cubicBezTo>
                    <a:pt x="0" y="69215"/>
                    <a:pt x="69215" y="0"/>
                    <a:pt x="154686" y="0"/>
                  </a:cubicBezTo>
                  <a:lnTo>
                    <a:pt x="2093214" y="0"/>
                  </a:lnTo>
                  <a:cubicBezTo>
                    <a:pt x="2178685" y="0"/>
                    <a:pt x="2247900" y="69215"/>
                    <a:pt x="2247900" y="154686"/>
                  </a:cubicBezTo>
                  <a:lnTo>
                    <a:pt x="2247900" y="696214"/>
                  </a:lnTo>
                  <a:cubicBezTo>
                    <a:pt x="2247900" y="781685"/>
                    <a:pt x="2178685" y="850900"/>
                    <a:pt x="2093214" y="850900"/>
                  </a:cubicBezTo>
                  <a:lnTo>
                    <a:pt x="154686" y="850900"/>
                  </a:lnTo>
                  <a:cubicBezTo>
                    <a:pt x="69215" y="850900"/>
                    <a:pt x="0" y="781685"/>
                    <a:pt x="0" y="696214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338F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833938" y="5443538"/>
            <a:ext cx="1685925" cy="638175"/>
            <a:chOff x="0" y="0"/>
            <a:chExt cx="2247900" cy="8509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247900" cy="850900"/>
            </a:xfrm>
            <a:custGeom>
              <a:avLst/>
              <a:gdLst/>
              <a:ahLst/>
              <a:cxnLst/>
              <a:rect l="l" t="t" r="r" b="b"/>
              <a:pathLst>
                <a:path w="2247900" h="850900">
                  <a:moveTo>
                    <a:pt x="0" y="154686"/>
                  </a:moveTo>
                  <a:cubicBezTo>
                    <a:pt x="0" y="69215"/>
                    <a:pt x="69215" y="0"/>
                    <a:pt x="154686" y="0"/>
                  </a:cubicBezTo>
                  <a:lnTo>
                    <a:pt x="2093214" y="0"/>
                  </a:lnTo>
                  <a:cubicBezTo>
                    <a:pt x="2178685" y="0"/>
                    <a:pt x="2247900" y="69215"/>
                    <a:pt x="2247900" y="154686"/>
                  </a:cubicBezTo>
                  <a:lnTo>
                    <a:pt x="2247900" y="696214"/>
                  </a:lnTo>
                  <a:cubicBezTo>
                    <a:pt x="2247900" y="781685"/>
                    <a:pt x="2178685" y="850900"/>
                    <a:pt x="2093214" y="850900"/>
                  </a:cubicBezTo>
                  <a:lnTo>
                    <a:pt x="154686" y="850900"/>
                  </a:lnTo>
                  <a:cubicBezTo>
                    <a:pt x="69215" y="850900"/>
                    <a:pt x="0" y="781685"/>
                    <a:pt x="0" y="696214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3391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833628" y="6301166"/>
            <a:ext cx="1685925" cy="638175"/>
            <a:chOff x="0" y="0"/>
            <a:chExt cx="2247900" cy="8509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247900" cy="850900"/>
            </a:xfrm>
            <a:custGeom>
              <a:avLst/>
              <a:gdLst/>
              <a:ahLst/>
              <a:cxnLst/>
              <a:rect l="l" t="t" r="r" b="b"/>
              <a:pathLst>
                <a:path w="2247900" h="850900">
                  <a:moveTo>
                    <a:pt x="0" y="154686"/>
                  </a:moveTo>
                  <a:cubicBezTo>
                    <a:pt x="0" y="69215"/>
                    <a:pt x="69215" y="0"/>
                    <a:pt x="154686" y="0"/>
                  </a:cubicBezTo>
                  <a:lnTo>
                    <a:pt x="2093214" y="0"/>
                  </a:lnTo>
                  <a:cubicBezTo>
                    <a:pt x="2178685" y="0"/>
                    <a:pt x="2247900" y="69215"/>
                    <a:pt x="2247900" y="154686"/>
                  </a:cubicBezTo>
                  <a:lnTo>
                    <a:pt x="2247900" y="696214"/>
                  </a:lnTo>
                  <a:cubicBezTo>
                    <a:pt x="2247900" y="781685"/>
                    <a:pt x="2178685" y="850900"/>
                    <a:pt x="2093214" y="850900"/>
                  </a:cubicBezTo>
                  <a:lnTo>
                    <a:pt x="154686" y="850900"/>
                  </a:lnTo>
                  <a:cubicBezTo>
                    <a:pt x="69215" y="850900"/>
                    <a:pt x="0" y="781685"/>
                    <a:pt x="0" y="696214"/>
                  </a:cubicBezTo>
                  <a:close/>
                </a:path>
              </a:pathLst>
            </a:custGeom>
            <a:blipFill>
              <a:blip r:embed="rId2"/>
              <a:stretch>
                <a:fillRect t="-149039" b="-149039"/>
              </a:stretch>
            </a:blipFill>
            <a:ln w="28575" cap="sq">
              <a:solidFill>
                <a:srgbClr val="003391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234238" y="4471988"/>
            <a:ext cx="4105275" cy="3533775"/>
            <a:chOff x="0" y="0"/>
            <a:chExt cx="5473700" cy="47117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473700" cy="4711700"/>
            </a:xfrm>
            <a:custGeom>
              <a:avLst/>
              <a:gdLst/>
              <a:ahLst/>
              <a:cxnLst/>
              <a:rect l="l" t="t" r="r" b="b"/>
              <a:pathLst>
                <a:path w="5473700" h="4711700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lnTo>
                    <a:pt x="5168138" y="0"/>
                  </a:lnTo>
                  <a:cubicBezTo>
                    <a:pt x="5336921" y="0"/>
                    <a:pt x="5473700" y="136779"/>
                    <a:pt x="5473700" y="305562"/>
                  </a:cubicBezTo>
                  <a:lnTo>
                    <a:pt x="5473700" y="4406138"/>
                  </a:lnTo>
                  <a:cubicBezTo>
                    <a:pt x="5473700" y="4574921"/>
                    <a:pt x="5336921" y="4711700"/>
                    <a:pt x="5168138" y="4711700"/>
                  </a:cubicBezTo>
                  <a:lnTo>
                    <a:pt x="305562" y="4711700"/>
                  </a:lnTo>
                  <a:cubicBezTo>
                    <a:pt x="136779" y="4711700"/>
                    <a:pt x="0" y="4574921"/>
                    <a:pt x="0" y="4406138"/>
                  </a:cubicBezTo>
                  <a:close/>
                </a:path>
              </a:pathLst>
            </a:custGeom>
            <a:solidFill>
              <a:srgbClr val="F5F8FC"/>
            </a:solidFill>
            <a:ln w="9525" cap="sq">
              <a:solidFill>
                <a:srgbClr val="C9D5E3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667750" y="5162550"/>
            <a:ext cx="1181100" cy="1181100"/>
            <a:chOff x="0" y="0"/>
            <a:chExt cx="1574800" cy="1574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574800" cy="1574800"/>
            </a:xfrm>
            <a:custGeom>
              <a:avLst/>
              <a:gdLst/>
              <a:ahLst/>
              <a:cxnLst/>
              <a:rect l="l" t="t" r="r" b="b"/>
              <a:pathLst>
                <a:path w="1574800" h="1574800">
                  <a:moveTo>
                    <a:pt x="0" y="787400"/>
                  </a:moveTo>
                  <a:cubicBezTo>
                    <a:pt x="0" y="352552"/>
                    <a:pt x="352552" y="0"/>
                    <a:pt x="787400" y="0"/>
                  </a:cubicBezTo>
                  <a:cubicBezTo>
                    <a:pt x="1222248" y="0"/>
                    <a:pt x="1574800" y="352552"/>
                    <a:pt x="1574800" y="787400"/>
                  </a:cubicBezTo>
                  <a:cubicBezTo>
                    <a:pt x="1574800" y="1222248"/>
                    <a:pt x="1222248" y="1574800"/>
                    <a:pt x="787400" y="1574800"/>
                  </a:cubicBezTo>
                  <a:cubicBezTo>
                    <a:pt x="352552" y="1574800"/>
                    <a:pt x="0" y="1222248"/>
                    <a:pt x="0" y="78740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772525" y="5267325"/>
            <a:ext cx="971550" cy="971550"/>
            <a:chOff x="0" y="0"/>
            <a:chExt cx="1295400" cy="12954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295400" cy="1295400"/>
            </a:xfrm>
            <a:custGeom>
              <a:avLst/>
              <a:gdLst/>
              <a:ahLst/>
              <a:cxnLst/>
              <a:rect l="l" t="t" r="r" b="b"/>
              <a:pathLst>
                <a:path w="1295400" h="1295400">
                  <a:moveTo>
                    <a:pt x="0" y="647700"/>
                  </a:moveTo>
                  <a:cubicBezTo>
                    <a:pt x="0" y="289941"/>
                    <a:pt x="289941" y="0"/>
                    <a:pt x="647700" y="0"/>
                  </a:cubicBezTo>
                  <a:cubicBezTo>
                    <a:pt x="1005459" y="0"/>
                    <a:pt x="1295400" y="289941"/>
                    <a:pt x="1295400" y="647700"/>
                  </a:cubicBezTo>
                  <a:cubicBezTo>
                    <a:pt x="1295400" y="1005459"/>
                    <a:pt x="1005459" y="1295400"/>
                    <a:pt x="647700" y="1295400"/>
                  </a:cubicBezTo>
                  <a:cubicBezTo>
                    <a:pt x="289941" y="1295400"/>
                    <a:pt x="0" y="1005459"/>
                    <a:pt x="0" y="64770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061B3F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012906" y="4627518"/>
            <a:ext cx="2571750" cy="323850"/>
            <a:chOff x="0" y="0"/>
            <a:chExt cx="3429000" cy="431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429000" cy="431800"/>
            </a:xfrm>
            <a:custGeom>
              <a:avLst/>
              <a:gdLst/>
              <a:ahLst/>
              <a:cxnLst/>
              <a:rect l="l" t="t" r="r" b="b"/>
              <a:pathLst>
                <a:path w="3429000" h="431800">
                  <a:moveTo>
                    <a:pt x="0" y="215900"/>
                  </a:moveTo>
                  <a:cubicBezTo>
                    <a:pt x="0" y="96647"/>
                    <a:pt x="96647" y="0"/>
                    <a:pt x="215900" y="0"/>
                  </a:cubicBezTo>
                  <a:lnTo>
                    <a:pt x="3213100" y="0"/>
                  </a:lnTo>
                  <a:cubicBezTo>
                    <a:pt x="3332353" y="0"/>
                    <a:pt x="3429000" y="96647"/>
                    <a:pt x="3429000" y="215900"/>
                  </a:cubicBezTo>
                  <a:cubicBezTo>
                    <a:pt x="3429000" y="335153"/>
                    <a:pt x="3332353" y="431800"/>
                    <a:pt x="3213100" y="431800"/>
                  </a:cubicBezTo>
                  <a:lnTo>
                    <a:pt x="215900" y="431800"/>
                  </a:lnTo>
                  <a:cubicBezTo>
                    <a:pt x="96647" y="431800"/>
                    <a:pt x="0" y="335153"/>
                    <a:pt x="0" y="215900"/>
                  </a:cubicBezTo>
                  <a:close/>
                </a:path>
              </a:pathLst>
            </a:custGeom>
            <a:solidFill>
              <a:srgbClr val="061B3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3429000" cy="441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50"/>
                </a:lnSpc>
              </a:pPr>
              <a:r>
                <a:rPr lang="en-US" sz="1125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INDGÅENDE OPKALD · 03:41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634288" y="7100888"/>
            <a:ext cx="1704975" cy="714375"/>
            <a:chOff x="0" y="0"/>
            <a:chExt cx="2273300" cy="9525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273300" cy="952500"/>
            </a:xfrm>
            <a:custGeom>
              <a:avLst/>
              <a:gdLst/>
              <a:ahLst/>
              <a:cxnLst/>
              <a:rect l="l" t="t" r="r" b="b"/>
              <a:pathLst>
                <a:path w="2273300" h="952500">
                  <a:moveTo>
                    <a:pt x="0" y="154432"/>
                  </a:moveTo>
                  <a:cubicBezTo>
                    <a:pt x="0" y="69215"/>
                    <a:pt x="72453" y="0"/>
                    <a:pt x="161657" y="0"/>
                  </a:cubicBezTo>
                  <a:lnTo>
                    <a:pt x="2111643" y="0"/>
                  </a:lnTo>
                  <a:cubicBezTo>
                    <a:pt x="2200847" y="0"/>
                    <a:pt x="2273300" y="69215"/>
                    <a:pt x="2273300" y="154432"/>
                  </a:cubicBezTo>
                  <a:lnTo>
                    <a:pt x="2273300" y="798068"/>
                  </a:lnTo>
                  <a:cubicBezTo>
                    <a:pt x="2273300" y="883285"/>
                    <a:pt x="2200847" y="952500"/>
                    <a:pt x="2111643" y="952500"/>
                  </a:cubicBezTo>
                  <a:lnTo>
                    <a:pt x="161657" y="952500"/>
                  </a:lnTo>
                  <a:cubicBezTo>
                    <a:pt x="72453" y="952500"/>
                    <a:pt x="0" y="883285"/>
                    <a:pt x="0" y="79806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5E3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539288" y="7100888"/>
            <a:ext cx="1438275" cy="714375"/>
            <a:chOff x="0" y="0"/>
            <a:chExt cx="1917700" cy="9525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917700" cy="952500"/>
            </a:xfrm>
            <a:custGeom>
              <a:avLst/>
              <a:gdLst/>
              <a:ahLst/>
              <a:cxnLst/>
              <a:rect l="l" t="t" r="r" b="b"/>
              <a:pathLst>
                <a:path w="1917700" h="952500">
                  <a:moveTo>
                    <a:pt x="0" y="154432"/>
                  </a:moveTo>
                  <a:cubicBezTo>
                    <a:pt x="0" y="69215"/>
                    <a:pt x="69215" y="0"/>
                    <a:pt x="154432" y="0"/>
                  </a:cubicBezTo>
                  <a:lnTo>
                    <a:pt x="1763268" y="0"/>
                  </a:lnTo>
                  <a:cubicBezTo>
                    <a:pt x="1848485" y="0"/>
                    <a:pt x="1917700" y="69215"/>
                    <a:pt x="1917700" y="154432"/>
                  </a:cubicBezTo>
                  <a:lnTo>
                    <a:pt x="1917700" y="798068"/>
                  </a:lnTo>
                  <a:cubicBezTo>
                    <a:pt x="1917700" y="883285"/>
                    <a:pt x="1848485" y="952500"/>
                    <a:pt x="1763268" y="952500"/>
                  </a:cubicBezTo>
                  <a:lnTo>
                    <a:pt x="154432" y="952500"/>
                  </a:lnTo>
                  <a:cubicBezTo>
                    <a:pt x="69215" y="952500"/>
                    <a:pt x="0" y="883285"/>
                    <a:pt x="0" y="79806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5E3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2077700" y="4476750"/>
            <a:ext cx="4324350" cy="3845133"/>
            <a:chOff x="0" y="0"/>
            <a:chExt cx="5765800" cy="512684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765800" cy="5126844"/>
            </a:xfrm>
            <a:custGeom>
              <a:avLst/>
              <a:gdLst/>
              <a:ahLst/>
              <a:cxnLst/>
              <a:rect l="l" t="t" r="r" b="b"/>
              <a:pathLst>
                <a:path w="5765800" h="5126844">
                  <a:moveTo>
                    <a:pt x="0" y="332552"/>
                  </a:moveTo>
                  <a:cubicBezTo>
                    <a:pt x="0" y="148817"/>
                    <a:pt x="136398" y="0"/>
                    <a:pt x="304800" y="0"/>
                  </a:cubicBezTo>
                  <a:lnTo>
                    <a:pt x="5461000" y="0"/>
                  </a:lnTo>
                  <a:cubicBezTo>
                    <a:pt x="5629275" y="0"/>
                    <a:pt x="5765800" y="148817"/>
                    <a:pt x="5765800" y="332552"/>
                  </a:cubicBezTo>
                  <a:lnTo>
                    <a:pt x="5765800" y="4794292"/>
                  </a:lnTo>
                  <a:cubicBezTo>
                    <a:pt x="5765800" y="4977888"/>
                    <a:pt x="5629402" y="5126844"/>
                    <a:pt x="5461000" y="5126844"/>
                  </a:cubicBezTo>
                  <a:lnTo>
                    <a:pt x="304800" y="5126844"/>
                  </a:lnTo>
                  <a:cubicBezTo>
                    <a:pt x="136525" y="5126844"/>
                    <a:pt x="0" y="4978027"/>
                    <a:pt x="0" y="4794292"/>
                  </a:cubicBezTo>
                  <a:close/>
                </a:path>
              </a:pathLst>
            </a:custGeom>
            <a:solidFill>
              <a:srgbClr val="E9F1F8"/>
            </a:solidFill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411075" y="5286375"/>
            <a:ext cx="1676400" cy="895350"/>
            <a:chOff x="0" y="0"/>
            <a:chExt cx="2235200" cy="1193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235200" cy="1193800"/>
            </a:xfrm>
            <a:custGeom>
              <a:avLst/>
              <a:gdLst/>
              <a:ahLst/>
              <a:cxnLst/>
              <a:rect l="l" t="t" r="r" b="b"/>
              <a:pathLst>
                <a:path w="2235200" h="1193800">
                  <a:moveTo>
                    <a:pt x="0" y="155702"/>
                  </a:moveTo>
                  <a:cubicBezTo>
                    <a:pt x="0" y="69723"/>
                    <a:pt x="69723" y="0"/>
                    <a:pt x="155702" y="0"/>
                  </a:cubicBezTo>
                  <a:lnTo>
                    <a:pt x="2079498" y="0"/>
                  </a:lnTo>
                  <a:cubicBezTo>
                    <a:pt x="2165477" y="0"/>
                    <a:pt x="2235200" y="69723"/>
                    <a:pt x="2235200" y="155702"/>
                  </a:cubicBezTo>
                  <a:lnTo>
                    <a:pt x="2235200" y="1038098"/>
                  </a:lnTo>
                  <a:cubicBezTo>
                    <a:pt x="2235200" y="1124077"/>
                    <a:pt x="2165477" y="1193800"/>
                    <a:pt x="2079498" y="1193800"/>
                  </a:cubicBezTo>
                  <a:lnTo>
                    <a:pt x="155702" y="1193800"/>
                  </a:lnTo>
                  <a:cubicBezTo>
                    <a:pt x="69723" y="1193800"/>
                    <a:pt x="0" y="1124077"/>
                    <a:pt x="0" y="103809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61B3F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4297025" y="5286375"/>
            <a:ext cx="1676400" cy="895350"/>
            <a:chOff x="0" y="0"/>
            <a:chExt cx="2235200" cy="1193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235200" cy="1193800"/>
            </a:xfrm>
            <a:custGeom>
              <a:avLst/>
              <a:gdLst/>
              <a:ahLst/>
              <a:cxnLst/>
              <a:rect l="l" t="t" r="r" b="b"/>
              <a:pathLst>
                <a:path w="2235200" h="1193800">
                  <a:moveTo>
                    <a:pt x="0" y="155702"/>
                  </a:moveTo>
                  <a:cubicBezTo>
                    <a:pt x="0" y="69723"/>
                    <a:pt x="69723" y="0"/>
                    <a:pt x="155702" y="0"/>
                  </a:cubicBezTo>
                  <a:lnTo>
                    <a:pt x="2079498" y="0"/>
                  </a:lnTo>
                  <a:cubicBezTo>
                    <a:pt x="2165477" y="0"/>
                    <a:pt x="2235200" y="69723"/>
                    <a:pt x="2235200" y="155702"/>
                  </a:cubicBezTo>
                  <a:lnTo>
                    <a:pt x="2235200" y="1038098"/>
                  </a:lnTo>
                  <a:cubicBezTo>
                    <a:pt x="2235200" y="1124077"/>
                    <a:pt x="2165477" y="1193800"/>
                    <a:pt x="2079498" y="1193800"/>
                  </a:cubicBezTo>
                  <a:lnTo>
                    <a:pt x="155702" y="1193800"/>
                  </a:lnTo>
                  <a:cubicBezTo>
                    <a:pt x="69723" y="1193800"/>
                    <a:pt x="0" y="1124077"/>
                    <a:pt x="0" y="103809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61B3F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411075" y="6391275"/>
            <a:ext cx="1676400" cy="895350"/>
            <a:chOff x="0" y="0"/>
            <a:chExt cx="2235200" cy="1193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235200" cy="1193800"/>
            </a:xfrm>
            <a:custGeom>
              <a:avLst/>
              <a:gdLst/>
              <a:ahLst/>
              <a:cxnLst/>
              <a:rect l="l" t="t" r="r" b="b"/>
              <a:pathLst>
                <a:path w="2235200" h="1193800">
                  <a:moveTo>
                    <a:pt x="0" y="155702"/>
                  </a:moveTo>
                  <a:cubicBezTo>
                    <a:pt x="0" y="69723"/>
                    <a:pt x="69723" y="0"/>
                    <a:pt x="155702" y="0"/>
                  </a:cubicBezTo>
                  <a:lnTo>
                    <a:pt x="2079498" y="0"/>
                  </a:lnTo>
                  <a:cubicBezTo>
                    <a:pt x="2165477" y="0"/>
                    <a:pt x="2235200" y="69723"/>
                    <a:pt x="2235200" y="155702"/>
                  </a:cubicBezTo>
                  <a:lnTo>
                    <a:pt x="2235200" y="1038098"/>
                  </a:lnTo>
                  <a:cubicBezTo>
                    <a:pt x="2235200" y="1124077"/>
                    <a:pt x="2165477" y="1193800"/>
                    <a:pt x="2079498" y="1193800"/>
                  </a:cubicBezTo>
                  <a:lnTo>
                    <a:pt x="155702" y="1193800"/>
                  </a:lnTo>
                  <a:cubicBezTo>
                    <a:pt x="69723" y="1193800"/>
                    <a:pt x="0" y="1124077"/>
                    <a:pt x="0" y="103809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61B3F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4297025" y="6391275"/>
            <a:ext cx="1676400" cy="895350"/>
            <a:chOff x="0" y="0"/>
            <a:chExt cx="2235200" cy="11938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235200" cy="1193800"/>
            </a:xfrm>
            <a:custGeom>
              <a:avLst/>
              <a:gdLst/>
              <a:ahLst/>
              <a:cxnLst/>
              <a:rect l="l" t="t" r="r" b="b"/>
              <a:pathLst>
                <a:path w="2235200" h="1193800">
                  <a:moveTo>
                    <a:pt x="0" y="155702"/>
                  </a:moveTo>
                  <a:cubicBezTo>
                    <a:pt x="0" y="69723"/>
                    <a:pt x="69723" y="0"/>
                    <a:pt x="155702" y="0"/>
                  </a:cubicBezTo>
                  <a:lnTo>
                    <a:pt x="2079498" y="0"/>
                  </a:lnTo>
                  <a:cubicBezTo>
                    <a:pt x="2165477" y="0"/>
                    <a:pt x="2235200" y="69723"/>
                    <a:pt x="2235200" y="155702"/>
                  </a:cubicBezTo>
                  <a:lnTo>
                    <a:pt x="2235200" y="1038098"/>
                  </a:lnTo>
                  <a:cubicBezTo>
                    <a:pt x="2235200" y="1124077"/>
                    <a:pt x="2165477" y="1193800"/>
                    <a:pt x="2079498" y="1193800"/>
                  </a:cubicBezTo>
                  <a:lnTo>
                    <a:pt x="155702" y="1193800"/>
                  </a:lnTo>
                  <a:cubicBezTo>
                    <a:pt x="69723" y="1193800"/>
                    <a:pt x="0" y="1124077"/>
                    <a:pt x="0" y="103809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61B3F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437137" y="7462838"/>
            <a:ext cx="1704975" cy="676275"/>
            <a:chOff x="0" y="0"/>
            <a:chExt cx="2273300" cy="9017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273300" cy="901700"/>
            </a:xfrm>
            <a:custGeom>
              <a:avLst/>
              <a:gdLst/>
              <a:ahLst/>
              <a:cxnLst/>
              <a:rect l="l" t="t" r="r" b="b"/>
              <a:pathLst>
                <a:path w="2273300" h="901700">
                  <a:moveTo>
                    <a:pt x="0" y="154559"/>
                  </a:moveTo>
                  <a:cubicBezTo>
                    <a:pt x="0" y="69215"/>
                    <a:pt x="69215" y="0"/>
                    <a:pt x="154559" y="0"/>
                  </a:cubicBezTo>
                  <a:lnTo>
                    <a:pt x="2118741" y="0"/>
                  </a:lnTo>
                  <a:cubicBezTo>
                    <a:pt x="2204085" y="0"/>
                    <a:pt x="2273300" y="69215"/>
                    <a:pt x="2273300" y="154559"/>
                  </a:cubicBezTo>
                  <a:lnTo>
                    <a:pt x="2273300" y="747141"/>
                  </a:lnTo>
                  <a:cubicBezTo>
                    <a:pt x="2273300" y="832485"/>
                    <a:pt x="2204085" y="901700"/>
                    <a:pt x="2118741" y="901700"/>
                  </a:cubicBezTo>
                  <a:lnTo>
                    <a:pt x="154559" y="901700"/>
                  </a:lnTo>
                  <a:cubicBezTo>
                    <a:pt x="69215" y="901700"/>
                    <a:pt x="0" y="832485"/>
                    <a:pt x="0" y="747141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5E3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4282738" y="7458075"/>
            <a:ext cx="1704975" cy="676275"/>
            <a:chOff x="0" y="0"/>
            <a:chExt cx="2273300" cy="9017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273300" cy="901700"/>
            </a:xfrm>
            <a:custGeom>
              <a:avLst/>
              <a:gdLst/>
              <a:ahLst/>
              <a:cxnLst/>
              <a:rect l="l" t="t" r="r" b="b"/>
              <a:pathLst>
                <a:path w="2273300" h="901700">
                  <a:moveTo>
                    <a:pt x="0" y="154559"/>
                  </a:moveTo>
                  <a:cubicBezTo>
                    <a:pt x="0" y="69215"/>
                    <a:pt x="69215" y="0"/>
                    <a:pt x="154559" y="0"/>
                  </a:cubicBezTo>
                  <a:lnTo>
                    <a:pt x="2118741" y="0"/>
                  </a:lnTo>
                  <a:cubicBezTo>
                    <a:pt x="2204085" y="0"/>
                    <a:pt x="2273300" y="69215"/>
                    <a:pt x="2273300" y="154559"/>
                  </a:cubicBezTo>
                  <a:lnTo>
                    <a:pt x="2273300" y="747141"/>
                  </a:lnTo>
                  <a:cubicBezTo>
                    <a:pt x="2273300" y="832485"/>
                    <a:pt x="2204085" y="901700"/>
                    <a:pt x="2118741" y="901700"/>
                  </a:cubicBezTo>
                  <a:lnTo>
                    <a:pt x="154559" y="901700"/>
                  </a:lnTo>
                  <a:cubicBezTo>
                    <a:pt x="69215" y="901700"/>
                    <a:pt x="0" y="832485"/>
                    <a:pt x="0" y="747141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5E3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466850" y="8572500"/>
            <a:ext cx="15563850" cy="590550"/>
            <a:chOff x="0" y="0"/>
            <a:chExt cx="20751800" cy="7874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0751800" cy="787400"/>
            </a:xfrm>
            <a:custGeom>
              <a:avLst/>
              <a:gdLst/>
              <a:ahLst/>
              <a:cxnLst/>
              <a:rect l="l" t="t" r="r" b="b"/>
              <a:pathLst>
                <a:path w="20751800" h="7874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0599400" y="0"/>
                  </a:lnTo>
                  <a:cubicBezTo>
                    <a:pt x="20683601" y="0"/>
                    <a:pt x="20751800" y="68199"/>
                    <a:pt x="20751800" y="152400"/>
                  </a:cubicBezTo>
                  <a:lnTo>
                    <a:pt x="20751800" y="635000"/>
                  </a:lnTo>
                  <a:cubicBezTo>
                    <a:pt x="20751800" y="719201"/>
                    <a:pt x="20683601" y="787400"/>
                    <a:pt x="20599400" y="787400"/>
                  </a:cubicBezTo>
                  <a:lnTo>
                    <a:pt x="152400" y="787400"/>
                  </a:lnTo>
                  <a:cubicBezTo>
                    <a:pt x="68199" y="787400"/>
                    <a:pt x="0" y="719201"/>
                    <a:pt x="0" y="635000"/>
                  </a:cubicBezTo>
                  <a:close/>
                </a:path>
              </a:pathLst>
            </a:custGeom>
            <a:solidFill>
              <a:srgbClr val="061B3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4813860" y="7587041"/>
            <a:ext cx="1552766" cy="681038"/>
            <a:chOff x="0" y="0"/>
            <a:chExt cx="2171700" cy="9525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171700" cy="952500"/>
            </a:xfrm>
            <a:custGeom>
              <a:avLst/>
              <a:gdLst/>
              <a:ahLst/>
              <a:cxnLst/>
              <a:rect l="l" t="t" r="r" b="b"/>
              <a:pathLst>
                <a:path w="2171700" h="952500">
                  <a:moveTo>
                    <a:pt x="0" y="154432"/>
                  </a:moveTo>
                  <a:cubicBezTo>
                    <a:pt x="0" y="69215"/>
                    <a:pt x="69215" y="0"/>
                    <a:pt x="154432" y="0"/>
                  </a:cubicBezTo>
                  <a:lnTo>
                    <a:pt x="2017268" y="0"/>
                  </a:lnTo>
                  <a:cubicBezTo>
                    <a:pt x="2102485" y="0"/>
                    <a:pt x="2171700" y="69215"/>
                    <a:pt x="2171700" y="154432"/>
                  </a:cubicBezTo>
                  <a:lnTo>
                    <a:pt x="2171700" y="798068"/>
                  </a:lnTo>
                  <a:cubicBezTo>
                    <a:pt x="2171700" y="883285"/>
                    <a:pt x="2102485" y="952500"/>
                    <a:pt x="2017268" y="952500"/>
                  </a:cubicBezTo>
                  <a:lnTo>
                    <a:pt x="154432" y="952500"/>
                  </a:lnTo>
                  <a:cubicBezTo>
                    <a:pt x="69215" y="952500"/>
                    <a:pt x="0" y="883285"/>
                    <a:pt x="0" y="79806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5E3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1990680" y="3255127"/>
            <a:ext cx="1666875" cy="731086"/>
            <a:chOff x="0" y="0"/>
            <a:chExt cx="2171700" cy="9525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171700" cy="952500"/>
            </a:xfrm>
            <a:custGeom>
              <a:avLst/>
              <a:gdLst/>
              <a:ahLst/>
              <a:cxnLst/>
              <a:rect l="l" t="t" r="r" b="b"/>
              <a:pathLst>
                <a:path w="2171700" h="952500">
                  <a:moveTo>
                    <a:pt x="0" y="154432"/>
                  </a:moveTo>
                  <a:cubicBezTo>
                    <a:pt x="0" y="69215"/>
                    <a:pt x="69215" y="0"/>
                    <a:pt x="154432" y="0"/>
                  </a:cubicBezTo>
                  <a:lnTo>
                    <a:pt x="2017268" y="0"/>
                  </a:lnTo>
                  <a:cubicBezTo>
                    <a:pt x="2102485" y="0"/>
                    <a:pt x="2171700" y="69215"/>
                    <a:pt x="2171700" y="154432"/>
                  </a:cubicBezTo>
                  <a:lnTo>
                    <a:pt x="2171700" y="798068"/>
                  </a:lnTo>
                  <a:cubicBezTo>
                    <a:pt x="2171700" y="883285"/>
                    <a:pt x="2102485" y="952500"/>
                    <a:pt x="2017268" y="952500"/>
                  </a:cubicBezTo>
                  <a:lnTo>
                    <a:pt x="154432" y="952500"/>
                  </a:lnTo>
                  <a:cubicBezTo>
                    <a:pt x="69215" y="952500"/>
                    <a:pt x="0" y="883285"/>
                    <a:pt x="0" y="79806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5E3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70" name="Freeform 70"/>
          <p:cNvSpPr/>
          <p:nvPr/>
        </p:nvSpPr>
        <p:spPr>
          <a:xfrm>
            <a:off x="876300" y="9476345"/>
            <a:ext cx="456796" cy="182005"/>
          </a:xfrm>
          <a:custGeom>
            <a:avLst/>
            <a:gdLst/>
            <a:ahLst/>
            <a:cxnLst/>
            <a:rect l="l" t="t" r="r" b="b"/>
            <a:pathLst>
              <a:path w="456796" h="182005">
                <a:moveTo>
                  <a:pt x="0" y="0"/>
                </a:moveTo>
                <a:lnTo>
                  <a:pt x="456796" y="0"/>
                </a:lnTo>
                <a:lnTo>
                  <a:pt x="456796" y="182005"/>
                </a:lnTo>
                <a:lnTo>
                  <a:pt x="0" y="1820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71" name="Freeform 71"/>
          <p:cNvSpPr/>
          <p:nvPr/>
        </p:nvSpPr>
        <p:spPr>
          <a:xfrm>
            <a:off x="1961211" y="4415920"/>
            <a:ext cx="1829739" cy="978910"/>
          </a:xfrm>
          <a:custGeom>
            <a:avLst/>
            <a:gdLst/>
            <a:ahLst/>
            <a:cxnLst/>
            <a:rect l="l" t="t" r="r" b="b"/>
            <a:pathLst>
              <a:path w="1829739" h="978910">
                <a:moveTo>
                  <a:pt x="0" y="0"/>
                </a:moveTo>
                <a:lnTo>
                  <a:pt x="1829739" y="0"/>
                </a:lnTo>
                <a:lnTo>
                  <a:pt x="1829739" y="978910"/>
                </a:lnTo>
                <a:lnTo>
                  <a:pt x="0" y="9789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72" name="TextBox 72"/>
          <p:cNvSpPr txBox="1"/>
          <p:nvPr/>
        </p:nvSpPr>
        <p:spPr>
          <a:xfrm>
            <a:off x="8229600" y="6381750"/>
            <a:ext cx="205740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sz="1875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Mikkel</a:t>
            </a:r>
          </a:p>
        </p:txBody>
      </p:sp>
      <p:sp>
        <p:nvSpPr>
          <p:cNvPr id="73" name="TextBox 73"/>
          <p:cNvSpPr txBox="1"/>
          <p:nvPr/>
        </p:nvSpPr>
        <p:spPr>
          <a:xfrm rot="681265">
            <a:off x="2993663" y="6573101"/>
            <a:ext cx="2019300" cy="236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63"/>
              </a:lnSpc>
              <a:spcBef>
                <a:spcPct val="0"/>
              </a:spcBef>
            </a:pPr>
            <a:r>
              <a:rPr lang="en-US" sz="1399" u="none" strike="noStrike">
                <a:solidFill>
                  <a:srgbClr val="667386"/>
                </a:solidFill>
                <a:latin typeface="Arial"/>
                <a:ea typeface="Arial"/>
                <a:cs typeface="Arial"/>
                <a:sym typeface="Arial"/>
              </a:rPr>
              <a:t>søges manuelt</a:t>
            </a:r>
          </a:p>
        </p:txBody>
      </p:sp>
      <p:grpSp>
        <p:nvGrpSpPr>
          <p:cNvPr id="74" name="Group 74"/>
          <p:cNvGrpSpPr/>
          <p:nvPr/>
        </p:nvGrpSpPr>
        <p:grpSpPr>
          <a:xfrm>
            <a:off x="2410682" y="5695950"/>
            <a:ext cx="852488" cy="852488"/>
            <a:chOff x="0" y="0"/>
            <a:chExt cx="4241800" cy="424180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241800" cy="4241800"/>
            </a:xfrm>
            <a:custGeom>
              <a:avLst/>
              <a:gdLst/>
              <a:ahLst/>
              <a:cxnLst/>
              <a:rect l="l" t="t" r="r" b="b"/>
              <a:pathLst>
                <a:path w="4241800" h="4241800">
                  <a:moveTo>
                    <a:pt x="0" y="2120900"/>
                  </a:moveTo>
                  <a:cubicBezTo>
                    <a:pt x="0" y="949579"/>
                    <a:pt x="949579" y="0"/>
                    <a:pt x="2120900" y="0"/>
                  </a:cubicBezTo>
                  <a:cubicBezTo>
                    <a:pt x="3292221" y="0"/>
                    <a:pt x="4241800" y="949579"/>
                    <a:pt x="4241800" y="2120900"/>
                  </a:cubicBezTo>
                  <a:cubicBezTo>
                    <a:pt x="4241800" y="3292221"/>
                    <a:pt x="3292221" y="4241800"/>
                    <a:pt x="2120900" y="4241800"/>
                  </a:cubicBezTo>
                  <a:cubicBezTo>
                    <a:pt x="949579" y="4241800"/>
                    <a:pt x="0" y="3292221"/>
                    <a:pt x="0" y="212090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8857671" y="5347708"/>
            <a:ext cx="810783" cy="810783"/>
            <a:chOff x="0" y="0"/>
            <a:chExt cx="3835400" cy="383540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3835400" cy="3835400"/>
            </a:xfrm>
            <a:custGeom>
              <a:avLst/>
              <a:gdLst/>
              <a:ahLst/>
              <a:cxnLst/>
              <a:rect l="l" t="t" r="r" b="b"/>
              <a:pathLst>
                <a:path w="3835400" h="3835400">
                  <a:moveTo>
                    <a:pt x="0" y="0"/>
                  </a:moveTo>
                  <a:lnTo>
                    <a:pt x="3835400" y="0"/>
                  </a:lnTo>
                  <a:lnTo>
                    <a:pt x="3835400" y="3835400"/>
                  </a:lnTo>
                  <a:lnTo>
                    <a:pt x="0" y="383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78" name="Freeform 78"/>
          <p:cNvSpPr/>
          <p:nvPr/>
        </p:nvSpPr>
        <p:spPr>
          <a:xfrm>
            <a:off x="10020300" y="4856934"/>
            <a:ext cx="1783424" cy="954132"/>
          </a:xfrm>
          <a:custGeom>
            <a:avLst/>
            <a:gdLst/>
            <a:ahLst/>
            <a:cxnLst/>
            <a:rect l="l" t="t" r="r" b="b"/>
            <a:pathLst>
              <a:path w="1783424" h="954132">
                <a:moveTo>
                  <a:pt x="0" y="0"/>
                </a:moveTo>
                <a:lnTo>
                  <a:pt x="1783424" y="0"/>
                </a:lnTo>
                <a:lnTo>
                  <a:pt x="1783424" y="954132"/>
                </a:lnTo>
                <a:lnTo>
                  <a:pt x="0" y="9541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79" name="TextBox 79"/>
          <p:cNvSpPr txBox="1"/>
          <p:nvPr/>
        </p:nvSpPr>
        <p:spPr>
          <a:xfrm>
            <a:off x="10010775" y="5186077"/>
            <a:ext cx="1692250" cy="372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0"/>
              </a:lnSpc>
            </a:pPr>
            <a:r>
              <a:rPr lang="en-US" sz="1175" b="1" i="1">
                <a:solidFill>
                  <a:srgbClr val="061B3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“Hvilket system viser årsagen?”</a:t>
            </a:r>
          </a:p>
        </p:txBody>
      </p:sp>
      <p:grpSp>
        <p:nvGrpSpPr>
          <p:cNvPr id="80" name="Group 80"/>
          <p:cNvGrpSpPr/>
          <p:nvPr/>
        </p:nvGrpSpPr>
        <p:grpSpPr>
          <a:xfrm>
            <a:off x="9906000" y="5491162"/>
            <a:ext cx="190500" cy="190500"/>
            <a:chOff x="0" y="0"/>
            <a:chExt cx="254000" cy="25400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cubicBezTo>
                    <a:pt x="197104" y="0"/>
                    <a:pt x="254000" y="56896"/>
                    <a:pt x="254000" y="127000"/>
                  </a:cubicBezTo>
                  <a:cubicBezTo>
                    <a:pt x="254000" y="197104"/>
                    <a:pt x="197104" y="254000"/>
                    <a:pt x="127000" y="254000"/>
                  </a:cubicBezTo>
                  <a:cubicBezTo>
                    <a:pt x="56896" y="254000"/>
                    <a:pt x="0" y="197104"/>
                    <a:pt x="0" y="12700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61B3F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9782175" y="5629275"/>
            <a:ext cx="133350" cy="133350"/>
            <a:chOff x="0" y="0"/>
            <a:chExt cx="177800" cy="1778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88900"/>
                  </a:moveTo>
                  <a:cubicBezTo>
                    <a:pt x="0" y="39751"/>
                    <a:pt x="39751" y="0"/>
                    <a:pt x="88900" y="0"/>
                  </a:cubicBezTo>
                  <a:cubicBezTo>
                    <a:pt x="138049" y="0"/>
                    <a:pt x="177800" y="39751"/>
                    <a:pt x="177800" y="88900"/>
                  </a:cubicBezTo>
                  <a:cubicBezTo>
                    <a:pt x="177800" y="138049"/>
                    <a:pt x="138049" y="177800"/>
                    <a:pt x="88900" y="177800"/>
                  </a:cubicBezTo>
                  <a:cubicBezTo>
                    <a:pt x="39751" y="177800"/>
                    <a:pt x="0" y="138049"/>
                    <a:pt x="0" y="8890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61B3F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84" name="AutoShape 84"/>
          <p:cNvSpPr/>
          <p:nvPr/>
        </p:nvSpPr>
        <p:spPr>
          <a:xfrm>
            <a:off x="3382760" y="6343650"/>
            <a:ext cx="1450867" cy="276604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85" name="AutoShape 85"/>
          <p:cNvSpPr/>
          <p:nvPr/>
        </p:nvSpPr>
        <p:spPr>
          <a:xfrm flipV="1">
            <a:off x="3467720" y="5524500"/>
            <a:ext cx="1028080" cy="5143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da-DK"/>
          </a:p>
        </p:txBody>
      </p:sp>
      <p:sp>
        <p:nvSpPr>
          <p:cNvPr id="86" name="TextBox 86"/>
          <p:cNvSpPr txBox="1"/>
          <p:nvPr/>
        </p:nvSpPr>
        <p:spPr>
          <a:xfrm>
            <a:off x="1466850" y="3495675"/>
            <a:ext cx="5905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6"/>
              </a:lnSpc>
            </a:pPr>
            <a:r>
              <a:rPr lang="en-US" sz="1275" b="1">
                <a:solidFill>
                  <a:srgbClr val="667386"/>
                </a:solidFill>
                <a:latin typeface="Arial Bold"/>
                <a:ea typeface="Arial Bold"/>
                <a:cs typeface="Arial Bold"/>
                <a:sym typeface="Arial Bold"/>
              </a:rPr>
              <a:t>COMPANY X CUSTOMER SERVICE CENTRE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876300" y="2724150"/>
            <a:ext cx="1352550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650">
                <a:solidFill>
                  <a:srgbClr val="092A5C"/>
                </a:solidFill>
                <a:latin typeface="Arial"/>
                <a:ea typeface="Arial"/>
                <a:cs typeface="Arial"/>
                <a:sym typeface="Arial"/>
              </a:rPr>
              <a:t>Data findes i Company X, men forklaringen opstår først, når Mikkel manuelt kobler kunde, faktura, forbrug, betaling og historik.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809750" y="6743700"/>
            <a:ext cx="205740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sz="1875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Maria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562100" y="7200900"/>
            <a:ext cx="2552700" cy="204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5"/>
              </a:lnSpc>
            </a:pPr>
            <a:r>
              <a:rPr lang="en-US" sz="1200">
                <a:solidFill>
                  <a:srgbClr val="667386"/>
                </a:solidFill>
                <a:latin typeface="Arial"/>
                <a:ea typeface="Arial"/>
                <a:cs typeface="Arial"/>
                <a:sym typeface="Arial"/>
              </a:rPr>
              <a:t>Vil forstå regningen uden ventetid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828800" y="4743450"/>
            <a:ext cx="2057400" cy="367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8"/>
              </a:lnSpc>
            </a:pPr>
            <a:r>
              <a:rPr lang="en-US" sz="1125" b="1" i="1">
                <a:solidFill>
                  <a:srgbClr val="061B3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“Hvorfor er min regning højere end normalt?”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953000" y="4752975"/>
            <a:ext cx="1447800" cy="209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2"/>
              </a:lnSpc>
            </a:pPr>
            <a:r>
              <a:rPr lang="en-US" sz="120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Telefonkø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953000" y="5610225"/>
            <a:ext cx="144780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2"/>
              </a:lnSpc>
            </a:pPr>
            <a:r>
              <a:rPr lang="en-US" sz="120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Fakturaformular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953000" y="6467475"/>
            <a:ext cx="1447800" cy="209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2"/>
              </a:lnSpc>
            </a:pPr>
            <a:r>
              <a:rPr lang="en-US" sz="120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Selvbetjening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7981950" y="6696075"/>
            <a:ext cx="2552700" cy="204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5"/>
              </a:lnSpc>
            </a:pPr>
            <a:r>
              <a:rPr lang="en-US" sz="1200">
                <a:solidFill>
                  <a:srgbClr val="667386"/>
                </a:solidFill>
                <a:latin typeface="Arial"/>
                <a:ea typeface="Arial"/>
                <a:cs typeface="Arial"/>
                <a:sym typeface="Arial"/>
              </a:rPr>
              <a:t>Billing Support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7991475" y="7124700"/>
            <a:ext cx="125730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0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Vurdering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7706400" y="7343775"/>
            <a:ext cx="1592381" cy="400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11"/>
              </a:lnSpc>
              <a:spcBef>
                <a:spcPct val="0"/>
              </a:spcBef>
            </a:pPr>
            <a:r>
              <a:rPr lang="en-US" sz="1199" u="none" strike="noStrike">
                <a:solidFill>
                  <a:srgbClr val="667386"/>
                </a:solidFill>
                <a:latin typeface="Arial"/>
                <a:ea typeface="Arial"/>
                <a:cs typeface="Arial"/>
                <a:sym typeface="Arial"/>
              </a:rPr>
              <a:t>Samler forklaring mens kunden venter.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9744075" y="7134225"/>
            <a:ext cx="106680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0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Efterarbejde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9725025" y="7343775"/>
            <a:ext cx="1131875" cy="400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11"/>
              </a:lnSpc>
              <a:spcBef>
                <a:spcPct val="0"/>
              </a:spcBef>
            </a:pPr>
            <a:r>
              <a:rPr lang="en-US" sz="1199" u="none" strike="noStrike">
                <a:solidFill>
                  <a:srgbClr val="667386"/>
                </a:solidFill>
                <a:latin typeface="Arial"/>
                <a:ea typeface="Arial"/>
                <a:cs typeface="Arial"/>
                <a:sym typeface="Arial"/>
              </a:rPr>
              <a:t>Notat skrives bagefter.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2601575" y="4610100"/>
            <a:ext cx="327660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1"/>
              </a:lnSpc>
            </a:pPr>
            <a:r>
              <a:rPr lang="en-US" sz="2025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Seks opslag for ét svar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2575249" y="5486400"/>
            <a:ext cx="1352550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5"/>
              </a:lnSpc>
            </a:pPr>
            <a:r>
              <a:rPr lang="en-US" sz="1425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CRM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2575249" y="5786247"/>
            <a:ext cx="1428750" cy="209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lang="en-US" sz="1199">
                <a:solidFill>
                  <a:srgbClr val="667386"/>
                </a:solidFill>
                <a:latin typeface="Arial"/>
                <a:ea typeface="Arial"/>
                <a:cs typeface="Arial"/>
                <a:sym typeface="Arial"/>
              </a:rPr>
              <a:t>kontakt og samtykke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4473238" y="5505450"/>
            <a:ext cx="1352550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5"/>
              </a:lnSpc>
            </a:pPr>
            <a:r>
              <a:rPr lang="en-US" sz="1425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Faktura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4449425" y="5819775"/>
            <a:ext cx="1428750" cy="209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lang="en-US" sz="1199">
                <a:solidFill>
                  <a:srgbClr val="667386"/>
                </a:solidFill>
                <a:latin typeface="Arial"/>
                <a:ea typeface="Arial"/>
                <a:cs typeface="Arial"/>
                <a:sym typeface="Arial"/>
              </a:rPr>
              <a:t>linjer og gebyrer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2573000" y="6581775"/>
            <a:ext cx="1352550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5"/>
              </a:lnSpc>
            </a:pPr>
            <a:r>
              <a:rPr lang="en-US" sz="1425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Forbrug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2534900" y="6896100"/>
            <a:ext cx="1428750" cy="209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lang="en-US" sz="1199">
                <a:solidFill>
                  <a:srgbClr val="667386"/>
                </a:solidFill>
                <a:latin typeface="Arial"/>
                <a:ea typeface="Arial"/>
                <a:cs typeface="Arial"/>
                <a:sym typeface="Arial"/>
              </a:rPr>
              <a:t>data og roaming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4497050" y="6581775"/>
            <a:ext cx="1352550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5"/>
              </a:lnSpc>
            </a:pPr>
            <a:r>
              <a:rPr lang="en-US" sz="1425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Betaling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4449425" y="6877050"/>
            <a:ext cx="1428750" cy="209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lang="en-US" sz="1199">
                <a:solidFill>
                  <a:srgbClr val="667386"/>
                </a:solidFill>
                <a:latin typeface="Arial"/>
                <a:ea typeface="Arial"/>
                <a:cs typeface="Arial"/>
                <a:sym typeface="Arial"/>
              </a:rPr>
              <a:t>rykker og status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2622874" y="7548563"/>
            <a:ext cx="1333500" cy="209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0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Produktregler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2451424" y="7810309"/>
            <a:ext cx="1690688" cy="209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11"/>
              </a:lnSpc>
              <a:spcBef>
                <a:spcPct val="0"/>
              </a:spcBef>
            </a:pPr>
            <a:r>
              <a:rPr lang="en-US" sz="1199" u="none" strike="noStrike">
                <a:solidFill>
                  <a:srgbClr val="667386"/>
                </a:solidFill>
                <a:latin typeface="Arial"/>
                <a:ea typeface="Arial"/>
                <a:cs typeface="Arial"/>
                <a:sym typeface="Arial"/>
              </a:rPr>
              <a:t>Rabatter ligger separat.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4497050" y="7519263"/>
            <a:ext cx="1333500" cy="209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2"/>
              </a:lnSpc>
            </a:pPr>
            <a:r>
              <a:rPr lang="en-US" sz="120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Historik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4308931" y="7700619"/>
            <a:ext cx="1681162" cy="400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11"/>
              </a:lnSpc>
              <a:spcBef>
                <a:spcPct val="0"/>
              </a:spcBef>
            </a:pPr>
            <a:r>
              <a:rPr lang="en-US" sz="1199" u="none" strike="noStrike">
                <a:solidFill>
                  <a:srgbClr val="667386"/>
                </a:solidFill>
                <a:latin typeface="Arial"/>
                <a:ea typeface="Arial"/>
                <a:cs typeface="Arial"/>
                <a:sym typeface="Arial"/>
              </a:rPr>
              <a:t>Gamle svar i gamle sager.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7088415" y="4943856"/>
            <a:ext cx="1482042" cy="236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63"/>
              </a:lnSpc>
              <a:spcBef>
                <a:spcPct val="0"/>
              </a:spcBef>
            </a:pPr>
            <a:r>
              <a:rPr lang="en-US" sz="1399" u="none" strike="noStrike">
                <a:solidFill>
                  <a:srgbClr val="667386"/>
                </a:solidFill>
                <a:latin typeface="Arial"/>
                <a:ea typeface="Arial"/>
                <a:cs typeface="Arial"/>
                <a:sym typeface="Arial"/>
              </a:rPr>
              <a:t>venter i kø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7060069" y="5629846"/>
            <a:ext cx="1862813" cy="236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63"/>
              </a:lnSpc>
              <a:spcBef>
                <a:spcPct val="0"/>
              </a:spcBef>
            </a:pPr>
            <a:r>
              <a:rPr lang="en-US" sz="1399" u="none" strike="noStrike">
                <a:solidFill>
                  <a:srgbClr val="667386"/>
                </a:solidFill>
                <a:latin typeface="Arial"/>
                <a:ea typeface="Arial"/>
                <a:cs typeface="Arial"/>
                <a:sym typeface="Arial"/>
              </a:rPr>
              <a:t>lander som sag</a:t>
            </a:r>
          </a:p>
        </p:txBody>
      </p:sp>
      <p:grpSp>
        <p:nvGrpSpPr>
          <p:cNvPr id="114" name="Group 114"/>
          <p:cNvGrpSpPr/>
          <p:nvPr/>
        </p:nvGrpSpPr>
        <p:grpSpPr>
          <a:xfrm>
            <a:off x="14239875" y="3255127"/>
            <a:ext cx="1666875" cy="731086"/>
            <a:chOff x="0" y="0"/>
            <a:chExt cx="2171700" cy="952500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2171700" cy="952500"/>
            </a:xfrm>
            <a:custGeom>
              <a:avLst/>
              <a:gdLst/>
              <a:ahLst/>
              <a:cxnLst/>
              <a:rect l="l" t="t" r="r" b="b"/>
              <a:pathLst>
                <a:path w="2171700" h="952500">
                  <a:moveTo>
                    <a:pt x="0" y="154432"/>
                  </a:moveTo>
                  <a:cubicBezTo>
                    <a:pt x="0" y="69215"/>
                    <a:pt x="69215" y="0"/>
                    <a:pt x="154432" y="0"/>
                  </a:cubicBezTo>
                  <a:lnTo>
                    <a:pt x="2017268" y="0"/>
                  </a:lnTo>
                  <a:cubicBezTo>
                    <a:pt x="2102485" y="0"/>
                    <a:pt x="2171700" y="69215"/>
                    <a:pt x="2171700" y="154432"/>
                  </a:cubicBezTo>
                  <a:lnTo>
                    <a:pt x="2171700" y="798068"/>
                  </a:lnTo>
                  <a:cubicBezTo>
                    <a:pt x="2171700" y="883285"/>
                    <a:pt x="2102485" y="952500"/>
                    <a:pt x="2017268" y="952500"/>
                  </a:cubicBezTo>
                  <a:lnTo>
                    <a:pt x="154432" y="952500"/>
                  </a:lnTo>
                  <a:cubicBezTo>
                    <a:pt x="69215" y="952500"/>
                    <a:pt x="0" y="883285"/>
                    <a:pt x="0" y="79806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5E3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116" name="TextBox 116"/>
          <p:cNvSpPr txBox="1"/>
          <p:nvPr/>
        </p:nvSpPr>
        <p:spPr>
          <a:xfrm>
            <a:off x="14020106" y="3339922"/>
            <a:ext cx="2019300" cy="227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95"/>
              </a:lnSpc>
              <a:spcBef>
                <a:spcPct val="0"/>
              </a:spcBef>
            </a:pPr>
            <a:r>
              <a:rPr lang="en-US" sz="1425" b="1" u="none" strike="noStrike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Usikkerhed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4209912" y="3562350"/>
            <a:ext cx="1639688" cy="400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11"/>
              </a:lnSpc>
              <a:spcBef>
                <a:spcPct val="0"/>
              </a:spcBef>
            </a:pPr>
            <a:r>
              <a:rPr lang="en-US" sz="1199" u="none" strike="noStrike">
                <a:solidFill>
                  <a:srgbClr val="667386"/>
                </a:solidFill>
                <a:latin typeface="Arial"/>
                <a:ea typeface="Arial"/>
                <a:cs typeface="Arial"/>
                <a:sym typeface="Arial"/>
              </a:rPr>
              <a:t>Flere kilder tolkes manuelt.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828800" y="8734425"/>
            <a:ext cx="16383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650" b="1">
                <a:solidFill>
                  <a:srgbClr val="00BAFF"/>
                </a:solidFill>
                <a:latin typeface="Arial Bold"/>
                <a:ea typeface="Arial Bold"/>
                <a:cs typeface="Arial Bold"/>
                <a:sym typeface="Arial Bold"/>
              </a:rPr>
              <a:t>Konsekvens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3686175" y="8734425"/>
            <a:ext cx="126492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4"/>
              </a:lnSpc>
            </a:pPr>
            <a:r>
              <a:rPr lang="en-US" sz="1575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længere ventetid  |  flere genopkald  |  højere behandlingstid  |  lavere sikkerhed i forklaringen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5280496" y="7599101"/>
            <a:ext cx="496416" cy="275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0"/>
              </a:lnSpc>
              <a:spcBef>
                <a:spcPct val="0"/>
              </a:spcBef>
            </a:pPr>
            <a:r>
              <a:rPr lang="en-US" sz="1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Loop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4833938" y="7922265"/>
            <a:ext cx="1717397" cy="172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10"/>
              </a:lnSpc>
              <a:spcBef>
                <a:spcPct val="0"/>
              </a:spcBef>
            </a:pPr>
            <a:r>
              <a:rPr lang="en-US" sz="975" u="none" strike="noStrike">
                <a:solidFill>
                  <a:srgbClr val="667386"/>
                </a:solidFill>
                <a:latin typeface="Arial"/>
                <a:ea typeface="Arial"/>
                <a:cs typeface="Arial"/>
                <a:sym typeface="Arial"/>
              </a:rPr>
              <a:t>Uklart svar giver genopkald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2009637" y="3320872"/>
            <a:ext cx="1628961" cy="250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1"/>
              </a:lnSpc>
              <a:spcBef>
                <a:spcPct val="0"/>
              </a:spcBef>
            </a:pPr>
            <a:r>
              <a:rPr lang="en-US" sz="14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Spredte systemer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11943941" y="3542919"/>
            <a:ext cx="1760353" cy="400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11"/>
              </a:lnSpc>
              <a:spcBef>
                <a:spcPct val="0"/>
              </a:spcBef>
            </a:pPr>
            <a:r>
              <a:rPr lang="en-US" sz="1199">
                <a:solidFill>
                  <a:srgbClr val="667386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199" u="none" strike="noStrike">
                <a:solidFill>
                  <a:srgbClr val="667386"/>
                </a:solidFill>
                <a:latin typeface="Arial"/>
                <a:ea typeface="Arial"/>
                <a:cs typeface="Arial"/>
                <a:sym typeface="Arial"/>
              </a:rPr>
              <a:t>vinger manuel sammenstilling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876300" y="666750"/>
            <a:ext cx="3392388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i="1">
                <a:solidFill>
                  <a:srgbClr val="00BA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AS-IS i kundeservice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876300" y="1266825"/>
            <a:ext cx="9906000" cy="1405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14"/>
              </a:lnSpc>
            </a:pPr>
            <a:r>
              <a:rPr lang="en-US" sz="480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Et simpelt spørgsmål bliver til en jagt på forklaringen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876300" y="9667875"/>
            <a:ext cx="723900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9"/>
              </a:lnSpc>
            </a:pPr>
            <a:r>
              <a:rPr lang="en-US" sz="900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rPr>
              <a:t>© 2026 KPMG P/S · Arbejdsmateriale til Company X case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876300" y="9667875"/>
            <a:ext cx="723900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9"/>
              </a:lnSpc>
            </a:pPr>
            <a:r>
              <a:rPr lang="en-US" sz="900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rPr>
              <a:t>© 2026 KPMG P/S · Arbejdsmateriale til Company X case</a:t>
            </a:r>
          </a:p>
        </p:txBody>
      </p:sp>
      <p:sp>
        <p:nvSpPr>
          <p:cNvPr id="128" name="AutoShape 128"/>
          <p:cNvSpPr/>
          <p:nvPr/>
        </p:nvSpPr>
        <p:spPr>
          <a:xfrm>
            <a:off x="6519862" y="5762625"/>
            <a:ext cx="649772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129" name="AutoShape 129"/>
          <p:cNvSpPr/>
          <p:nvPr/>
        </p:nvSpPr>
        <p:spPr>
          <a:xfrm>
            <a:off x="6519862" y="4781550"/>
            <a:ext cx="659315" cy="257556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130" name="TextBox 130"/>
          <p:cNvSpPr txBox="1"/>
          <p:nvPr/>
        </p:nvSpPr>
        <p:spPr>
          <a:xfrm>
            <a:off x="17297400" y="9620250"/>
            <a:ext cx="266700" cy="242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sz="13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6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15621000" y="9667875"/>
            <a:ext cx="1428750" cy="164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09"/>
              </a:lnSpc>
            </a:pPr>
            <a:r>
              <a:rPr lang="en-US" sz="900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rPr>
              <a:t>AS-IS Rich Picture</a:t>
            </a:r>
          </a:p>
        </p:txBody>
      </p:sp>
      <p:sp>
        <p:nvSpPr>
          <p:cNvPr id="132" name="AutoShape 132"/>
          <p:cNvSpPr/>
          <p:nvPr/>
        </p:nvSpPr>
        <p:spPr>
          <a:xfrm flipV="1">
            <a:off x="11384865" y="6181725"/>
            <a:ext cx="692835" cy="18564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da-DK"/>
          </a:p>
        </p:txBody>
      </p:sp>
      <p:grpSp>
        <p:nvGrpSpPr>
          <p:cNvPr id="133" name="Group 32">
            <a:extLst>
              <a:ext uri="{FF2B5EF4-FFF2-40B4-BE49-F238E27FC236}">
                <a16:creationId xmlns:a16="http://schemas.microsoft.com/office/drawing/2014/main" id="{A579DCDD-9300-DD06-E8AA-5BDA079B6FC8}"/>
              </a:ext>
            </a:extLst>
          </p:cNvPr>
          <p:cNvGrpSpPr/>
          <p:nvPr/>
        </p:nvGrpSpPr>
        <p:grpSpPr>
          <a:xfrm rot="381449">
            <a:off x="17164050" y="9647389"/>
            <a:ext cx="19050" cy="190500"/>
            <a:chOff x="0" y="0"/>
            <a:chExt cx="25400" cy="254000"/>
          </a:xfrm>
        </p:grpSpPr>
        <p:sp>
          <p:nvSpPr>
            <p:cNvPr id="134" name="Freeform 33">
              <a:extLst>
                <a:ext uri="{FF2B5EF4-FFF2-40B4-BE49-F238E27FC236}">
                  <a16:creationId xmlns:a16="http://schemas.microsoft.com/office/drawing/2014/main" id="{031661FE-49C2-46E6-E202-4B808EEFB5E3}"/>
                </a:ext>
              </a:extLst>
            </p:cNvPr>
            <p:cNvSpPr/>
            <p:nvPr/>
          </p:nvSpPr>
          <p:spPr>
            <a:xfrm>
              <a:off x="0" y="0"/>
              <a:ext cx="25400" cy="254000"/>
            </a:xfrm>
            <a:custGeom>
              <a:avLst/>
              <a:gdLst/>
              <a:ahLst/>
              <a:cxnLst/>
              <a:rect l="l" t="t" r="r" b="b"/>
              <a:pathLst>
                <a:path w="25400" h="254000">
                  <a:moveTo>
                    <a:pt x="0" y="0"/>
                  </a:moveTo>
                  <a:lnTo>
                    <a:pt x="25400" y="254000"/>
                  </a:lnTo>
                </a:path>
              </a:pathLst>
            </a:custGeom>
            <a:blipFill>
              <a:blip r:embed="rId7">
                <a:alphaModFix amt="0"/>
              </a:blip>
              <a:stretch>
                <a:fillRect l="-1233035" r="-1233035"/>
              </a:stretch>
            </a:blipFill>
            <a:ln w="19050" cap="sq">
              <a:solidFill>
                <a:srgbClr val="061B3F"/>
              </a:solidFill>
              <a:prstDash val="solid"/>
              <a:miter/>
            </a:ln>
          </p:spPr>
          <p:txBody>
            <a:bodyPr/>
            <a:lstStyle/>
            <a:p>
              <a:endParaRPr lang="da-DK" dirty="0"/>
            </a:p>
          </p:txBody>
        </p:sp>
      </p:grp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191375" cy="10287000"/>
            <a:chOff x="0" y="0"/>
            <a:chExt cx="95885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88500" cy="13716000"/>
            </a:xfrm>
            <a:custGeom>
              <a:avLst/>
              <a:gdLst/>
              <a:ahLst/>
              <a:cxnLst/>
              <a:rect l="l" t="t" r="r" b="b"/>
              <a:pathLst>
                <a:path w="9588500" h="13716000">
                  <a:moveTo>
                    <a:pt x="0" y="0"/>
                  </a:moveTo>
                  <a:lnTo>
                    <a:pt x="9588500" y="0"/>
                  </a:lnTo>
                  <a:lnTo>
                    <a:pt x="95885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61B3F"/>
            </a:solidFill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76300" y="762000"/>
            <a:ext cx="400050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i="1">
                <a:solidFill>
                  <a:srgbClr val="00BA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Valgt startpunkt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6300" y="1676400"/>
            <a:ext cx="5334000" cy="217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4"/>
              </a:lnSpc>
            </a:pPr>
            <a:r>
              <a:rPr lang="en-US" sz="49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Start med faktura</a:t>
            </a:r>
          </a:p>
          <a:p>
            <a:pPr algn="l">
              <a:lnSpc>
                <a:spcPts val="5464"/>
              </a:lnSpc>
            </a:pPr>
            <a:r>
              <a:rPr lang="en-US" sz="49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fordi værdien kan</a:t>
            </a:r>
          </a:p>
          <a:p>
            <a:pPr algn="l">
              <a:lnSpc>
                <a:spcPts val="5464"/>
              </a:lnSpc>
            </a:pPr>
            <a:r>
              <a:rPr lang="en-US" sz="49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måles hurtigt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5350" y="4686300"/>
            <a:ext cx="5143500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>
                <a:solidFill>
                  <a:srgbClr val="D7E2EF"/>
                </a:solidFill>
                <a:latin typeface="Arial"/>
                <a:ea typeface="Arial"/>
                <a:cs typeface="Arial"/>
                <a:sym typeface="Arial"/>
              </a:rPr>
              <a:t>Flowet er smalt nok til en pilot og stort nok til at bevise værdien: volumen, tydelige datakilder og en kunde, der mærker ventetiden.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6810375"/>
            <a:ext cx="438150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1800" b="1">
                <a:solidFill>
                  <a:srgbClr val="00BAFF"/>
                </a:solidFill>
                <a:latin typeface="Arial Bold"/>
                <a:ea typeface="Arial Bold"/>
                <a:cs typeface="Arial Bold"/>
                <a:sym typeface="Arial Bold"/>
              </a:rPr>
              <a:t>COMPANY X SIGNAL AGENT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7239000"/>
            <a:ext cx="4953000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Intern agent, hvor medarbejderen godkender forklaring og mail før kunden kontaktes.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267700" y="1905000"/>
            <a:ext cx="7715250" cy="1295400"/>
            <a:chOff x="0" y="0"/>
            <a:chExt cx="10287000" cy="1727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287000" cy="1727200"/>
            </a:xfrm>
            <a:custGeom>
              <a:avLst/>
              <a:gdLst/>
              <a:ahLst/>
              <a:cxnLst/>
              <a:rect l="l" t="t" r="r" b="b"/>
              <a:pathLst>
                <a:path w="10287000" h="1727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185400" y="0"/>
                  </a:lnTo>
                  <a:cubicBezTo>
                    <a:pt x="10241534" y="0"/>
                    <a:pt x="10287000" y="45466"/>
                    <a:pt x="10287000" y="101600"/>
                  </a:cubicBezTo>
                  <a:lnTo>
                    <a:pt x="10287000" y="1625600"/>
                  </a:lnTo>
                  <a:cubicBezTo>
                    <a:pt x="10287000" y="1681734"/>
                    <a:pt x="10241534" y="1727200"/>
                    <a:pt x="10185400" y="1727200"/>
                  </a:cubicBezTo>
                  <a:lnTo>
                    <a:pt x="101600" y="1727200"/>
                  </a:lnTo>
                  <a:cubicBezTo>
                    <a:pt x="45466" y="1727200"/>
                    <a:pt x="0" y="1681734"/>
                    <a:pt x="0" y="1625600"/>
                  </a:cubicBezTo>
                  <a:close/>
                </a:path>
              </a:pathLst>
            </a:custGeom>
            <a:solidFill>
              <a:srgbClr val="E7E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186738" y="1804988"/>
            <a:ext cx="7724775" cy="1304925"/>
            <a:chOff x="0" y="0"/>
            <a:chExt cx="10299700" cy="17399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299700" cy="1739900"/>
            </a:xfrm>
            <a:custGeom>
              <a:avLst/>
              <a:gdLst/>
              <a:ahLst/>
              <a:cxnLst/>
              <a:rect l="l" t="t" r="r" b="b"/>
              <a:pathLst>
                <a:path w="10299700" h="1739900">
                  <a:moveTo>
                    <a:pt x="0" y="102362"/>
                  </a:moveTo>
                  <a:cubicBezTo>
                    <a:pt x="0" y="45847"/>
                    <a:pt x="45847" y="0"/>
                    <a:pt x="102362" y="0"/>
                  </a:cubicBezTo>
                  <a:lnTo>
                    <a:pt x="10197338" y="0"/>
                  </a:lnTo>
                  <a:cubicBezTo>
                    <a:pt x="10253853" y="0"/>
                    <a:pt x="10299700" y="45847"/>
                    <a:pt x="10299700" y="102362"/>
                  </a:cubicBezTo>
                  <a:lnTo>
                    <a:pt x="10299700" y="1637538"/>
                  </a:lnTo>
                  <a:cubicBezTo>
                    <a:pt x="10299700" y="1694053"/>
                    <a:pt x="10253853" y="1739900"/>
                    <a:pt x="10197338" y="1739900"/>
                  </a:cubicBezTo>
                  <a:lnTo>
                    <a:pt x="102362" y="1739900"/>
                  </a:lnTo>
                  <a:cubicBezTo>
                    <a:pt x="45847" y="1739900"/>
                    <a:pt x="0" y="1694053"/>
                    <a:pt x="0" y="163753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7F1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8667750" y="2133600"/>
            <a:ext cx="74295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850" b="1">
                <a:solidFill>
                  <a:srgbClr val="00BAFF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15500" y="2047875"/>
            <a:ext cx="295275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325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Høj volumen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15500" y="2495550"/>
            <a:ext cx="49530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500">
                <a:solidFill>
                  <a:srgbClr val="6D7584"/>
                </a:solidFill>
                <a:latin typeface="Arial"/>
                <a:ea typeface="Arial"/>
                <a:cs typeface="Arial"/>
                <a:sym typeface="Arial"/>
              </a:rPr>
              <a:t>Mange gentagne spørgsmål om pris, forbrug og ændringer.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267700" y="3505200"/>
            <a:ext cx="7715250" cy="1295400"/>
            <a:chOff x="0" y="0"/>
            <a:chExt cx="10287000" cy="1727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287000" cy="1727200"/>
            </a:xfrm>
            <a:custGeom>
              <a:avLst/>
              <a:gdLst/>
              <a:ahLst/>
              <a:cxnLst/>
              <a:rect l="l" t="t" r="r" b="b"/>
              <a:pathLst>
                <a:path w="10287000" h="1727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185400" y="0"/>
                  </a:lnTo>
                  <a:cubicBezTo>
                    <a:pt x="10241534" y="0"/>
                    <a:pt x="10287000" y="45466"/>
                    <a:pt x="10287000" y="101600"/>
                  </a:cubicBezTo>
                  <a:lnTo>
                    <a:pt x="10287000" y="1625600"/>
                  </a:lnTo>
                  <a:cubicBezTo>
                    <a:pt x="10287000" y="1681734"/>
                    <a:pt x="10241534" y="1727200"/>
                    <a:pt x="10185400" y="1727200"/>
                  </a:cubicBezTo>
                  <a:lnTo>
                    <a:pt x="101600" y="1727200"/>
                  </a:lnTo>
                  <a:cubicBezTo>
                    <a:pt x="45466" y="1727200"/>
                    <a:pt x="0" y="1681734"/>
                    <a:pt x="0" y="1625600"/>
                  </a:cubicBezTo>
                  <a:close/>
                </a:path>
              </a:pathLst>
            </a:custGeom>
            <a:solidFill>
              <a:srgbClr val="E7E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186738" y="3405188"/>
            <a:ext cx="7724775" cy="1304925"/>
            <a:chOff x="0" y="0"/>
            <a:chExt cx="10299700" cy="17399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299700" cy="1739900"/>
            </a:xfrm>
            <a:custGeom>
              <a:avLst/>
              <a:gdLst/>
              <a:ahLst/>
              <a:cxnLst/>
              <a:rect l="l" t="t" r="r" b="b"/>
              <a:pathLst>
                <a:path w="10299700" h="1739900">
                  <a:moveTo>
                    <a:pt x="0" y="102362"/>
                  </a:moveTo>
                  <a:cubicBezTo>
                    <a:pt x="0" y="45847"/>
                    <a:pt x="45847" y="0"/>
                    <a:pt x="102362" y="0"/>
                  </a:cubicBezTo>
                  <a:lnTo>
                    <a:pt x="10197338" y="0"/>
                  </a:lnTo>
                  <a:cubicBezTo>
                    <a:pt x="10253853" y="0"/>
                    <a:pt x="10299700" y="45847"/>
                    <a:pt x="10299700" y="102362"/>
                  </a:cubicBezTo>
                  <a:lnTo>
                    <a:pt x="10299700" y="1637538"/>
                  </a:lnTo>
                  <a:cubicBezTo>
                    <a:pt x="10299700" y="1694053"/>
                    <a:pt x="10253853" y="1739900"/>
                    <a:pt x="10197338" y="1739900"/>
                  </a:cubicBezTo>
                  <a:lnTo>
                    <a:pt x="102362" y="1739900"/>
                  </a:lnTo>
                  <a:cubicBezTo>
                    <a:pt x="45847" y="1739900"/>
                    <a:pt x="0" y="1694053"/>
                    <a:pt x="0" y="163753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7F1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8667750" y="3733800"/>
            <a:ext cx="74295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8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15500" y="3648075"/>
            <a:ext cx="295275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325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Datakilder findes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715500" y="4095750"/>
            <a:ext cx="49530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500">
                <a:solidFill>
                  <a:srgbClr val="6D7584"/>
                </a:solidFill>
                <a:latin typeface="Arial"/>
                <a:ea typeface="Arial"/>
                <a:cs typeface="Arial"/>
                <a:sym typeface="Arial"/>
              </a:rPr>
              <a:t>CRM, faktura, forbrug, betaling og produktregler kan samles.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8267700" y="5105400"/>
            <a:ext cx="7715250" cy="1295400"/>
            <a:chOff x="0" y="0"/>
            <a:chExt cx="10287000" cy="1727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287000" cy="1727200"/>
            </a:xfrm>
            <a:custGeom>
              <a:avLst/>
              <a:gdLst/>
              <a:ahLst/>
              <a:cxnLst/>
              <a:rect l="l" t="t" r="r" b="b"/>
              <a:pathLst>
                <a:path w="10287000" h="1727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185400" y="0"/>
                  </a:lnTo>
                  <a:cubicBezTo>
                    <a:pt x="10241534" y="0"/>
                    <a:pt x="10287000" y="45466"/>
                    <a:pt x="10287000" y="101600"/>
                  </a:cubicBezTo>
                  <a:lnTo>
                    <a:pt x="10287000" y="1625600"/>
                  </a:lnTo>
                  <a:cubicBezTo>
                    <a:pt x="10287000" y="1681734"/>
                    <a:pt x="10241534" y="1727200"/>
                    <a:pt x="10185400" y="1727200"/>
                  </a:cubicBezTo>
                  <a:lnTo>
                    <a:pt x="101600" y="1727200"/>
                  </a:lnTo>
                  <a:cubicBezTo>
                    <a:pt x="45466" y="1727200"/>
                    <a:pt x="0" y="1681734"/>
                    <a:pt x="0" y="1625600"/>
                  </a:cubicBezTo>
                  <a:close/>
                </a:path>
              </a:pathLst>
            </a:custGeom>
            <a:solidFill>
              <a:srgbClr val="E7E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86738" y="5005388"/>
            <a:ext cx="7724775" cy="1304925"/>
            <a:chOff x="0" y="0"/>
            <a:chExt cx="10299700" cy="17399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299700" cy="1739900"/>
            </a:xfrm>
            <a:custGeom>
              <a:avLst/>
              <a:gdLst/>
              <a:ahLst/>
              <a:cxnLst/>
              <a:rect l="l" t="t" r="r" b="b"/>
              <a:pathLst>
                <a:path w="10299700" h="1739900">
                  <a:moveTo>
                    <a:pt x="0" y="102362"/>
                  </a:moveTo>
                  <a:cubicBezTo>
                    <a:pt x="0" y="45847"/>
                    <a:pt x="45847" y="0"/>
                    <a:pt x="102362" y="0"/>
                  </a:cubicBezTo>
                  <a:lnTo>
                    <a:pt x="10197338" y="0"/>
                  </a:lnTo>
                  <a:cubicBezTo>
                    <a:pt x="10253853" y="0"/>
                    <a:pt x="10299700" y="45847"/>
                    <a:pt x="10299700" y="102362"/>
                  </a:cubicBezTo>
                  <a:lnTo>
                    <a:pt x="10299700" y="1637538"/>
                  </a:lnTo>
                  <a:cubicBezTo>
                    <a:pt x="10299700" y="1694053"/>
                    <a:pt x="10253853" y="1739900"/>
                    <a:pt x="10197338" y="1739900"/>
                  </a:cubicBezTo>
                  <a:lnTo>
                    <a:pt x="102362" y="1739900"/>
                  </a:lnTo>
                  <a:cubicBezTo>
                    <a:pt x="45847" y="1739900"/>
                    <a:pt x="0" y="1694053"/>
                    <a:pt x="0" y="163753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7F1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8667750" y="5334000"/>
            <a:ext cx="74295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850" b="1">
                <a:solidFill>
                  <a:srgbClr val="00BAFF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15500" y="5248275"/>
            <a:ext cx="295275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325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Kontrolleret risiko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715500" y="5695950"/>
            <a:ext cx="49530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500">
                <a:solidFill>
                  <a:srgbClr val="6D7584"/>
                </a:solidFill>
                <a:latin typeface="Arial"/>
                <a:ea typeface="Arial"/>
                <a:cs typeface="Arial"/>
                <a:sym typeface="Arial"/>
              </a:rPr>
              <a:t>Human approval holder ansvar og compliance hos medarbejderen.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8191500" y="7353300"/>
            <a:ext cx="7715250" cy="876300"/>
            <a:chOff x="0" y="0"/>
            <a:chExt cx="10287000" cy="1168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287000" cy="1168400"/>
            </a:xfrm>
            <a:custGeom>
              <a:avLst/>
              <a:gdLst/>
              <a:ahLst/>
              <a:cxnLst/>
              <a:rect l="l" t="t" r="r" b="b"/>
              <a:pathLst>
                <a:path w="10287000" h="1168400">
                  <a:moveTo>
                    <a:pt x="127000" y="0"/>
                  </a:moveTo>
                  <a:lnTo>
                    <a:pt x="10160000" y="0"/>
                  </a:lnTo>
                  <a:cubicBezTo>
                    <a:pt x="10230140" y="0"/>
                    <a:pt x="10287000" y="56860"/>
                    <a:pt x="10287000" y="127000"/>
                  </a:cubicBezTo>
                  <a:lnTo>
                    <a:pt x="10287000" y="1041400"/>
                  </a:lnTo>
                  <a:cubicBezTo>
                    <a:pt x="10287000" y="1111540"/>
                    <a:pt x="10230140" y="1168400"/>
                    <a:pt x="10160000" y="1168400"/>
                  </a:cubicBezTo>
                  <a:lnTo>
                    <a:pt x="127000" y="1168400"/>
                  </a:lnTo>
                  <a:cubicBezTo>
                    <a:pt x="56860" y="1168400"/>
                    <a:pt x="0" y="1111540"/>
                    <a:pt x="0" y="10414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92A5C"/>
            </a:solidFill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8572500" y="7458075"/>
            <a:ext cx="6953250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9"/>
              </a:lnSpc>
            </a:pPr>
            <a:r>
              <a:rPr lang="en-US" sz="18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To-be: telefonnummer/kundenummer → data samles → årsag og svar foreslås → Mikkel godkender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76300" y="9667875"/>
            <a:ext cx="723900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9"/>
              </a:lnSpc>
            </a:pPr>
            <a:r>
              <a:rPr lang="en-US" sz="900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rPr>
              <a:t>© 2026 KPMG P/S · Arbejdsmateriale til Company X case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621000" y="9667875"/>
            <a:ext cx="142875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09"/>
              </a:lnSpc>
            </a:pPr>
            <a:r>
              <a:rPr lang="en-US" sz="900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rPr>
              <a:t>Selected journey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7297400" y="9620250"/>
            <a:ext cx="2667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sz="13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7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76300" y="9667875"/>
            <a:ext cx="723900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9"/>
              </a:lnSpc>
            </a:pPr>
            <a:r>
              <a:rPr lang="en-US" sz="900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rPr>
              <a:t>© 2026 KPMG P/S · Arbejdsmateriale til Company X case</a:t>
            </a:r>
          </a:p>
        </p:txBody>
      </p:sp>
      <p:sp>
        <p:nvSpPr>
          <p:cNvPr id="39" name="Freeform 39"/>
          <p:cNvSpPr/>
          <p:nvPr/>
        </p:nvSpPr>
        <p:spPr>
          <a:xfrm>
            <a:off x="876300" y="9476345"/>
            <a:ext cx="456796" cy="182005"/>
          </a:xfrm>
          <a:custGeom>
            <a:avLst/>
            <a:gdLst/>
            <a:ahLst/>
            <a:cxnLst/>
            <a:rect l="l" t="t" r="r" b="b"/>
            <a:pathLst>
              <a:path w="456796" h="182005">
                <a:moveTo>
                  <a:pt x="0" y="0"/>
                </a:moveTo>
                <a:lnTo>
                  <a:pt x="456796" y="0"/>
                </a:lnTo>
                <a:lnTo>
                  <a:pt x="456796" y="182005"/>
                </a:lnTo>
                <a:lnTo>
                  <a:pt x="0" y="1820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grpSp>
        <p:nvGrpSpPr>
          <p:cNvPr id="40" name="Group 32">
            <a:extLst>
              <a:ext uri="{FF2B5EF4-FFF2-40B4-BE49-F238E27FC236}">
                <a16:creationId xmlns:a16="http://schemas.microsoft.com/office/drawing/2014/main" id="{DA676F46-CB54-D43C-4E7E-55DC042CC7C6}"/>
              </a:ext>
            </a:extLst>
          </p:cNvPr>
          <p:cNvGrpSpPr/>
          <p:nvPr/>
        </p:nvGrpSpPr>
        <p:grpSpPr>
          <a:xfrm rot="381449">
            <a:off x="17164050" y="9647389"/>
            <a:ext cx="19050" cy="190500"/>
            <a:chOff x="0" y="0"/>
            <a:chExt cx="25400" cy="254000"/>
          </a:xfrm>
        </p:grpSpPr>
        <p:sp>
          <p:nvSpPr>
            <p:cNvPr id="41" name="Freeform 33">
              <a:extLst>
                <a:ext uri="{FF2B5EF4-FFF2-40B4-BE49-F238E27FC236}">
                  <a16:creationId xmlns:a16="http://schemas.microsoft.com/office/drawing/2014/main" id="{DB937CDD-DF54-1E9A-5EBF-54E34E7C10E4}"/>
                </a:ext>
              </a:extLst>
            </p:cNvPr>
            <p:cNvSpPr/>
            <p:nvPr/>
          </p:nvSpPr>
          <p:spPr>
            <a:xfrm>
              <a:off x="0" y="0"/>
              <a:ext cx="25400" cy="254000"/>
            </a:xfrm>
            <a:custGeom>
              <a:avLst/>
              <a:gdLst/>
              <a:ahLst/>
              <a:cxnLst/>
              <a:rect l="l" t="t" r="r" b="b"/>
              <a:pathLst>
                <a:path w="25400" h="254000">
                  <a:moveTo>
                    <a:pt x="0" y="0"/>
                  </a:moveTo>
                  <a:lnTo>
                    <a:pt x="25400" y="2540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233035" r="-1233035"/>
              </a:stretch>
            </a:blipFill>
            <a:ln w="19050" cap="sq">
              <a:solidFill>
                <a:srgbClr val="061B3F"/>
              </a:solidFill>
              <a:prstDash val="solid"/>
              <a:miter/>
            </a:ln>
          </p:spPr>
          <p:txBody>
            <a:bodyPr/>
            <a:lstStyle/>
            <a:p>
              <a:endParaRPr lang="da-DK" dirty="0"/>
            </a:p>
          </p:txBody>
        </p:sp>
      </p:grp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191250" cy="10287000"/>
            <a:chOff x="0" y="0"/>
            <a:chExt cx="8255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55000" cy="13716000"/>
            </a:xfrm>
            <a:custGeom>
              <a:avLst/>
              <a:gdLst/>
              <a:ahLst/>
              <a:cxnLst/>
              <a:rect l="l" t="t" r="r" b="b"/>
              <a:pathLst>
                <a:path w="8255000" h="13716000">
                  <a:moveTo>
                    <a:pt x="0" y="0"/>
                  </a:moveTo>
                  <a:lnTo>
                    <a:pt x="8255000" y="0"/>
                  </a:lnTo>
                  <a:lnTo>
                    <a:pt x="8255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2A5C"/>
            </a:solidFill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000500" y="0"/>
            <a:ext cx="5334000" cy="10287000"/>
            <a:chOff x="0" y="0"/>
            <a:chExt cx="7112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112000" cy="13716000"/>
            </a:xfrm>
            <a:custGeom>
              <a:avLst/>
              <a:gdLst/>
              <a:ahLst/>
              <a:cxnLst/>
              <a:rect l="l" t="t" r="r" b="b"/>
              <a:pathLst>
                <a:path w="7112000" h="13716000">
                  <a:moveTo>
                    <a:pt x="0" y="0"/>
                  </a:moveTo>
                  <a:lnTo>
                    <a:pt x="7112000" y="0"/>
                  </a:lnTo>
                  <a:lnTo>
                    <a:pt x="7112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61B3F"/>
            </a:solidFill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8305800"/>
            <a:ext cx="6191250" cy="190500"/>
            <a:chOff x="0" y="0"/>
            <a:chExt cx="8255000" cy="254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255000" cy="254000"/>
            </a:xfrm>
            <a:custGeom>
              <a:avLst/>
              <a:gdLst/>
              <a:ahLst/>
              <a:cxnLst/>
              <a:rect l="l" t="t" r="r" b="b"/>
              <a:pathLst>
                <a:path w="8255000" h="254000">
                  <a:moveTo>
                    <a:pt x="0" y="0"/>
                  </a:moveTo>
                  <a:lnTo>
                    <a:pt x="8255000" y="0"/>
                  </a:lnTo>
                  <a:lnTo>
                    <a:pt x="8255000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2FC3D7"/>
            </a:solidFill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76300" y="1190625"/>
            <a:ext cx="7429500" cy="1466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91"/>
              </a:lnSpc>
            </a:pPr>
            <a:r>
              <a:rPr lang="en-US" sz="5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Demo: Company X</a:t>
            </a:r>
          </a:p>
          <a:p>
            <a:pPr algn="l">
              <a:lnSpc>
                <a:spcPts val="6091"/>
              </a:lnSpc>
            </a:pPr>
            <a:r>
              <a:rPr lang="en-US" sz="5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SIGNAL AGENT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6300" y="3124200"/>
            <a:ext cx="6762750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EAF0FF"/>
                </a:solidFill>
                <a:latin typeface="Arial"/>
                <a:ea typeface="Arial"/>
                <a:cs typeface="Arial"/>
                <a:sym typeface="Arial"/>
              </a:rPr>
              <a:t>Proof-of-conceptet viser intern beslutningsstøtte i et realistisk billing support-flow.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901238" y="3138488"/>
            <a:ext cx="6581775" cy="1209675"/>
            <a:chOff x="0" y="0"/>
            <a:chExt cx="8775700" cy="16129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775700" cy="1612900"/>
            </a:xfrm>
            <a:custGeom>
              <a:avLst/>
              <a:gdLst/>
              <a:ahLst/>
              <a:cxnLst/>
              <a:rect l="l" t="t" r="r" b="b"/>
              <a:pathLst>
                <a:path w="8775700" h="1612900">
                  <a:moveTo>
                    <a:pt x="0" y="102362"/>
                  </a:moveTo>
                  <a:cubicBezTo>
                    <a:pt x="0" y="45847"/>
                    <a:pt x="45847" y="0"/>
                    <a:pt x="102362" y="0"/>
                  </a:cubicBezTo>
                  <a:lnTo>
                    <a:pt x="8673338" y="0"/>
                  </a:lnTo>
                  <a:cubicBezTo>
                    <a:pt x="8729853" y="0"/>
                    <a:pt x="8775700" y="45847"/>
                    <a:pt x="8775700" y="102362"/>
                  </a:cubicBezTo>
                  <a:lnTo>
                    <a:pt x="8775700" y="1510538"/>
                  </a:lnTo>
                  <a:cubicBezTo>
                    <a:pt x="8775700" y="1567053"/>
                    <a:pt x="8729853" y="1612900"/>
                    <a:pt x="8673338" y="1612900"/>
                  </a:cubicBezTo>
                  <a:lnTo>
                    <a:pt x="102362" y="1612900"/>
                  </a:lnTo>
                  <a:cubicBezTo>
                    <a:pt x="45847" y="1612900"/>
                    <a:pt x="0" y="1567053"/>
                    <a:pt x="0" y="1510538"/>
                  </a:cubicBezTo>
                  <a:close/>
                </a:path>
              </a:pathLst>
            </a:custGeom>
            <a:solidFill>
              <a:srgbClr val="123B73"/>
            </a:solidFill>
            <a:ln w="9525" cap="sq">
              <a:solidFill>
                <a:srgbClr val="486A95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325100" y="3419475"/>
            <a:ext cx="66675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7"/>
              </a:lnSpc>
            </a:pPr>
            <a:r>
              <a:rPr lang="en-US" sz="2550" b="1">
                <a:solidFill>
                  <a:srgbClr val="2FC3D7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72850" y="3362325"/>
            <a:ext cx="3429000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2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Indgående opkald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72850" y="3752850"/>
            <a:ext cx="4429125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500">
                <a:solidFill>
                  <a:srgbClr val="D7E2EF"/>
                </a:solidFill>
                <a:latin typeface="Arial"/>
                <a:ea typeface="Arial"/>
                <a:cs typeface="Arial"/>
                <a:sym typeface="Arial"/>
              </a:rPr>
              <a:t>Mikkel ser telefonnummer og kundespørgsmål.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901238" y="4605338"/>
            <a:ext cx="6581775" cy="1209675"/>
            <a:chOff x="0" y="0"/>
            <a:chExt cx="8775700" cy="1612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775700" cy="1612900"/>
            </a:xfrm>
            <a:custGeom>
              <a:avLst/>
              <a:gdLst/>
              <a:ahLst/>
              <a:cxnLst/>
              <a:rect l="l" t="t" r="r" b="b"/>
              <a:pathLst>
                <a:path w="8775700" h="1612900">
                  <a:moveTo>
                    <a:pt x="0" y="102362"/>
                  </a:moveTo>
                  <a:cubicBezTo>
                    <a:pt x="0" y="45847"/>
                    <a:pt x="45847" y="0"/>
                    <a:pt x="102362" y="0"/>
                  </a:cubicBezTo>
                  <a:lnTo>
                    <a:pt x="8673338" y="0"/>
                  </a:lnTo>
                  <a:cubicBezTo>
                    <a:pt x="8729853" y="0"/>
                    <a:pt x="8775700" y="45847"/>
                    <a:pt x="8775700" y="102362"/>
                  </a:cubicBezTo>
                  <a:lnTo>
                    <a:pt x="8775700" y="1510538"/>
                  </a:lnTo>
                  <a:cubicBezTo>
                    <a:pt x="8775700" y="1567053"/>
                    <a:pt x="8729853" y="1612900"/>
                    <a:pt x="8673338" y="1612900"/>
                  </a:cubicBezTo>
                  <a:lnTo>
                    <a:pt x="102362" y="1612900"/>
                  </a:lnTo>
                  <a:cubicBezTo>
                    <a:pt x="45847" y="1612900"/>
                    <a:pt x="0" y="1567053"/>
                    <a:pt x="0" y="1510538"/>
                  </a:cubicBezTo>
                  <a:close/>
                </a:path>
              </a:pathLst>
            </a:custGeom>
            <a:solidFill>
              <a:srgbClr val="123B73"/>
            </a:solidFill>
            <a:ln w="9525" cap="sq">
              <a:solidFill>
                <a:srgbClr val="486A95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325100" y="4886325"/>
            <a:ext cx="66675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7"/>
              </a:lnSpc>
            </a:pPr>
            <a:r>
              <a:rPr lang="en-US" sz="2550" b="1">
                <a:solidFill>
                  <a:srgbClr val="2FC3D7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72850" y="4829175"/>
            <a:ext cx="3429000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2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SIGNAL AGENT slår op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372850" y="5219700"/>
            <a:ext cx="4429125" cy="258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500">
                <a:solidFill>
                  <a:srgbClr val="D7E2EF"/>
                </a:solidFill>
                <a:latin typeface="Arial"/>
                <a:ea typeface="Arial"/>
                <a:cs typeface="Arial"/>
                <a:sym typeface="Arial"/>
              </a:rPr>
              <a:t>CRM, faktura, forbrug, betaling og historik samles.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901238" y="6072188"/>
            <a:ext cx="6581775" cy="1209675"/>
            <a:chOff x="0" y="0"/>
            <a:chExt cx="8775700" cy="16129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775700" cy="1612900"/>
            </a:xfrm>
            <a:custGeom>
              <a:avLst/>
              <a:gdLst/>
              <a:ahLst/>
              <a:cxnLst/>
              <a:rect l="l" t="t" r="r" b="b"/>
              <a:pathLst>
                <a:path w="8775700" h="1612900">
                  <a:moveTo>
                    <a:pt x="0" y="102362"/>
                  </a:moveTo>
                  <a:cubicBezTo>
                    <a:pt x="0" y="45847"/>
                    <a:pt x="45847" y="0"/>
                    <a:pt x="102362" y="0"/>
                  </a:cubicBezTo>
                  <a:lnTo>
                    <a:pt x="8673338" y="0"/>
                  </a:lnTo>
                  <a:cubicBezTo>
                    <a:pt x="8729853" y="0"/>
                    <a:pt x="8775700" y="45847"/>
                    <a:pt x="8775700" y="102362"/>
                  </a:cubicBezTo>
                  <a:lnTo>
                    <a:pt x="8775700" y="1510538"/>
                  </a:lnTo>
                  <a:cubicBezTo>
                    <a:pt x="8775700" y="1567053"/>
                    <a:pt x="8729853" y="1612900"/>
                    <a:pt x="8673338" y="1612900"/>
                  </a:cubicBezTo>
                  <a:lnTo>
                    <a:pt x="102362" y="1612900"/>
                  </a:lnTo>
                  <a:cubicBezTo>
                    <a:pt x="45847" y="1612900"/>
                    <a:pt x="0" y="1567053"/>
                    <a:pt x="0" y="1510538"/>
                  </a:cubicBezTo>
                  <a:close/>
                </a:path>
              </a:pathLst>
            </a:custGeom>
            <a:solidFill>
              <a:srgbClr val="123B73"/>
            </a:solidFill>
            <a:ln w="9525" cap="sq">
              <a:solidFill>
                <a:srgbClr val="486A95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325100" y="6353175"/>
            <a:ext cx="66675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7"/>
              </a:lnSpc>
            </a:pPr>
            <a:r>
              <a:rPr lang="en-US" sz="2550" b="1">
                <a:solidFill>
                  <a:srgbClr val="2FC3D7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372850" y="6296025"/>
            <a:ext cx="3429000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2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Forslag godkendes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372850" y="6686550"/>
            <a:ext cx="4429125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500">
                <a:solidFill>
                  <a:srgbClr val="D7E2EF"/>
                </a:solidFill>
                <a:latin typeface="Arial"/>
                <a:ea typeface="Arial"/>
                <a:cs typeface="Arial"/>
                <a:sym typeface="Arial"/>
              </a:rPr>
              <a:t>Forklaring, mailudkast og sagsnotat er klar.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76300" y="6134100"/>
            <a:ext cx="3619500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4"/>
              </a:lnSpc>
            </a:pPr>
            <a:r>
              <a:rPr lang="en-US" sz="5100" b="1" i="1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/AI/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76300" y="7181850"/>
            <a:ext cx="6762750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75">
                <a:solidFill>
                  <a:srgbClr val="D7E2EF"/>
                </a:solidFill>
                <a:latin typeface="Arial"/>
                <a:ea typeface="Arial"/>
                <a:cs typeface="Arial"/>
                <a:sym typeface="Arial"/>
              </a:rPr>
              <a:t>Demoen gør business casen konkret: kortere håndteringstid, bedre dokumentation og mere ensartede svar.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76300" y="9667875"/>
            <a:ext cx="723900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9"/>
              </a:lnSpc>
            </a:pPr>
            <a:r>
              <a:rPr lang="en-US" sz="900">
                <a:solidFill>
                  <a:srgbClr val="AEBBD0"/>
                </a:solidFill>
                <a:latin typeface="Arial"/>
                <a:ea typeface="Arial"/>
                <a:cs typeface="Arial"/>
                <a:sym typeface="Arial"/>
              </a:rPr>
              <a:t>© 2026 KPMG P/S · Arbejdsmateriale til Company X case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621000" y="9667875"/>
            <a:ext cx="142875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09"/>
              </a:lnSpc>
            </a:pPr>
            <a:r>
              <a:rPr lang="en-US" sz="900">
                <a:solidFill>
                  <a:srgbClr val="AEBBD0"/>
                </a:solidFill>
                <a:latin typeface="Arial"/>
                <a:ea typeface="Arial"/>
                <a:cs typeface="Arial"/>
                <a:sym typeface="Arial"/>
              </a:rPr>
              <a:t>Demo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297400" y="9620250"/>
            <a:ext cx="2667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sz="13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8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76300" y="9667875"/>
            <a:ext cx="723900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9"/>
              </a:lnSpc>
            </a:pPr>
            <a:r>
              <a:rPr lang="en-US" sz="900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rPr>
              <a:t>© 2026 KPMG P/S · Arbejdsmateriale til Company X case</a:t>
            </a:r>
          </a:p>
        </p:txBody>
      </p:sp>
      <p:sp>
        <p:nvSpPr>
          <p:cNvPr id="33" name="Freeform 33"/>
          <p:cNvSpPr/>
          <p:nvPr/>
        </p:nvSpPr>
        <p:spPr>
          <a:xfrm>
            <a:off x="876300" y="9476345"/>
            <a:ext cx="456796" cy="182005"/>
          </a:xfrm>
          <a:custGeom>
            <a:avLst/>
            <a:gdLst/>
            <a:ahLst/>
            <a:cxnLst/>
            <a:rect l="l" t="t" r="r" b="b"/>
            <a:pathLst>
              <a:path w="456796" h="182005">
                <a:moveTo>
                  <a:pt x="0" y="0"/>
                </a:moveTo>
                <a:lnTo>
                  <a:pt x="456796" y="0"/>
                </a:lnTo>
                <a:lnTo>
                  <a:pt x="456796" y="182005"/>
                </a:lnTo>
                <a:lnTo>
                  <a:pt x="0" y="1820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grpSp>
        <p:nvGrpSpPr>
          <p:cNvPr id="34" name="Group 32">
            <a:extLst>
              <a:ext uri="{FF2B5EF4-FFF2-40B4-BE49-F238E27FC236}">
                <a16:creationId xmlns:a16="http://schemas.microsoft.com/office/drawing/2014/main" id="{8DC8984A-78A0-32E8-E1CF-89DBC49B05E2}"/>
              </a:ext>
            </a:extLst>
          </p:cNvPr>
          <p:cNvGrpSpPr/>
          <p:nvPr/>
        </p:nvGrpSpPr>
        <p:grpSpPr>
          <a:xfrm rot="381449">
            <a:off x="17164050" y="9647389"/>
            <a:ext cx="19050" cy="190500"/>
            <a:chOff x="0" y="0"/>
            <a:chExt cx="25400" cy="254000"/>
          </a:xfrm>
        </p:grpSpPr>
        <p:sp>
          <p:nvSpPr>
            <p:cNvPr id="35" name="Freeform 33">
              <a:extLst>
                <a:ext uri="{FF2B5EF4-FFF2-40B4-BE49-F238E27FC236}">
                  <a16:creationId xmlns:a16="http://schemas.microsoft.com/office/drawing/2014/main" id="{71A908CF-6AE3-E29F-4CB8-4ED91E92DF88}"/>
                </a:ext>
              </a:extLst>
            </p:cNvPr>
            <p:cNvSpPr/>
            <p:nvPr/>
          </p:nvSpPr>
          <p:spPr>
            <a:xfrm>
              <a:off x="0" y="0"/>
              <a:ext cx="25400" cy="254000"/>
            </a:xfrm>
            <a:custGeom>
              <a:avLst/>
              <a:gdLst/>
              <a:ahLst/>
              <a:cxnLst/>
              <a:rect l="l" t="t" r="r" b="b"/>
              <a:pathLst>
                <a:path w="25400" h="254000">
                  <a:moveTo>
                    <a:pt x="0" y="0"/>
                  </a:moveTo>
                  <a:lnTo>
                    <a:pt x="25400" y="2540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233035" r="-1233035"/>
              </a:stretch>
            </a:blipFill>
            <a:ln w="19050" cap="sq">
              <a:solidFill>
                <a:srgbClr val="061B3F"/>
              </a:solidFill>
              <a:prstDash val="solid"/>
              <a:miter/>
            </a:ln>
          </p:spPr>
          <p:txBody>
            <a:bodyPr/>
            <a:lstStyle/>
            <a:p>
              <a:endParaRPr lang="da-DK" dirty="0"/>
            </a:p>
          </p:txBody>
        </p:sp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66750"/>
            <a:ext cx="409575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i="1">
                <a:solidFill>
                  <a:srgbClr val="00BA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Business case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6300" y="1362075"/>
            <a:ext cx="10572750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5"/>
              </a:lnSpc>
            </a:pPr>
            <a:r>
              <a:rPr lang="en-US" sz="46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Faktura-piloten beviser effekten</a:t>
            </a:r>
          </a:p>
          <a:p>
            <a:pPr algn="l">
              <a:lnSpc>
                <a:spcPts val="5245"/>
              </a:lnSpc>
            </a:pPr>
            <a:r>
              <a:rPr lang="en-US" sz="46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programmet skalerer værdien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581400" y="3224212"/>
            <a:ext cx="5773865" cy="3028950"/>
            <a:chOff x="0" y="0"/>
            <a:chExt cx="7698487" cy="4038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98487" cy="4038600"/>
            </a:xfrm>
            <a:custGeom>
              <a:avLst/>
              <a:gdLst/>
              <a:ahLst/>
              <a:cxnLst/>
              <a:rect l="l" t="t" r="r" b="b"/>
              <a:pathLst>
                <a:path w="7698487" h="4038600">
                  <a:moveTo>
                    <a:pt x="0" y="0"/>
                  </a:moveTo>
                  <a:lnTo>
                    <a:pt x="7698487" y="0"/>
                  </a:lnTo>
                  <a:lnTo>
                    <a:pt x="7698487" y="4038600"/>
                  </a:lnTo>
                  <a:lnTo>
                    <a:pt x="0" y="4038600"/>
                  </a:lnTo>
                  <a:close/>
                </a:path>
              </a:pathLst>
            </a:custGeom>
            <a:solidFill>
              <a:srgbClr val="061B3F"/>
            </a:solidFill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729154" y="3862388"/>
            <a:ext cx="5977446" cy="3028950"/>
            <a:chOff x="0" y="0"/>
            <a:chExt cx="7969929" cy="4038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969928" cy="4038600"/>
            </a:xfrm>
            <a:custGeom>
              <a:avLst/>
              <a:gdLst/>
              <a:ahLst/>
              <a:cxnLst/>
              <a:rect l="l" t="t" r="r" b="b"/>
              <a:pathLst>
                <a:path w="7969928" h="4038600">
                  <a:moveTo>
                    <a:pt x="0" y="0"/>
                  </a:moveTo>
                  <a:lnTo>
                    <a:pt x="7969928" y="0"/>
                  </a:lnTo>
                  <a:lnTo>
                    <a:pt x="7969928" y="4038600"/>
                  </a:lnTo>
                  <a:lnTo>
                    <a:pt x="0" y="4038600"/>
                  </a:lnTo>
                  <a:close/>
                </a:path>
              </a:pathLst>
            </a:custGeom>
            <a:solidFill>
              <a:srgbClr val="092A5C"/>
            </a:solidFill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152900" y="3652837"/>
            <a:ext cx="1490365" cy="41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 b="1">
                <a:solidFill>
                  <a:srgbClr val="00BAFF"/>
                </a:solidFill>
                <a:latin typeface="Arial Bold"/>
                <a:ea typeface="Arial Bold"/>
                <a:cs typeface="Arial Bold"/>
                <a:sym typeface="Arial Bold"/>
              </a:rPr>
              <a:t>Projektion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52900" y="4243387"/>
            <a:ext cx="4762500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1800">
                <a:solidFill>
                  <a:srgbClr val="D7E2EF"/>
                </a:solidFill>
                <a:latin typeface="Arial"/>
                <a:ea typeface="Arial"/>
                <a:cs typeface="Arial"/>
                <a:sym typeface="Arial"/>
              </a:rPr>
              <a:t>Fakturaflowet bruges til at måle effekt på tid, kontaktkvalitet og efterarbejde.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52900" y="5091112"/>
            <a:ext cx="4762500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42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7:08 → 3:38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20212" y="4300537"/>
            <a:ext cx="400050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Transformation value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55265" y="4786313"/>
            <a:ext cx="4762500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1800">
                <a:solidFill>
                  <a:srgbClr val="EAF0FF"/>
                </a:solidFill>
                <a:latin typeface="Arial"/>
                <a:ea typeface="Arial"/>
                <a:cs typeface="Arial"/>
                <a:sym typeface="Arial"/>
              </a:rPr>
              <a:t>Når agentmønsteret genbruges på 3-4 servicejourneys, bliver løsningen en ny operating model.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34500" y="5643562"/>
            <a:ext cx="3030141" cy="687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3"/>
              </a:lnSpc>
            </a:pPr>
            <a:r>
              <a:rPr lang="en-US" sz="40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DKK 30-45m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72600" y="6309170"/>
            <a:ext cx="4038600" cy="753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500">
                <a:solidFill>
                  <a:srgbClr val="EAF0FF"/>
                </a:solidFill>
                <a:latin typeface="Arial"/>
                <a:ea typeface="Arial"/>
                <a:cs typeface="Arial"/>
                <a:sym typeface="Arial"/>
              </a:rPr>
              <a:t>årlig værdipotentiale ved skalering på tværs af 3-4 servicejourneys</a:t>
            </a:r>
          </a:p>
          <a:p>
            <a:pPr algn="l">
              <a:lnSpc>
                <a:spcPts val="2016"/>
              </a:lnSpc>
            </a:pPr>
            <a:endParaRPr lang="en-US" sz="1500">
              <a:solidFill>
                <a:srgbClr val="EAF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524000" y="7543800"/>
            <a:ext cx="3429000" cy="1200150"/>
            <a:chOff x="0" y="0"/>
            <a:chExt cx="4572000" cy="1600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572000" cy="1600200"/>
            </a:xfrm>
            <a:custGeom>
              <a:avLst/>
              <a:gdLst/>
              <a:ahLst/>
              <a:cxnLst/>
              <a:rect l="l" t="t" r="r" b="b"/>
              <a:pathLst>
                <a:path w="4572000" h="1600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4470400" y="0"/>
                  </a:lnTo>
                  <a:cubicBezTo>
                    <a:pt x="4526534" y="0"/>
                    <a:pt x="4572000" y="45466"/>
                    <a:pt x="4572000" y="101600"/>
                  </a:cubicBezTo>
                  <a:lnTo>
                    <a:pt x="4572000" y="1498600"/>
                  </a:lnTo>
                  <a:cubicBezTo>
                    <a:pt x="4572000" y="1554734"/>
                    <a:pt x="4526534" y="1600200"/>
                    <a:pt x="4470400" y="1600200"/>
                  </a:cubicBezTo>
                  <a:lnTo>
                    <a:pt x="101600" y="1600200"/>
                  </a:lnTo>
                  <a:cubicBezTo>
                    <a:pt x="45466" y="1600200"/>
                    <a:pt x="0" y="1554734"/>
                    <a:pt x="0" y="1498600"/>
                  </a:cubicBezTo>
                  <a:close/>
                </a:path>
              </a:pathLst>
            </a:custGeom>
            <a:solidFill>
              <a:srgbClr val="E7E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43038" y="7443788"/>
            <a:ext cx="3438525" cy="1209675"/>
            <a:chOff x="0" y="0"/>
            <a:chExt cx="4584700" cy="16129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584700" cy="1612900"/>
            </a:xfrm>
            <a:custGeom>
              <a:avLst/>
              <a:gdLst/>
              <a:ahLst/>
              <a:cxnLst/>
              <a:rect l="l" t="t" r="r" b="b"/>
              <a:pathLst>
                <a:path w="4584700" h="1612900">
                  <a:moveTo>
                    <a:pt x="0" y="102362"/>
                  </a:moveTo>
                  <a:cubicBezTo>
                    <a:pt x="0" y="45847"/>
                    <a:pt x="45847" y="0"/>
                    <a:pt x="102362" y="0"/>
                  </a:cubicBezTo>
                  <a:lnTo>
                    <a:pt x="4482338" y="0"/>
                  </a:lnTo>
                  <a:cubicBezTo>
                    <a:pt x="4538853" y="0"/>
                    <a:pt x="4584700" y="45847"/>
                    <a:pt x="4584700" y="102362"/>
                  </a:cubicBezTo>
                  <a:lnTo>
                    <a:pt x="4584700" y="1510538"/>
                  </a:lnTo>
                  <a:cubicBezTo>
                    <a:pt x="4584700" y="1567053"/>
                    <a:pt x="4538853" y="1612900"/>
                    <a:pt x="4482338" y="1612900"/>
                  </a:cubicBezTo>
                  <a:lnTo>
                    <a:pt x="102362" y="1612900"/>
                  </a:lnTo>
                  <a:cubicBezTo>
                    <a:pt x="45847" y="1612900"/>
                    <a:pt x="0" y="1567053"/>
                    <a:pt x="0" y="151053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7F1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695450" y="7715250"/>
            <a:ext cx="219075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D7584"/>
                </a:solidFill>
                <a:latin typeface="Arial Bold"/>
                <a:ea typeface="Arial Bold"/>
                <a:cs typeface="Arial Bold"/>
                <a:sym typeface="Arial Bold"/>
              </a:rPr>
              <a:t>Tid pr. sag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95450" y="8191500"/>
            <a:ext cx="266700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7:08 → 3:38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429250" y="7543800"/>
            <a:ext cx="3429000" cy="1200150"/>
            <a:chOff x="0" y="0"/>
            <a:chExt cx="4572000" cy="1600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572000" cy="1600200"/>
            </a:xfrm>
            <a:custGeom>
              <a:avLst/>
              <a:gdLst/>
              <a:ahLst/>
              <a:cxnLst/>
              <a:rect l="l" t="t" r="r" b="b"/>
              <a:pathLst>
                <a:path w="4572000" h="1600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4470400" y="0"/>
                  </a:lnTo>
                  <a:cubicBezTo>
                    <a:pt x="4526534" y="0"/>
                    <a:pt x="4572000" y="45466"/>
                    <a:pt x="4572000" y="101600"/>
                  </a:cubicBezTo>
                  <a:lnTo>
                    <a:pt x="4572000" y="1498600"/>
                  </a:lnTo>
                  <a:cubicBezTo>
                    <a:pt x="4572000" y="1554734"/>
                    <a:pt x="4526534" y="1600200"/>
                    <a:pt x="4470400" y="1600200"/>
                  </a:cubicBezTo>
                  <a:lnTo>
                    <a:pt x="101600" y="1600200"/>
                  </a:lnTo>
                  <a:cubicBezTo>
                    <a:pt x="45466" y="1600200"/>
                    <a:pt x="0" y="1554734"/>
                    <a:pt x="0" y="1498600"/>
                  </a:cubicBezTo>
                  <a:close/>
                </a:path>
              </a:pathLst>
            </a:custGeom>
            <a:solidFill>
              <a:srgbClr val="E7E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48288" y="7443788"/>
            <a:ext cx="3438525" cy="1209675"/>
            <a:chOff x="0" y="0"/>
            <a:chExt cx="4584700" cy="16129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584700" cy="1612900"/>
            </a:xfrm>
            <a:custGeom>
              <a:avLst/>
              <a:gdLst/>
              <a:ahLst/>
              <a:cxnLst/>
              <a:rect l="l" t="t" r="r" b="b"/>
              <a:pathLst>
                <a:path w="4584700" h="1612900">
                  <a:moveTo>
                    <a:pt x="0" y="102362"/>
                  </a:moveTo>
                  <a:cubicBezTo>
                    <a:pt x="0" y="45847"/>
                    <a:pt x="45847" y="0"/>
                    <a:pt x="102362" y="0"/>
                  </a:cubicBezTo>
                  <a:lnTo>
                    <a:pt x="4482338" y="0"/>
                  </a:lnTo>
                  <a:cubicBezTo>
                    <a:pt x="4538853" y="0"/>
                    <a:pt x="4584700" y="45847"/>
                    <a:pt x="4584700" y="102362"/>
                  </a:cubicBezTo>
                  <a:lnTo>
                    <a:pt x="4584700" y="1510538"/>
                  </a:lnTo>
                  <a:cubicBezTo>
                    <a:pt x="4584700" y="1567053"/>
                    <a:pt x="4538853" y="1612900"/>
                    <a:pt x="4482338" y="1612900"/>
                  </a:cubicBezTo>
                  <a:lnTo>
                    <a:pt x="102362" y="1612900"/>
                  </a:lnTo>
                  <a:cubicBezTo>
                    <a:pt x="45847" y="1612900"/>
                    <a:pt x="0" y="1567053"/>
                    <a:pt x="0" y="151053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7F1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5600700" y="7715250"/>
            <a:ext cx="219075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D7584"/>
                </a:solidFill>
                <a:latin typeface="Arial Bold"/>
                <a:ea typeface="Arial Bold"/>
                <a:cs typeface="Arial Bold"/>
                <a:sym typeface="Arial Bold"/>
              </a:rPr>
              <a:t>Løst i første kontakt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600700" y="8191500"/>
            <a:ext cx="266700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1">
                <a:solidFill>
                  <a:srgbClr val="2FC3D7"/>
                </a:solidFill>
                <a:latin typeface="Arial Bold"/>
                <a:ea typeface="Arial Bold"/>
                <a:cs typeface="Arial Bold"/>
                <a:sym typeface="Arial Bold"/>
              </a:rPr>
              <a:t>92% → 97%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334500" y="7543800"/>
            <a:ext cx="3429000" cy="1200150"/>
            <a:chOff x="0" y="0"/>
            <a:chExt cx="4572000" cy="1600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572000" cy="1600200"/>
            </a:xfrm>
            <a:custGeom>
              <a:avLst/>
              <a:gdLst/>
              <a:ahLst/>
              <a:cxnLst/>
              <a:rect l="l" t="t" r="r" b="b"/>
              <a:pathLst>
                <a:path w="4572000" h="1600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4470400" y="0"/>
                  </a:lnTo>
                  <a:cubicBezTo>
                    <a:pt x="4526534" y="0"/>
                    <a:pt x="4572000" y="45466"/>
                    <a:pt x="4572000" y="101600"/>
                  </a:cubicBezTo>
                  <a:lnTo>
                    <a:pt x="4572000" y="1498600"/>
                  </a:lnTo>
                  <a:cubicBezTo>
                    <a:pt x="4572000" y="1554734"/>
                    <a:pt x="4526534" y="1600200"/>
                    <a:pt x="4470400" y="1600200"/>
                  </a:cubicBezTo>
                  <a:lnTo>
                    <a:pt x="101600" y="1600200"/>
                  </a:lnTo>
                  <a:cubicBezTo>
                    <a:pt x="45466" y="1600200"/>
                    <a:pt x="0" y="1554734"/>
                    <a:pt x="0" y="1498600"/>
                  </a:cubicBezTo>
                  <a:close/>
                </a:path>
              </a:pathLst>
            </a:custGeom>
            <a:solidFill>
              <a:srgbClr val="E7E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253538" y="7443788"/>
            <a:ext cx="3438525" cy="1209675"/>
            <a:chOff x="0" y="0"/>
            <a:chExt cx="4584700" cy="16129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584700" cy="1612900"/>
            </a:xfrm>
            <a:custGeom>
              <a:avLst/>
              <a:gdLst/>
              <a:ahLst/>
              <a:cxnLst/>
              <a:rect l="l" t="t" r="r" b="b"/>
              <a:pathLst>
                <a:path w="4584700" h="1612900">
                  <a:moveTo>
                    <a:pt x="0" y="102362"/>
                  </a:moveTo>
                  <a:cubicBezTo>
                    <a:pt x="0" y="45847"/>
                    <a:pt x="45847" y="0"/>
                    <a:pt x="102362" y="0"/>
                  </a:cubicBezTo>
                  <a:lnTo>
                    <a:pt x="4482338" y="0"/>
                  </a:lnTo>
                  <a:cubicBezTo>
                    <a:pt x="4538853" y="0"/>
                    <a:pt x="4584700" y="45847"/>
                    <a:pt x="4584700" y="102362"/>
                  </a:cubicBezTo>
                  <a:lnTo>
                    <a:pt x="4584700" y="1510538"/>
                  </a:lnTo>
                  <a:cubicBezTo>
                    <a:pt x="4584700" y="1567053"/>
                    <a:pt x="4538853" y="1612900"/>
                    <a:pt x="4482338" y="1612900"/>
                  </a:cubicBezTo>
                  <a:lnTo>
                    <a:pt x="102362" y="1612900"/>
                  </a:lnTo>
                  <a:cubicBezTo>
                    <a:pt x="45847" y="1612900"/>
                    <a:pt x="0" y="1567053"/>
                    <a:pt x="0" y="151053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7F1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505950" y="7715250"/>
            <a:ext cx="219075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D7584"/>
                </a:solidFill>
                <a:latin typeface="Arial Bold"/>
                <a:ea typeface="Arial Bold"/>
                <a:cs typeface="Arial Bold"/>
                <a:sym typeface="Arial Bold"/>
              </a:rPr>
              <a:t>Efterbehandling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05950" y="8191500"/>
            <a:ext cx="266700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1:24 → 0:38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3239750" y="7543800"/>
            <a:ext cx="3429000" cy="1200150"/>
            <a:chOff x="0" y="0"/>
            <a:chExt cx="4572000" cy="16002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572000" cy="1600200"/>
            </a:xfrm>
            <a:custGeom>
              <a:avLst/>
              <a:gdLst/>
              <a:ahLst/>
              <a:cxnLst/>
              <a:rect l="l" t="t" r="r" b="b"/>
              <a:pathLst>
                <a:path w="4572000" h="1600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4470400" y="0"/>
                  </a:lnTo>
                  <a:cubicBezTo>
                    <a:pt x="4526534" y="0"/>
                    <a:pt x="4572000" y="45466"/>
                    <a:pt x="4572000" y="101600"/>
                  </a:cubicBezTo>
                  <a:lnTo>
                    <a:pt x="4572000" y="1498600"/>
                  </a:lnTo>
                  <a:cubicBezTo>
                    <a:pt x="4572000" y="1554734"/>
                    <a:pt x="4526534" y="1600200"/>
                    <a:pt x="4470400" y="1600200"/>
                  </a:cubicBezTo>
                  <a:lnTo>
                    <a:pt x="101600" y="1600200"/>
                  </a:lnTo>
                  <a:cubicBezTo>
                    <a:pt x="45466" y="1600200"/>
                    <a:pt x="0" y="1554734"/>
                    <a:pt x="0" y="1498600"/>
                  </a:cubicBezTo>
                  <a:close/>
                </a:path>
              </a:pathLst>
            </a:custGeom>
            <a:solidFill>
              <a:srgbClr val="E7E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158788" y="7443788"/>
            <a:ext cx="3438525" cy="1209675"/>
            <a:chOff x="0" y="0"/>
            <a:chExt cx="4584700" cy="16129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584700" cy="1612900"/>
            </a:xfrm>
            <a:custGeom>
              <a:avLst/>
              <a:gdLst/>
              <a:ahLst/>
              <a:cxnLst/>
              <a:rect l="l" t="t" r="r" b="b"/>
              <a:pathLst>
                <a:path w="4584700" h="1612900">
                  <a:moveTo>
                    <a:pt x="0" y="102362"/>
                  </a:moveTo>
                  <a:cubicBezTo>
                    <a:pt x="0" y="45847"/>
                    <a:pt x="45847" y="0"/>
                    <a:pt x="102362" y="0"/>
                  </a:cubicBezTo>
                  <a:lnTo>
                    <a:pt x="4482338" y="0"/>
                  </a:lnTo>
                  <a:cubicBezTo>
                    <a:pt x="4538853" y="0"/>
                    <a:pt x="4584700" y="45847"/>
                    <a:pt x="4584700" y="102362"/>
                  </a:cubicBezTo>
                  <a:lnTo>
                    <a:pt x="4584700" y="1510538"/>
                  </a:lnTo>
                  <a:cubicBezTo>
                    <a:pt x="4584700" y="1567053"/>
                    <a:pt x="4538853" y="1612900"/>
                    <a:pt x="4482338" y="1612900"/>
                  </a:cubicBezTo>
                  <a:lnTo>
                    <a:pt x="102362" y="1612900"/>
                  </a:lnTo>
                  <a:cubicBezTo>
                    <a:pt x="45847" y="1612900"/>
                    <a:pt x="0" y="1567053"/>
                    <a:pt x="0" y="151053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7F1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3411200" y="7715250"/>
            <a:ext cx="219075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D7584"/>
                </a:solidFill>
                <a:latin typeface="Arial Bold"/>
                <a:ea typeface="Arial Bold"/>
                <a:cs typeface="Arial Bold"/>
                <a:sym typeface="Arial Bold"/>
              </a:rPr>
              <a:t>Kundetilfredshed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411200" y="8191500"/>
            <a:ext cx="266700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4,1 → 4,6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43038" y="8993734"/>
            <a:ext cx="14287500" cy="224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3"/>
              </a:lnSpc>
            </a:pPr>
            <a:r>
              <a:rPr lang="en-US" sz="1275">
                <a:solidFill>
                  <a:srgbClr val="6D7584"/>
                </a:solidFill>
                <a:latin typeface="Arial"/>
                <a:ea typeface="Arial"/>
                <a:cs typeface="Arial"/>
                <a:sym typeface="Arial"/>
              </a:rPr>
              <a:t>Baseline: 640k årlige fakturasager, ca. 3:30 min. sparet pr. sag, DKK 425-550 pr. fuldt lastet behandlingstime.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76300" y="9667875"/>
            <a:ext cx="723900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9"/>
              </a:lnSpc>
            </a:pPr>
            <a:r>
              <a:rPr lang="en-US" sz="900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rPr>
              <a:t>© 2026 KPMG P/S · Arbejdsmateriale til Company X case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621000" y="9667875"/>
            <a:ext cx="142875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09"/>
              </a:lnSpc>
            </a:pPr>
            <a:r>
              <a:rPr lang="en-US" sz="900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rPr>
              <a:t>Business case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7297400" y="9620250"/>
            <a:ext cx="2667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sz="13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9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76300" y="9667875"/>
            <a:ext cx="723900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9"/>
              </a:lnSpc>
            </a:pPr>
            <a:r>
              <a:rPr lang="en-US" sz="900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rPr>
              <a:t>© 2026 KPMG P/S · Arbejdsmateriale til Company X case</a:t>
            </a:r>
          </a:p>
        </p:txBody>
      </p:sp>
      <p:sp>
        <p:nvSpPr>
          <p:cNvPr id="46" name="Freeform 46"/>
          <p:cNvSpPr/>
          <p:nvPr/>
        </p:nvSpPr>
        <p:spPr>
          <a:xfrm>
            <a:off x="876300" y="9476345"/>
            <a:ext cx="456796" cy="182005"/>
          </a:xfrm>
          <a:custGeom>
            <a:avLst/>
            <a:gdLst/>
            <a:ahLst/>
            <a:cxnLst/>
            <a:rect l="l" t="t" r="r" b="b"/>
            <a:pathLst>
              <a:path w="456796" h="182005">
                <a:moveTo>
                  <a:pt x="0" y="0"/>
                </a:moveTo>
                <a:lnTo>
                  <a:pt x="456796" y="0"/>
                </a:lnTo>
                <a:lnTo>
                  <a:pt x="456796" y="182005"/>
                </a:lnTo>
                <a:lnTo>
                  <a:pt x="0" y="1820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grpSp>
        <p:nvGrpSpPr>
          <p:cNvPr id="47" name="Group 32">
            <a:extLst>
              <a:ext uri="{FF2B5EF4-FFF2-40B4-BE49-F238E27FC236}">
                <a16:creationId xmlns:a16="http://schemas.microsoft.com/office/drawing/2014/main" id="{736AE5AE-A558-C762-C535-01E1D3F95E13}"/>
              </a:ext>
            </a:extLst>
          </p:cNvPr>
          <p:cNvGrpSpPr/>
          <p:nvPr/>
        </p:nvGrpSpPr>
        <p:grpSpPr>
          <a:xfrm rot="381449">
            <a:off x="17164050" y="9647389"/>
            <a:ext cx="19050" cy="190500"/>
            <a:chOff x="0" y="0"/>
            <a:chExt cx="25400" cy="254000"/>
          </a:xfrm>
        </p:grpSpPr>
        <p:sp>
          <p:nvSpPr>
            <p:cNvPr id="48" name="Freeform 33">
              <a:extLst>
                <a:ext uri="{FF2B5EF4-FFF2-40B4-BE49-F238E27FC236}">
                  <a16:creationId xmlns:a16="http://schemas.microsoft.com/office/drawing/2014/main" id="{8F722FA0-0846-272F-ABF0-D36B7BA97B5F}"/>
                </a:ext>
              </a:extLst>
            </p:cNvPr>
            <p:cNvSpPr/>
            <p:nvPr/>
          </p:nvSpPr>
          <p:spPr>
            <a:xfrm>
              <a:off x="0" y="0"/>
              <a:ext cx="25400" cy="254000"/>
            </a:xfrm>
            <a:custGeom>
              <a:avLst/>
              <a:gdLst/>
              <a:ahLst/>
              <a:cxnLst/>
              <a:rect l="l" t="t" r="r" b="b"/>
              <a:pathLst>
                <a:path w="25400" h="254000">
                  <a:moveTo>
                    <a:pt x="0" y="0"/>
                  </a:moveTo>
                  <a:lnTo>
                    <a:pt x="25400" y="2540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233035" r="-1233035"/>
              </a:stretch>
            </a:blipFill>
            <a:ln w="19050" cap="sq">
              <a:solidFill>
                <a:srgbClr val="061B3F"/>
              </a:solidFill>
              <a:prstDash val="solid"/>
              <a:miter/>
            </a:ln>
          </p:spPr>
          <p:txBody>
            <a:bodyPr/>
            <a:lstStyle/>
            <a:p>
              <a:endParaRPr lang="da-DK" dirty="0"/>
            </a:p>
          </p:txBody>
        </p:sp>
      </p:grp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6300" y="666750"/>
            <a:ext cx="409575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i="1">
                <a:solidFill>
                  <a:srgbClr val="00BA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Anbefaling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6300" y="1266825"/>
            <a:ext cx="9906000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14"/>
              </a:lnSpc>
            </a:pPr>
            <a:r>
              <a:rPr lang="en-US" sz="480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Byg et 12-måneders program</a:t>
            </a:r>
          </a:p>
          <a:p>
            <a:pPr algn="l">
              <a:lnSpc>
                <a:spcPts val="5414"/>
              </a:lnSpc>
            </a:pPr>
            <a:r>
              <a:rPr lang="en-US" sz="480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ikke en isoleret AI-demo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57350" y="3562350"/>
            <a:ext cx="4476750" cy="3429000"/>
            <a:chOff x="0" y="0"/>
            <a:chExt cx="5969000" cy="4572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69000" cy="4572000"/>
            </a:xfrm>
            <a:custGeom>
              <a:avLst/>
              <a:gdLst/>
              <a:ahLst/>
              <a:cxnLst/>
              <a:rect l="l" t="t" r="r" b="b"/>
              <a:pathLst>
                <a:path w="5969000" h="4572000">
                  <a:moveTo>
                    <a:pt x="127000" y="0"/>
                  </a:moveTo>
                  <a:lnTo>
                    <a:pt x="5842000" y="0"/>
                  </a:lnTo>
                  <a:cubicBezTo>
                    <a:pt x="5912140" y="0"/>
                    <a:pt x="5969000" y="56860"/>
                    <a:pt x="5969000" y="127000"/>
                  </a:cubicBezTo>
                  <a:lnTo>
                    <a:pt x="5969000" y="4445000"/>
                  </a:lnTo>
                  <a:cubicBezTo>
                    <a:pt x="5969000" y="4515140"/>
                    <a:pt x="5912140" y="4572000"/>
                    <a:pt x="5842000" y="4572000"/>
                  </a:cubicBezTo>
                  <a:lnTo>
                    <a:pt x="127000" y="4572000"/>
                  </a:lnTo>
                  <a:cubicBezTo>
                    <a:pt x="56860" y="4572000"/>
                    <a:pt x="0" y="4515140"/>
                    <a:pt x="0" y="4445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3EBF4"/>
            </a:solidFill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43050" y="3429000"/>
            <a:ext cx="4476750" cy="3429000"/>
            <a:chOff x="0" y="0"/>
            <a:chExt cx="5969000" cy="4572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969000" cy="4572000"/>
            </a:xfrm>
            <a:custGeom>
              <a:avLst/>
              <a:gdLst/>
              <a:ahLst/>
              <a:cxnLst/>
              <a:rect l="l" t="t" r="r" b="b"/>
              <a:pathLst>
                <a:path w="5969000" h="4572000">
                  <a:moveTo>
                    <a:pt x="127000" y="0"/>
                  </a:moveTo>
                  <a:lnTo>
                    <a:pt x="5842000" y="0"/>
                  </a:lnTo>
                  <a:cubicBezTo>
                    <a:pt x="5912140" y="0"/>
                    <a:pt x="5969000" y="56860"/>
                    <a:pt x="5969000" y="127000"/>
                  </a:cubicBezTo>
                  <a:lnTo>
                    <a:pt x="5969000" y="4445000"/>
                  </a:lnTo>
                  <a:cubicBezTo>
                    <a:pt x="5969000" y="4515140"/>
                    <a:pt x="5912140" y="4572000"/>
                    <a:pt x="5842000" y="4572000"/>
                  </a:cubicBezTo>
                  <a:lnTo>
                    <a:pt x="127000" y="4572000"/>
                  </a:lnTo>
                  <a:cubicBezTo>
                    <a:pt x="56860" y="4572000"/>
                    <a:pt x="0" y="4515140"/>
                    <a:pt x="0" y="4445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D8F5F8"/>
            </a:solidFill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66900" y="3829050"/>
            <a:ext cx="1037555" cy="35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0-2 mdr.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66900" y="4562475"/>
            <a:ext cx="3286125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lang="en-US" sz="31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Baseline</a:t>
            </a:r>
          </a:p>
          <a:p>
            <a:pPr algn="l">
              <a:lnSpc>
                <a:spcPts val="3628"/>
              </a:lnSpc>
            </a:pPr>
            <a:r>
              <a:rPr lang="en-US" sz="31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og pilot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66900" y="5857875"/>
            <a:ext cx="3429000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7"/>
              </a:lnSpc>
            </a:pPr>
            <a:r>
              <a:rPr lang="en-US" sz="1650">
                <a:solidFill>
                  <a:srgbClr val="061B3F"/>
                </a:solidFill>
                <a:latin typeface="Arial"/>
                <a:ea typeface="Arial"/>
                <a:cs typeface="Arial"/>
                <a:sym typeface="Arial"/>
              </a:rPr>
              <a:t>Datakilder, KPI-baseline og fakturaflow i kontrolleret pilot.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610350" y="3562350"/>
            <a:ext cx="4476750" cy="3429000"/>
            <a:chOff x="0" y="0"/>
            <a:chExt cx="5969000" cy="4572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969000" cy="4572000"/>
            </a:xfrm>
            <a:custGeom>
              <a:avLst/>
              <a:gdLst/>
              <a:ahLst/>
              <a:cxnLst/>
              <a:rect l="l" t="t" r="r" b="b"/>
              <a:pathLst>
                <a:path w="5969000" h="4572000">
                  <a:moveTo>
                    <a:pt x="127000" y="0"/>
                  </a:moveTo>
                  <a:lnTo>
                    <a:pt x="5842000" y="0"/>
                  </a:lnTo>
                  <a:cubicBezTo>
                    <a:pt x="5912140" y="0"/>
                    <a:pt x="5969000" y="56860"/>
                    <a:pt x="5969000" y="127000"/>
                  </a:cubicBezTo>
                  <a:lnTo>
                    <a:pt x="5969000" y="4445000"/>
                  </a:lnTo>
                  <a:cubicBezTo>
                    <a:pt x="5969000" y="4515140"/>
                    <a:pt x="5912140" y="4572000"/>
                    <a:pt x="5842000" y="4572000"/>
                  </a:cubicBezTo>
                  <a:lnTo>
                    <a:pt x="127000" y="4572000"/>
                  </a:lnTo>
                  <a:cubicBezTo>
                    <a:pt x="56860" y="4572000"/>
                    <a:pt x="0" y="4515140"/>
                    <a:pt x="0" y="4445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3EBF4"/>
            </a:solidFill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96050" y="3429000"/>
            <a:ext cx="4476750" cy="3429000"/>
            <a:chOff x="0" y="0"/>
            <a:chExt cx="5969000" cy="4572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969000" cy="4572000"/>
            </a:xfrm>
            <a:custGeom>
              <a:avLst/>
              <a:gdLst/>
              <a:ahLst/>
              <a:cxnLst/>
              <a:rect l="l" t="t" r="r" b="b"/>
              <a:pathLst>
                <a:path w="5969000" h="4572000">
                  <a:moveTo>
                    <a:pt x="127000" y="0"/>
                  </a:moveTo>
                  <a:lnTo>
                    <a:pt x="5842000" y="0"/>
                  </a:lnTo>
                  <a:cubicBezTo>
                    <a:pt x="5912140" y="0"/>
                    <a:pt x="5969000" y="56860"/>
                    <a:pt x="5969000" y="127000"/>
                  </a:cubicBezTo>
                  <a:lnTo>
                    <a:pt x="5969000" y="4445000"/>
                  </a:lnTo>
                  <a:cubicBezTo>
                    <a:pt x="5969000" y="4515140"/>
                    <a:pt x="5912140" y="4572000"/>
                    <a:pt x="5842000" y="4572000"/>
                  </a:cubicBezTo>
                  <a:lnTo>
                    <a:pt x="127000" y="4572000"/>
                  </a:lnTo>
                  <a:cubicBezTo>
                    <a:pt x="56860" y="4572000"/>
                    <a:pt x="0" y="4515140"/>
                    <a:pt x="0" y="4445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61B3F"/>
            </a:solidFill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819900" y="3829050"/>
            <a:ext cx="200025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3-6 mdr.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19900" y="4562475"/>
            <a:ext cx="3286125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lang="en-US" sz="31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Integration</a:t>
            </a:r>
          </a:p>
          <a:p>
            <a:pPr algn="l">
              <a:lnSpc>
                <a:spcPts val="3628"/>
              </a:lnSpc>
            </a:pPr>
            <a:r>
              <a:rPr lang="en-US" sz="31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og governance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19900" y="5857875"/>
            <a:ext cx="3429000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7"/>
              </a:lnSpc>
            </a:pPr>
            <a:r>
              <a:rPr lang="en-US" sz="1650">
                <a:solidFill>
                  <a:srgbClr val="EAF0FF"/>
                </a:solidFill>
                <a:latin typeface="Arial"/>
                <a:ea typeface="Arial"/>
                <a:cs typeface="Arial"/>
                <a:sym typeface="Arial"/>
              </a:rPr>
              <a:t>Copilot Studio/Power Platform, datakontrol, human approval og change.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563350" y="3562350"/>
            <a:ext cx="4476750" cy="3429000"/>
            <a:chOff x="0" y="0"/>
            <a:chExt cx="5969000" cy="4572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969000" cy="4572000"/>
            </a:xfrm>
            <a:custGeom>
              <a:avLst/>
              <a:gdLst/>
              <a:ahLst/>
              <a:cxnLst/>
              <a:rect l="l" t="t" r="r" b="b"/>
              <a:pathLst>
                <a:path w="5969000" h="4572000">
                  <a:moveTo>
                    <a:pt x="127000" y="0"/>
                  </a:moveTo>
                  <a:lnTo>
                    <a:pt x="5842000" y="0"/>
                  </a:lnTo>
                  <a:cubicBezTo>
                    <a:pt x="5912140" y="0"/>
                    <a:pt x="5969000" y="56860"/>
                    <a:pt x="5969000" y="127000"/>
                  </a:cubicBezTo>
                  <a:lnTo>
                    <a:pt x="5969000" y="4445000"/>
                  </a:lnTo>
                  <a:cubicBezTo>
                    <a:pt x="5969000" y="4515140"/>
                    <a:pt x="5912140" y="4572000"/>
                    <a:pt x="5842000" y="4572000"/>
                  </a:cubicBezTo>
                  <a:lnTo>
                    <a:pt x="127000" y="4572000"/>
                  </a:lnTo>
                  <a:cubicBezTo>
                    <a:pt x="56860" y="4572000"/>
                    <a:pt x="0" y="4515140"/>
                    <a:pt x="0" y="4445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3EBF4"/>
            </a:solidFill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49050" y="3429000"/>
            <a:ext cx="4476750" cy="3429000"/>
            <a:chOff x="0" y="0"/>
            <a:chExt cx="5969000" cy="4572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969000" cy="4572000"/>
            </a:xfrm>
            <a:custGeom>
              <a:avLst/>
              <a:gdLst/>
              <a:ahLst/>
              <a:cxnLst/>
              <a:rect l="l" t="t" r="r" b="b"/>
              <a:pathLst>
                <a:path w="5969000" h="4572000">
                  <a:moveTo>
                    <a:pt x="127000" y="0"/>
                  </a:moveTo>
                  <a:lnTo>
                    <a:pt x="5842000" y="0"/>
                  </a:lnTo>
                  <a:cubicBezTo>
                    <a:pt x="5912140" y="0"/>
                    <a:pt x="5969000" y="56860"/>
                    <a:pt x="5969000" y="127000"/>
                  </a:cubicBezTo>
                  <a:lnTo>
                    <a:pt x="5969000" y="4445000"/>
                  </a:lnTo>
                  <a:cubicBezTo>
                    <a:pt x="5969000" y="4515140"/>
                    <a:pt x="5912140" y="4572000"/>
                    <a:pt x="5842000" y="4572000"/>
                  </a:cubicBezTo>
                  <a:lnTo>
                    <a:pt x="127000" y="4572000"/>
                  </a:lnTo>
                  <a:cubicBezTo>
                    <a:pt x="56860" y="4572000"/>
                    <a:pt x="0" y="4515140"/>
                    <a:pt x="0" y="4445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0BAFF"/>
            </a:solidFill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772900" y="3829050"/>
            <a:ext cx="200025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6-12 mdr.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772900" y="4562475"/>
            <a:ext cx="3286125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lang="en-US" sz="31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Skalering</a:t>
            </a:r>
          </a:p>
          <a:p>
            <a:pPr algn="l">
              <a:lnSpc>
                <a:spcPts val="3628"/>
              </a:lnSpc>
            </a:pPr>
            <a:r>
              <a:rPr lang="en-US" sz="31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på journeys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772900" y="5857875"/>
            <a:ext cx="3429000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7"/>
              </a:lnSpc>
            </a:pPr>
            <a:r>
              <a:rPr lang="en-US" sz="1650">
                <a:solidFill>
                  <a:srgbClr val="061B3F"/>
                </a:solidFill>
                <a:latin typeface="Arial"/>
                <a:ea typeface="Arial"/>
                <a:cs typeface="Arial"/>
                <a:sym typeface="Arial"/>
              </a:rPr>
              <a:t>Genbrug agentmønster på abonnement, drift, opsigelse og back-office.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2286000" y="7829550"/>
            <a:ext cx="13868400" cy="914400"/>
            <a:chOff x="0" y="0"/>
            <a:chExt cx="18491200" cy="1219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8491200" cy="1219200"/>
            </a:xfrm>
            <a:custGeom>
              <a:avLst/>
              <a:gdLst/>
              <a:ahLst/>
              <a:cxnLst/>
              <a:rect l="l" t="t" r="r" b="b"/>
              <a:pathLst>
                <a:path w="18491200" h="1219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8389600" y="0"/>
                  </a:lnTo>
                  <a:cubicBezTo>
                    <a:pt x="18445735" y="0"/>
                    <a:pt x="18491200" y="45466"/>
                    <a:pt x="18491200" y="101600"/>
                  </a:cubicBezTo>
                  <a:lnTo>
                    <a:pt x="18491200" y="1117600"/>
                  </a:lnTo>
                  <a:cubicBezTo>
                    <a:pt x="18491200" y="1173734"/>
                    <a:pt x="18445735" y="1219200"/>
                    <a:pt x="18389600" y="1219200"/>
                  </a:cubicBezTo>
                  <a:lnTo>
                    <a:pt x="101600" y="1219200"/>
                  </a:lnTo>
                  <a:cubicBezTo>
                    <a:pt x="45466" y="1219200"/>
                    <a:pt x="0" y="1173734"/>
                    <a:pt x="0" y="1117600"/>
                  </a:cubicBezTo>
                  <a:close/>
                </a:path>
              </a:pathLst>
            </a:custGeom>
            <a:solidFill>
              <a:srgbClr val="E7E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205038" y="7729538"/>
            <a:ext cx="13877925" cy="923925"/>
            <a:chOff x="0" y="0"/>
            <a:chExt cx="18503900" cy="12319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503900" cy="1231900"/>
            </a:xfrm>
            <a:custGeom>
              <a:avLst/>
              <a:gdLst/>
              <a:ahLst/>
              <a:cxnLst/>
              <a:rect l="l" t="t" r="r" b="b"/>
              <a:pathLst>
                <a:path w="18503900" h="1231900">
                  <a:moveTo>
                    <a:pt x="0" y="102616"/>
                  </a:moveTo>
                  <a:cubicBezTo>
                    <a:pt x="0" y="45974"/>
                    <a:pt x="45974" y="0"/>
                    <a:pt x="102616" y="0"/>
                  </a:cubicBezTo>
                  <a:lnTo>
                    <a:pt x="18401285" y="0"/>
                  </a:lnTo>
                  <a:cubicBezTo>
                    <a:pt x="18457926" y="0"/>
                    <a:pt x="18503900" y="45974"/>
                    <a:pt x="18503900" y="102616"/>
                  </a:cubicBezTo>
                  <a:lnTo>
                    <a:pt x="18503900" y="1129284"/>
                  </a:lnTo>
                  <a:cubicBezTo>
                    <a:pt x="18503900" y="1185926"/>
                    <a:pt x="18457926" y="1231900"/>
                    <a:pt x="18401285" y="1231900"/>
                  </a:cubicBezTo>
                  <a:lnTo>
                    <a:pt x="102616" y="1231900"/>
                  </a:lnTo>
                  <a:cubicBezTo>
                    <a:pt x="45974" y="1231900"/>
                    <a:pt x="0" y="1185926"/>
                    <a:pt x="0" y="1129284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7F1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3026228" y="7791450"/>
            <a:ext cx="11644993" cy="686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1"/>
              </a:lnSpc>
            </a:pPr>
            <a:r>
              <a:rPr lang="en-US" sz="2025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Anbefaling: Start smalt nok til at bevise effekten, men design governance, integration og change management som et program fra dag ét.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76300" y="9667875"/>
            <a:ext cx="723900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9"/>
              </a:lnSpc>
            </a:pPr>
            <a:r>
              <a:rPr lang="en-US" sz="900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rPr>
              <a:t>© 2026 KPMG P/S · Arbejdsmateriale til Company X case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621000" y="9667875"/>
            <a:ext cx="142875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09"/>
              </a:lnSpc>
            </a:pPr>
            <a:r>
              <a:rPr lang="en-US" sz="900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rPr>
              <a:t>Recommendation</a:t>
            </a:r>
          </a:p>
        </p:txBody>
      </p:sp>
      <p:grpSp>
        <p:nvGrpSpPr>
          <p:cNvPr id="32" name="Group 32"/>
          <p:cNvGrpSpPr/>
          <p:nvPr/>
        </p:nvGrpSpPr>
        <p:grpSpPr>
          <a:xfrm rot="381449">
            <a:off x="17164050" y="9647389"/>
            <a:ext cx="19050" cy="190500"/>
            <a:chOff x="0" y="0"/>
            <a:chExt cx="25400" cy="2540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5400" cy="254000"/>
            </a:xfrm>
            <a:custGeom>
              <a:avLst/>
              <a:gdLst/>
              <a:ahLst/>
              <a:cxnLst/>
              <a:rect l="l" t="t" r="r" b="b"/>
              <a:pathLst>
                <a:path w="25400" h="254000">
                  <a:moveTo>
                    <a:pt x="0" y="0"/>
                  </a:moveTo>
                  <a:lnTo>
                    <a:pt x="25400" y="2540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233035" r="-1233035"/>
              </a:stretch>
            </a:blipFill>
            <a:ln w="19050" cap="sq">
              <a:solidFill>
                <a:srgbClr val="061B3F"/>
              </a:solidFill>
              <a:prstDash val="solid"/>
              <a:miter/>
            </a:ln>
          </p:spPr>
          <p:txBody>
            <a:bodyPr/>
            <a:lstStyle/>
            <a:p>
              <a:endParaRPr lang="da-DK" dirty="0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7297400" y="9620250"/>
            <a:ext cx="2667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sz="1350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10</a:t>
            </a:r>
          </a:p>
        </p:txBody>
      </p:sp>
      <p:sp>
        <p:nvSpPr>
          <p:cNvPr id="35" name="Freeform 35"/>
          <p:cNvSpPr/>
          <p:nvPr/>
        </p:nvSpPr>
        <p:spPr>
          <a:xfrm>
            <a:off x="866775" y="9476345"/>
            <a:ext cx="456796" cy="182005"/>
          </a:xfrm>
          <a:custGeom>
            <a:avLst/>
            <a:gdLst/>
            <a:ahLst/>
            <a:cxnLst/>
            <a:rect l="l" t="t" r="r" b="b"/>
            <a:pathLst>
              <a:path w="456796" h="182005">
                <a:moveTo>
                  <a:pt x="0" y="0"/>
                </a:moveTo>
                <a:lnTo>
                  <a:pt x="456796" y="0"/>
                </a:lnTo>
                <a:lnTo>
                  <a:pt x="456796" y="182005"/>
                </a:lnTo>
                <a:lnTo>
                  <a:pt x="0" y="1820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36" name="Freeform 36"/>
          <p:cNvSpPr/>
          <p:nvPr/>
        </p:nvSpPr>
        <p:spPr>
          <a:xfrm>
            <a:off x="15621000" y="324641"/>
            <a:ext cx="287675" cy="287675"/>
          </a:xfrm>
          <a:custGeom>
            <a:avLst/>
            <a:gdLst/>
            <a:ahLst/>
            <a:cxnLst/>
            <a:rect l="l" t="t" r="r" b="b"/>
            <a:pathLst>
              <a:path w="287675" h="287675">
                <a:moveTo>
                  <a:pt x="0" y="0"/>
                </a:moveTo>
                <a:lnTo>
                  <a:pt x="287675" y="0"/>
                </a:lnTo>
                <a:lnTo>
                  <a:pt x="287675" y="287675"/>
                </a:lnTo>
                <a:lnTo>
                  <a:pt x="0" y="2876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37" name="Freeform 37"/>
          <p:cNvSpPr/>
          <p:nvPr/>
        </p:nvSpPr>
        <p:spPr>
          <a:xfrm>
            <a:off x="15629775" y="324641"/>
            <a:ext cx="270125" cy="270125"/>
          </a:xfrm>
          <a:custGeom>
            <a:avLst/>
            <a:gdLst/>
            <a:ahLst/>
            <a:cxnLst/>
            <a:rect l="l" t="t" r="r" b="b"/>
            <a:pathLst>
              <a:path w="270125" h="270125">
                <a:moveTo>
                  <a:pt x="0" y="0"/>
                </a:moveTo>
                <a:lnTo>
                  <a:pt x="270125" y="0"/>
                </a:lnTo>
                <a:lnTo>
                  <a:pt x="270125" y="270125"/>
                </a:lnTo>
                <a:lnTo>
                  <a:pt x="0" y="270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38" name="Freeform 38"/>
          <p:cNvSpPr/>
          <p:nvPr/>
        </p:nvSpPr>
        <p:spPr>
          <a:xfrm>
            <a:off x="15746594" y="363749"/>
            <a:ext cx="36487" cy="36487"/>
          </a:xfrm>
          <a:custGeom>
            <a:avLst/>
            <a:gdLst/>
            <a:ahLst/>
            <a:cxnLst/>
            <a:rect l="l" t="t" r="r" b="b"/>
            <a:pathLst>
              <a:path w="36487" h="36487">
                <a:moveTo>
                  <a:pt x="0" y="0"/>
                </a:moveTo>
                <a:lnTo>
                  <a:pt x="36487" y="0"/>
                </a:lnTo>
                <a:lnTo>
                  <a:pt x="36487" y="36487"/>
                </a:lnTo>
                <a:lnTo>
                  <a:pt x="0" y="364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39" name="Freeform 39"/>
          <p:cNvSpPr/>
          <p:nvPr/>
        </p:nvSpPr>
        <p:spPr>
          <a:xfrm>
            <a:off x="15746594" y="520512"/>
            <a:ext cx="36487" cy="36487"/>
          </a:xfrm>
          <a:custGeom>
            <a:avLst/>
            <a:gdLst/>
            <a:ahLst/>
            <a:cxnLst/>
            <a:rect l="l" t="t" r="r" b="b"/>
            <a:pathLst>
              <a:path w="36487" h="36487">
                <a:moveTo>
                  <a:pt x="0" y="0"/>
                </a:moveTo>
                <a:lnTo>
                  <a:pt x="36487" y="0"/>
                </a:lnTo>
                <a:lnTo>
                  <a:pt x="36487" y="36487"/>
                </a:lnTo>
                <a:lnTo>
                  <a:pt x="0" y="364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40" name="Freeform 40"/>
          <p:cNvSpPr/>
          <p:nvPr/>
        </p:nvSpPr>
        <p:spPr>
          <a:xfrm>
            <a:off x="17284250" y="329482"/>
            <a:ext cx="697707" cy="277993"/>
          </a:xfrm>
          <a:custGeom>
            <a:avLst/>
            <a:gdLst/>
            <a:ahLst/>
            <a:cxnLst/>
            <a:rect l="l" t="t" r="r" b="b"/>
            <a:pathLst>
              <a:path w="697707" h="277993">
                <a:moveTo>
                  <a:pt x="0" y="0"/>
                </a:moveTo>
                <a:lnTo>
                  <a:pt x="697707" y="0"/>
                </a:lnTo>
                <a:lnTo>
                  <a:pt x="697707" y="277993"/>
                </a:lnTo>
                <a:lnTo>
                  <a:pt x="0" y="2779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41" name="TextBox 41"/>
          <p:cNvSpPr txBox="1"/>
          <p:nvPr/>
        </p:nvSpPr>
        <p:spPr>
          <a:xfrm>
            <a:off x="16004827" y="482215"/>
            <a:ext cx="1628357" cy="149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0"/>
              </a:lnSpc>
            </a:pPr>
            <a:r>
              <a:rPr lang="en-US" sz="595" b="1">
                <a:solidFill>
                  <a:srgbClr val="6D7584"/>
                </a:solidFill>
                <a:latin typeface="Arial Bold"/>
                <a:ea typeface="Arial Bold"/>
                <a:cs typeface="Arial Bold"/>
                <a:sym typeface="Arial Bold"/>
              </a:rPr>
              <a:t>TELECOMMUNICATIONS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6004827" y="265436"/>
            <a:ext cx="1279423" cy="203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5"/>
              </a:lnSpc>
            </a:pPr>
            <a:r>
              <a:rPr lang="en-US" sz="1282" b="1">
                <a:solidFill>
                  <a:srgbClr val="061B3F"/>
                </a:solidFill>
                <a:latin typeface="Arial Bold"/>
                <a:ea typeface="Arial Bold"/>
                <a:cs typeface="Arial Bold"/>
                <a:sym typeface="Arial Bold"/>
              </a:rPr>
              <a:t>Company X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7013370" y="333117"/>
            <a:ext cx="186098" cy="216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lang="en-US" sz="1465">
                <a:solidFill>
                  <a:srgbClr val="798399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1226</Words>
  <Application>Microsoft Macintosh PowerPoint</Application>
  <PresentationFormat>Brugerdefineret</PresentationFormat>
  <Paragraphs>257</Paragraphs>
  <Slides>10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10</vt:i4>
      </vt:variant>
    </vt:vector>
  </HeadingPairs>
  <TitlesOfParts>
    <vt:vector size="15" baseType="lpstr">
      <vt:lpstr>Arial</vt:lpstr>
      <vt:lpstr>Arial Bold Italics</vt:lpstr>
      <vt:lpstr>Arial Bold</vt:lpstr>
      <vt:lpstr>Calibri</vt:lpstr>
      <vt:lpstr>Office Theme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KPMG CASE</dc:title>
  <cp:lastModifiedBy>Jeppe Hansen</cp:lastModifiedBy>
  <cp:revision>2</cp:revision>
  <dcterms:created xsi:type="dcterms:W3CDTF">2006-08-16T00:00:00Z</dcterms:created>
  <dcterms:modified xsi:type="dcterms:W3CDTF">2026-06-29T17:21:28Z</dcterms:modified>
  <dc:identifier>DAHNl8UKyR4</dc:identifier>
</cp:coreProperties>
</file>