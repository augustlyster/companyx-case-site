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rial Bold Italics" charset="1" panose="020B0704020202090204"/>
      <p:regular r:id="rId16"/>
    </p:embeddedFont>
    <p:embeddedFont>
      <p:font typeface="Arial Bold" charset="1" panose="020B0704020202020204"/>
      <p:regular r:id="rId17"/>
    </p:embeddedFont>
    <p:embeddedFont>
      <p:font typeface="Arial" charset="1" panose="020B06040202020202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8.png" Type="http://schemas.openxmlformats.org/officeDocument/2006/relationships/image"/><Relationship Id="rId4" Target="../media/image6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.jpeg" Type="http://schemas.openxmlformats.org/officeDocument/2006/relationships/image"/><Relationship Id="rId4" Target="../media/image5.pn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2.png" Type="http://schemas.openxmlformats.org/officeDocument/2006/relationships/image"/><Relationship Id="rId5" Target="../media/image3.png" Type="http://schemas.openxmlformats.org/officeDocument/2006/relationships/image"/><Relationship Id="rId6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239000" cy="10287000"/>
            <a:chOff x="0" y="0"/>
            <a:chExt cx="9652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52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652000">
                  <a:moveTo>
                    <a:pt x="0" y="0"/>
                  </a:moveTo>
                  <a:lnTo>
                    <a:pt x="9652000" y="0"/>
                  </a:lnTo>
                  <a:lnTo>
                    <a:pt x="9652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61B3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239000" y="0"/>
            <a:ext cx="2476500" cy="10287000"/>
            <a:chOff x="0" y="0"/>
            <a:chExt cx="3302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02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3302000">
                  <a:moveTo>
                    <a:pt x="0" y="0"/>
                  </a:moveTo>
                  <a:lnTo>
                    <a:pt x="3302000" y="0"/>
                  </a:lnTo>
                  <a:lnTo>
                    <a:pt x="3302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8F5F8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239000" y="6191250"/>
            <a:ext cx="2476500" cy="1085850"/>
            <a:chOff x="0" y="0"/>
            <a:chExt cx="3302000" cy="1447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02000" cy="1447800"/>
            </a:xfrm>
            <a:custGeom>
              <a:avLst/>
              <a:gdLst/>
              <a:ahLst/>
              <a:cxnLst/>
              <a:rect r="r" b="b" t="t" l="l"/>
              <a:pathLst>
                <a:path h="1447800" w="3302000">
                  <a:moveTo>
                    <a:pt x="0" y="0"/>
                  </a:moveTo>
                  <a:lnTo>
                    <a:pt x="3302000" y="0"/>
                  </a:lnTo>
                  <a:lnTo>
                    <a:pt x="3302000" y="1447800"/>
                  </a:lnTo>
                  <a:lnTo>
                    <a:pt x="0" y="1447800"/>
                  </a:lnTo>
                  <a:close/>
                </a:path>
              </a:pathLst>
            </a:custGeom>
            <a:solidFill>
              <a:srgbClr val="00BA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422846" y="2389661"/>
            <a:ext cx="4825259" cy="4067084"/>
            <a:chOff x="0" y="0"/>
            <a:chExt cx="4154795" cy="350196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154795" cy="3501968"/>
            </a:xfrm>
            <a:custGeom>
              <a:avLst/>
              <a:gdLst/>
              <a:ahLst/>
              <a:cxnLst/>
              <a:rect r="r" b="b" t="t" l="l"/>
              <a:pathLst>
                <a:path h="3501968" w="4154795">
                  <a:moveTo>
                    <a:pt x="90251" y="0"/>
                  </a:moveTo>
                  <a:lnTo>
                    <a:pt x="4064544" y="0"/>
                  </a:lnTo>
                  <a:cubicBezTo>
                    <a:pt x="4088480" y="0"/>
                    <a:pt x="4111436" y="9509"/>
                    <a:pt x="4128361" y="26434"/>
                  </a:cubicBezTo>
                  <a:cubicBezTo>
                    <a:pt x="4145287" y="43359"/>
                    <a:pt x="4154795" y="66315"/>
                    <a:pt x="4154795" y="90251"/>
                  </a:cubicBezTo>
                  <a:lnTo>
                    <a:pt x="4154795" y="3411717"/>
                  </a:lnTo>
                  <a:cubicBezTo>
                    <a:pt x="4154795" y="3435653"/>
                    <a:pt x="4145287" y="3458609"/>
                    <a:pt x="4128361" y="3475534"/>
                  </a:cubicBezTo>
                  <a:cubicBezTo>
                    <a:pt x="4111436" y="3492459"/>
                    <a:pt x="4088480" y="3501968"/>
                    <a:pt x="4064544" y="3501968"/>
                  </a:cubicBezTo>
                  <a:lnTo>
                    <a:pt x="90251" y="3501968"/>
                  </a:lnTo>
                  <a:cubicBezTo>
                    <a:pt x="40407" y="3501968"/>
                    <a:pt x="0" y="3461561"/>
                    <a:pt x="0" y="3411717"/>
                  </a:cubicBezTo>
                  <a:lnTo>
                    <a:pt x="0" y="90251"/>
                  </a:lnTo>
                  <a:cubicBezTo>
                    <a:pt x="0" y="66315"/>
                    <a:pt x="9509" y="43359"/>
                    <a:pt x="26434" y="26434"/>
                  </a:cubicBezTo>
                  <a:cubicBezTo>
                    <a:pt x="43359" y="9509"/>
                    <a:pt x="66315" y="0"/>
                    <a:pt x="90251" y="0"/>
                  </a:cubicBezTo>
                  <a:close/>
                </a:path>
              </a:pathLst>
            </a:custGeom>
            <a:solidFill>
              <a:srgbClr val="E5EDF6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334750" y="2228850"/>
            <a:ext cx="4762500" cy="4095750"/>
            <a:chOff x="0" y="0"/>
            <a:chExt cx="6350000" cy="5461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5461000"/>
            </a:xfrm>
            <a:custGeom>
              <a:avLst/>
              <a:gdLst/>
              <a:ahLst/>
              <a:cxnLst/>
              <a:rect r="r" b="b" t="t" l="l"/>
              <a:pathLst>
                <a:path h="5461000" w="6350000">
                  <a:moveTo>
                    <a:pt x="127000" y="0"/>
                  </a:moveTo>
                  <a:lnTo>
                    <a:pt x="6223000" y="0"/>
                  </a:lnTo>
                  <a:cubicBezTo>
                    <a:pt x="6293140" y="0"/>
                    <a:pt x="6350000" y="56860"/>
                    <a:pt x="6350000" y="127000"/>
                  </a:cubicBezTo>
                  <a:lnTo>
                    <a:pt x="6350000" y="5334000"/>
                  </a:lnTo>
                  <a:cubicBezTo>
                    <a:pt x="6350000" y="5404140"/>
                    <a:pt x="6293140" y="5461000"/>
                    <a:pt x="6223000" y="5461000"/>
                  </a:cubicBezTo>
                  <a:lnTo>
                    <a:pt x="127000" y="5461000"/>
                  </a:lnTo>
                  <a:cubicBezTo>
                    <a:pt x="56860" y="5461000"/>
                    <a:pt x="0" y="5404140"/>
                    <a:pt x="0" y="53340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92A5C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876300" y="1600200"/>
            <a:ext cx="51435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i="true">
                <a:solidFill>
                  <a:srgbClr val="00BA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Company X customer service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76300" y="2495550"/>
            <a:ext cx="6096563" cy="1432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0"/>
              </a:lnSpc>
            </a:pPr>
            <a:r>
              <a:rPr lang="en-US" sz="50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Fra systemjagt</a:t>
            </a:r>
          </a:p>
          <a:p>
            <a:pPr algn="l">
              <a:lnSpc>
                <a:spcPts val="5520"/>
              </a:lnSpc>
            </a:pPr>
            <a:r>
              <a:rPr lang="en-US" sz="50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til beslutningsstøtte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76300" y="4472330"/>
            <a:ext cx="5334000" cy="1366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0"/>
              </a:lnSpc>
            </a:pPr>
            <a:r>
              <a:rPr lang="en-US" sz="2025">
                <a:solidFill>
                  <a:srgbClr val="D7E2EF"/>
                </a:solidFill>
                <a:latin typeface="Arial"/>
                <a:ea typeface="Arial"/>
                <a:cs typeface="Arial"/>
                <a:sym typeface="Arial"/>
              </a:rPr>
              <a:t>Et fokuseret AI-enabled program for billing support, hvor medarbejderen får et samlet kundeoverblik, en mulig forklaring og et godkendelsesklart svar.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76300" y="6943725"/>
            <a:ext cx="19050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9"/>
              </a:lnSpc>
            </a:pPr>
            <a:r>
              <a:rPr lang="en-US" b="true" sz="1800">
                <a:solidFill>
                  <a:srgbClr val="00BAFF"/>
                </a:solidFill>
                <a:latin typeface="Arial Bold"/>
                <a:ea typeface="Arial Bold"/>
                <a:cs typeface="Arial Bold"/>
                <a:sym typeface="Arial Bold"/>
              </a:rPr>
              <a:t>Anbefaling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76300" y="7343775"/>
            <a:ext cx="5619750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1"/>
              </a:lnSpc>
            </a:pPr>
            <a:r>
              <a:rPr lang="en-US" sz="21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Start internt med SIGNAL AGENT.</a:t>
            </a:r>
          </a:p>
          <a:p>
            <a:pPr algn="l">
              <a:lnSpc>
                <a:spcPts val="2721"/>
              </a:lnSpc>
            </a:pPr>
            <a:r>
              <a:rPr lang="en-US" sz="21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Bevis effekt på fakturaflowet.</a:t>
            </a:r>
          </a:p>
          <a:p>
            <a:pPr algn="l">
              <a:lnSpc>
                <a:spcPts val="2721"/>
              </a:lnSpc>
            </a:pPr>
            <a:r>
              <a:rPr lang="en-US" sz="21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Skalér først når KPI’erne holder.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906250" y="2743200"/>
            <a:ext cx="314325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6"/>
              </a:lnSpc>
            </a:pPr>
            <a:r>
              <a:rPr lang="en-US" sz="1500" b="true">
                <a:solidFill>
                  <a:srgbClr val="2FC3D7"/>
                </a:solidFill>
                <a:latin typeface="Arial Bold"/>
                <a:ea typeface="Arial Bold"/>
                <a:cs typeface="Arial Bold"/>
                <a:sym typeface="Arial Bold"/>
              </a:rPr>
              <a:t>Kernepåstand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906250" y="3286125"/>
            <a:ext cx="3286125" cy="1514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Company X har dataene. Værdien ligger i at samle dem hurtigt, forklare dem sikkert og dokumentere beslutningen.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5621000" y="9667875"/>
            <a:ext cx="142875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Storyline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7135475" y="9772650"/>
            <a:ext cx="19050" cy="190500"/>
            <a:chOff x="0" y="0"/>
            <a:chExt cx="25400" cy="254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54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">
                  <a:moveTo>
                    <a:pt x="0" y="0"/>
                  </a:moveTo>
                  <a:lnTo>
                    <a:pt x="25400" y="2540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-1233035" t="0" r="-1233035" b="0"/>
              </a:stretch>
            </a:blip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7297400" y="9620250"/>
            <a:ext cx="2667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15621000" y="324641"/>
            <a:ext cx="287675" cy="287675"/>
          </a:xfrm>
          <a:custGeom>
            <a:avLst/>
            <a:gdLst/>
            <a:ahLst/>
            <a:cxnLst/>
            <a:rect r="r" b="b" t="t" l="l"/>
            <a:pathLst>
              <a:path h="287675" w="287675">
                <a:moveTo>
                  <a:pt x="0" y="0"/>
                </a:moveTo>
                <a:lnTo>
                  <a:pt x="287675" y="0"/>
                </a:lnTo>
                <a:lnTo>
                  <a:pt x="287675" y="287675"/>
                </a:lnTo>
                <a:lnTo>
                  <a:pt x="0" y="2876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5629775" y="324641"/>
            <a:ext cx="270125" cy="270125"/>
          </a:xfrm>
          <a:custGeom>
            <a:avLst/>
            <a:gdLst/>
            <a:ahLst/>
            <a:cxnLst/>
            <a:rect r="r" b="b" t="t" l="l"/>
            <a:pathLst>
              <a:path h="270125" w="270125">
                <a:moveTo>
                  <a:pt x="0" y="0"/>
                </a:moveTo>
                <a:lnTo>
                  <a:pt x="270125" y="0"/>
                </a:lnTo>
                <a:lnTo>
                  <a:pt x="270125" y="270125"/>
                </a:lnTo>
                <a:lnTo>
                  <a:pt x="0" y="2701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5746594" y="363749"/>
            <a:ext cx="36487" cy="36487"/>
          </a:xfrm>
          <a:custGeom>
            <a:avLst/>
            <a:gdLst/>
            <a:ahLst/>
            <a:cxnLst/>
            <a:rect r="r" b="b" t="t" l="l"/>
            <a:pathLst>
              <a:path h="36487" w="36487">
                <a:moveTo>
                  <a:pt x="0" y="0"/>
                </a:moveTo>
                <a:lnTo>
                  <a:pt x="36487" y="0"/>
                </a:lnTo>
                <a:lnTo>
                  <a:pt x="36487" y="36487"/>
                </a:lnTo>
                <a:lnTo>
                  <a:pt x="0" y="364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5746594" y="520512"/>
            <a:ext cx="36487" cy="36487"/>
          </a:xfrm>
          <a:custGeom>
            <a:avLst/>
            <a:gdLst/>
            <a:ahLst/>
            <a:cxnLst/>
            <a:rect r="r" b="b" t="t" l="l"/>
            <a:pathLst>
              <a:path h="36487" w="36487">
                <a:moveTo>
                  <a:pt x="0" y="0"/>
                </a:moveTo>
                <a:lnTo>
                  <a:pt x="36487" y="0"/>
                </a:lnTo>
                <a:lnTo>
                  <a:pt x="36487" y="36487"/>
                </a:lnTo>
                <a:lnTo>
                  <a:pt x="0" y="364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7284250" y="329482"/>
            <a:ext cx="697707" cy="277993"/>
          </a:xfrm>
          <a:custGeom>
            <a:avLst/>
            <a:gdLst/>
            <a:ahLst/>
            <a:cxnLst/>
            <a:rect r="r" b="b" t="t" l="l"/>
            <a:pathLst>
              <a:path h="277993" w="697707">
                <a:moveTo>
                  <a:pt x="0" y="0"/>
                </a:moveTo>
                <a:lnTo>
                  <a:pt x="697707" y="0"/>
                </a:lnTo>
                <a:lnTo>
                  <a:pt x="697707" y="277993"/>
                </a:lnTo>
                <a:lnTo>
                  <a:pt x="0" y="2779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16004827" y="482215"/>
            <a:ext cx="1628357" cy="149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"/>
              </a:lnSpc>
            </a:pPr>
            <a:r>
              <a:rPr lang="en-US" sz="595" b="true">
                <a:solidFill>
                  <a:srgbClr val="6D7584"/>
                </a:solidFill>
                <a:latin typeface="Arial Bold"/>
                <a:ea typeface="Arial Bold"/>
                <a:cs typeface="Arial Bold"/>
                <a:sym typeface="Arial Bold"/>
              </a:rPr>
              <a:t>TELECOMMUNICATIONS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6004827" y="265436"/>
            <a:ext cx="1279423" cy="203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5"/>
              </a:lnSpc>
            </a:pPr>
            <a:r>
              <a:rPr lang="en-US" sz="1282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Company X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7013370" y="333117"/>
            <a:ext cx="186098" cy="216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46"/>
              </a:lnSpc>
            </a:pPr>
            <a:r>
              <a:rPr lang="en-US" sz="1465">
                <a:solidFill>
                  <a:srgbClr val="798399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876300" y="9476345"/>
            <a:ext cx="456796" cy="182005"/>
          </a:xfrm>
          <a:custGeom>
            <a:avLst/>
            <a:gdLst/>
            <a:ahLst/>
            <a:cxnLst/>
            <a:rect r="r" b="b" t="t" l="l"/>
            <a:pathLst>
              <a:path h="182005" w="456796">
                <a:moveTo>
                  <a:pt x="0" y="0"/>
                </a:moveTo>
                <a:lnTo>
                  <a:pt x="456796" y="0"/>
                </a:lnTo>
                <a:lnTo>
                  <a:pt x="456796" y="182005"/>
                </a:lnTo>
                <a:lnTo>
                  <a:pt x="0" y="1820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76300" y="666750"/>
            <a:ext cx="409575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i="true">
                <a:solidFill>
                  <a:srgbClr val="00BA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Business problem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76300" y="1228086"/>
            <a:ext cx="11811000" cy="1171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45"/>
              </a:lnSpc>
            </a:pPr>
            <a:r>
              <a:rPr lang="en-US" sz="46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Customer service er en stor omkostningsbase</a:t>
            </a:r>
          </a:p>
          <a:p>
            <a:pPr algn="l">
              <a:lnSpc>
                <a:spcPts val="5245"/>
              </a:lnSpc>
            </a:pPr>
            <a:r>
              <a:rPr lang="en-US" sz="46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med for meget manuel systemjagt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90600" y="3400425"/>
            <a:ext cx="11239500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195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Company X baseline fra kundeservice-, faktura- og opkaldsdata: kunden oplever ventetid, mens medarbejderen samler kontekst på tværs af fragmenterede systemer.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04900" y="4419600"/>
            <a:ext cx="3429000" cy="2457450"/>
            <a:chOff x="0" y="0"/>
            <a:chExt cx="4572000" cy="3276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720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4572000">
                  <a:moveTo>
                    <a:pt x="127000" y="0"/>
                  </a:moveTo>
                  <a:lnTo>
                    <a:pt x="4445000" y="0"/>
                  </a:lnTo>
                  <a:cubicBezTo>
                    <a:pt x="4515140" y="0"/>
                    <a:pt x="4572000" y="56860"/>
                    <a:pt x="4572000" y="127000"/>
                  </a:cubicBezTo>
                  <a:lnTo>
                    <a:pt x="4572000" y="3149600"/>
                  </a:lnTo>
                  <a:cubicBezTo>
                    <a:pt x="4572000" y="3219740"/>
                    <a:pt x="4515140" y="3276600"/>
                    <a:pt x="4445000" y="3276600"/>
                  </a:cubicBezTo>
                  <a:lnTo>
                    <a:pt x="127000" y="3276600"/>
                  </a:lnTo>
                  <a:cubicBezTo>
                    <a:pt x="56860" y="3276600"/>
                    <a:pt x="0" y="3219740"/>
                    <a:pt x="0" y="3149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E5EDF6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990600" y="4286250"/>
            <a:ext cx="3429000" cy="2457450"/>
            <a:chOff x="0" y="0"/>
            <a:chExt cx="4572000" cy="3276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5720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4572000">
                  <a:moveTo>
                    <a:pt x="127000" y="0"/>
                  </a:moveTo>
                  <a:lnTo>
                    <a:pt x="4445000" y="0"/>
                  </a:lnTo>
                  <a:cubicBezTo>
                    <a:pt x="4515140" y="0"/>
                    <a:pt x="4572000" y="56860"/>
                    <a:pt x="4572000" y="127000"/>
                  </a:cubicBezTo>
                  <a:lnTo>
                    <a:pt x="4572000" y="3149600"/>
                  </a:lnTo>
                  <a:cubicBezTo>
                    <a:pt x="4572000" y="3219740"/>
                    <a:pt x="4515140" y="3276600"/>
                    <a:pt x="4445000" y="3276600"/>
                  </a:cubicBezTo>
                  <a:lnTo>
                    <a:pt x="127000" y="3276600"/>
                  </a:lnTo>
                  <a:cubicBezTo>
                    <a:pt x="56860" y="3276600"/>
                    <a:pt x="0" y="3219740"/>
                    <a:pt x="0" y="3149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0BA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314450" y="4876800"/>
            <a:ext cx="278130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46"/>
              </a:lnSpc>
            </a:pPr>
            <a:r>
              <a:rPr lang="en-US" sz="4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4,2m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33500" y="5800725"/>
            <a:ext cx="2781300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87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årlige kunde-</a:t>
            </a:r>
          </a:p>
          <a:p>
            <a:pPr algn="l">
              <a:lnSpc>
                <a:spcPts val="2295"/>
              </a:lnSpc>
            </a:pPr>
            <a:r>
              <a:rPr lang="en-US" sz="187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henvendelser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105400" y="4419600"/>
            <a:ext cx="3429000" cy="2457450"/>
            <a:chOff x="0" y="0"/>
            <a:chExt cx="4572000" cy="3276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5720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4572000">
                  <a:moveTo>
                    <a:pt x="127000" y="0"/>
                  </a:moveTo>
                  <a:lnTo>
                    <a:pt x="4445000" y="0"/>
                  </a:lnTo>
                  <a:cubicBezTo>
                    <a:pt x="4515140" y="0"/>
                    <a:pt x="4572000" y="56860"/>
                    <a:pt x="4572000" y="127000"/>
                  </a:cubicBezTo>
                  <a:lnTo>
                    <a:pt x="4572000" y="3149600"/>
                  </a:lnTo>
                  <a:cubicBezTo>
                    <a:pt x="4572000" y="3219740"/>
                    <a:pt x="4515140" y="3276600"/>
                    <a:pt x="4445000" y="3276600"/>
                  </a:cubicBezTo>
                  <a:lnTo>
                    <a:pt x="127000" y="3276600"/>
                  </a:lnTo>
                  <a:cubicBezTo>
                    <a:pt x="56860" y="3276600"/>
                    <a:pt x="0" y="3219740"/>
                    <a:pt x="0" y="3149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E5EDF6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4991100" y="4286250"/>
            <a:ext cx="3429000" cy="2457450"/>
            <a:chOff x="0" y="0"/>
            <a:chExt cx="4572000" cy="3276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720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4572000">
                  <a:moveTo>
                    <a:pt x="127000" y="0"/>
                  </a:moveTo>
                  <a:lnTo>
                    <a:pt x="4445000" y="0"/>
                  </a:lnTo>
                  <a:cubicBezTo>
                    <a:pt x="4515140" y="0"/>
                    <a:pt x="4572000" y="56860"/>
                    <a:pt x="4572000" y="127000"/>
                  </a:cubicBezTo>
                  <a:lnTo>
                    <a:pt x="4572000" y="3149600"/>
                  </a:lnTo>
                  <a:cubicBezTo>
                    <a:pt x="4572000" y="3219740"/>
                    <a:pt x="4515140" y="3276600"/>
                    <a:pt x="4445000" y="3276600"/>
                  </a:cubicBezTo>
                  <a:lnTo>
                    <a:pt x="127000" y="3276600"/>
                  </a:lnTo>
                  <a:cubicBezTo>
                    <a:pt x="56860" y="3276600"/>
                    <a:pt x="0" y="3219740"/>
                    <a:pt x="0" y="3149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92A5C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5314950" y="4876800"/>
            <a:ext cx="278130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46"/>
              </a:lnSpc>
            </a:pPr>
            <a:r>
              <a:rPr lang="en-US" sz="43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1.180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334000" y="5800725"/>
            <a:ext cx="2781300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875" b="true">
                <a:solidFill>
                  <a:srgbClr val="E8F0FA"/>
                </a:solidFill>
                <a:latin typeface="Arial Bold"/>
                <a:ea typeface="Arial Bold"/>
                <a:cs typeface="Arial Bold"/>
                <a:sym typeface="Arial Bold"/>
              </a:rPr>
              <a:t>FTE i service og</a:t>
            </a:r>
          </a:p>
          <a:p>
            <a:pPr algn="l">
              <a:lnSpc>
                <a:spcPts val="2295"/>
              </a:lnSpc>
            </a:pPr>
            <a:r>
              <a:rPr lang="en-US" sz="1875" b="true">
                <a:solidFill>
                  <a:srgbClr val="E8F0FA"/>
                </a:solidFill>
                <a:latin typeface="Arial Bold"/>
                <a:ea typeface="Arial Bold"/>
                <a:cs typeface="Arial Bold"/>
                <a:sym typeface="Arial Bold"/>
              </a:rPr>
              <a:t>back-office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105900" y="4419600"/>
            <a:ext cx="3429000" cy="2457450"/>
            <a:chOff x="0" y="0"/>
            <a:chExt cx="4572000" cy="3276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5720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4572000">
                  <a:moveTo>
                    <a:pt x="127000" y="0"/>
                  </a:moveTo>
                  <a:lnTo>
                    <a:pt x="4445000" y="0"/>
                  </a:lnTo>
                  <a:cubicBezTo>
                    <a:pt x="4515140" y="0"/>
                    <a:pt x="4572000" y="56860"/>
                    <a:pt x="4572000" y="127000"/>
                  </a:cubicBezTo>
                  <a:lnTo>
                    <a:pt x="4572000" y="3149600"/>
                  </a:lnTo>
                  <a:cubicBezTo>
                    <a:pt x="4572000" y="3219740"/>
                    <a:pt x="4515140" y="3276600"/>
                    <a:pt x="4445000" y="3276600"/>
                  </a:cubicBezTo>
                  <a:lnTo>
                    <a:pt x="127000" y="3276600"/>
                  </a:lnTo>
                  <a:cubicBezTo>
                    <a:pt x="56860" y="3276600"/>
                    <a:pt x="0" y="3219740"/>
                    <a:pt x="0" y="3149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E5EDF6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991600" y="4286250"/>
            <a:ext cx="3429000" cy="2457450"/>
            <a:chOff x="0" y="0"/>
            <a:chExt cx="4572000" cy="32766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5720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4572000">
                  <a:moveTo>
                    <a:pt x="127000" y="0"/>
                  </a:moveTo>
                  <a:lnTo>
                    <a:pt x="4445000" y="0"/>
                  </a:lnTo>
                  <a:cubicBezTo>
                    <a:pt x="4515140" y="0"/>
                    <a:pt x="4572000" y="56860"/>
                    <a:pt x="4572000" y="127000"/>
                  </a:cubicBezTo>
                  <a:lnTo>
                    <a:pt x="4572000" y="3149600"/>
                  </a:lnTo>
                  <a:cubicBezTo>
                    <a:pt x="4572000" y="3219740"/>
                    <a:pt x="4515140" y="3276600"/>
                    <a:pt x="4445000" y="3276600"/>
                  </a:cubicBezTo>
                  <a:lnTo>
                    <a:pt x="127000" y="3276600"/>
                  </a:lnTo>
                  <a:cubicBezTo>
                    <a:pt x="56860" y="3276600"/>
                    <a:pt x="0" y="3219740"/>
                    <a:pt x="0" y="3149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0BAFF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9315450" y="4876800"/>
            <a:ext cx="278130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46"/>
              </a:lnSpc>
            </a:pPr>
            <a:r>
              <a:rPr lang="en-US" sz="4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640k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334500" y="5800725"/>
            <a:ext cx="2781300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87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faktura-</a:t>
            </a:r>
          </a:p>
          <a:p>
            <a:pPr algn="l">
              <a:lnSpc>
                <a:spcPts val="2295"/>
              </a:lnSpc>
            </a:pPr>
            <a:r>
              <a:rPr lang="en-US" sz="187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relaterede sager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3106400" y="4419600"/>
            <a:ext cx="3429000" cy="2457450"/>
            <a:chOff x="0" y="0"/>
            <a:chExt cx="4572000" cy="3276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5720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4572000">
                  <a:moveTo>
                    <a:pt x="127000" y="0"/>
                  </a:moveTo>
                  <a:lnTo>
                    <a:pt x="4445000" y="0"/>
                  </a:lnTo>
                  <a:cubicBezTo>
                    <a:pt x="4515140" y="0"/>
                    <a:pt x="4572000" y="56860"/>
                    <a:pt x="4572000" y="127000"/>
                  </a:cubicBezTo>
                  <a:lnTo>
                    <a:pt x="4572000" y="3149600"/>
                  </a:lnTo>
                  <a:cubicBezTo>
                    <a:pt x="4572000" y="3219740"/>
                    <a:pt x="4515140" y="3276600"/>
                    <a:pt x="4445000" y="3276600"/>
                  </a:cubicBezTo>
                  <a:lnTo>
                    <a:pt x="127000" y="3276600"/>
                  </a:lnTo>
                  <a:cubicBezTo>
                    <a:pt x="56860" y="3276600"/>
                    <a:pt x="0" y="3219740"/>
                    <a:pt x="0" y="3149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E5EDF6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2992100" y="4286250"/>
            <a:ext cx="3429000" cy="2457450"/>
            <a:chOff x="0" y="0"/>
            <a:chExt cx="4572000" cy="3276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572000" cy="3276600"/>
            </a:xfrm>
            <a:custGeom>
              <a:avLst/>
              <a:gdLst/>
              <a:ahLst/>
              <a:cxnLst/>
              <a:rect r="r" b="b" t="t" l="l"/>
              <a:pathLst>
                <a:path h="3276600" w="4572000">
                  <a:moveTo>
                    <a:pt x="127000" y="0"/>
                  </a:moveTo>
                  <a:lnTo>
                    <a:pt x="4445000" y="0"/>
                  </a:lnTo>
                  <a:cubicBezTo>
                    <a:pt x="4515140" y="0"/>
                    <a:pt x="4572000" y="56860"/>
                    <a:pt x="4572000" y="127000"/>
                  </a:cubicBezTo>
                  <a:lnTo>
                    <a:pt x="4572000" y="3149600"/>
                  </a:lnTo>
                  <a:cubicBezTo>
                    <a:pt x="4572000" y="3219740"/>
                    <a:pt x="4515140" y="3276600"/>
                    <a:pt x="4445000" y="3276600"/>
                  </a:cubicBezTo>
                  <a:lnTo>
                    <a:pt x="127000" y="3276600"/>
                  </a:lnTo>
                  <a:cubicBezTo>
                    <a:pt x="56860" y="3276600"/>
                    <a:pt x="0" y="3219740"/>
                    <a:pt x="0" y="31496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92A5C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3315950" y="4886325"/>
            <a:ext cx="278130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36"/>
              </a:lnSpc>
            </a:pPr>
            <a:r>
              <a:rPr lang="en-US" sz="34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31k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335000" y="5800725"/>
            <a:ext cx="2781300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875" b="true">
                <a:solidFill>
                  <a:srgbClr val="E8F0FA"/>
                </a:solidFill>
                <a:latin typeface="Arial Bold"/>
                <a:ea typeface="Arial Bold"/>
                <a:cs typeface="Arial Bold"/>
                <a:sym typeface="Arial Bold"/>
              </a:rPr>
              <a:t>timer i faktura-flow</a:t>
            </a:r>
          </a:p>
          <a:p>
            <a:pPr algn="l">
              <a:lnSpc>
                <a:spcPts val="2295"/>
              </a:lnSpc>
            </a:pPr>
            <a:r>
              <a:rPr lang="en-US" sz="1875" b="true">
                <a:solidFill>
                  <a:srgbClr val="E8F0FA"/>
                </a:solidFill>
                <a:latin typeface="Arial Bold"/>
                <a:ea typeface="Arial Bold"/>
                <a:cs typeface="Arial Bold"/>
                <a:sym typeface="Arial Bold"/>
              </a:rPr>
              <a:t>kan frigøres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0" y="7696200"/>
            <a:ext cx="18288000" cy="1123950"/>
            <a:chOff x="0" y="0"/>
            <a:chExt cx="24384000" cy="14986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4384000" cy="1498600"/>
            </a:xfrm>
            <a:custGeom>
              <a:avLst/>
              <a:gdLst/>
              <a:ahLst/>
              <a:cxnLst/>
              <a:rect r="r" b="b" t="t" l="l"/>
              <a:pathLst>
                <a:path h="14986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498600"/>
                  </a:lnTo>
                  <a:lnTo>
                    <a:pt x="0" y="1498600"/>
                  </a:lnTo>
                  <a:close/>
                </a:path>
              </a:pathLst>
            </a:custGeom>
            <a:solidFill>
              <a:srgbClr val="061B3F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2152650" y="7886700"/>
            <a:ext cx="1390650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22"/>
              </a:lnSpc>
            </a:pPr>
            <a:r>
              <a:rPr lang="en-US" sz="21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Kerneproblem: lange ventetider, inkonsistente svar, lav first-contact resolution og høj afhængighed af medarbejdererfaring.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5621000" y="9667875"/>
            <a:ext cx="142875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Problem size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7135475" y="9772650"/>
            <a:ext cx="19050" cy="190500"/>
            <a:chOff x="0" y="0"/>
            <a:chExt cx="25400" cy="254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54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">
                  <a:moveTo>
                    <a:pt x="0" y="0"/>
                  </a:moveTo>
                  <a:lnTo>
                    <a:pt x="25400" y="2540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-1233035" t="0" r="-1233035" b="0"/>
              </a:stretch>
            </a:blip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sp>
        <p:nvSpPr>
          <p:cNvPr name="TextBox 36" id="36"/>
          <p:cNvSpPr txBox="true"/>
          <p:nvPr/>
        </p:nvSpPr>
        <p:spPr>
          <a:xfrm rot="0">
            <a:off x="17297400" y="9620250"/>
            <a:ext cx="2667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Freeform 38" id="38"/>
          <p:cNvSpPr/>
          <p:nvPr/>
        </p:nvSpPr>
        <p:spPr>
          <a:xfrm flipH="false" flipV="false" rot="0">
            <a:off x="876300" y="9476345"/>
            <a:ext cx="456796" cy="182005"/>
          </a:xfrm>
          <a:custGeom>
            <a:avLst/>
            <a:gdLst/>
            <a:ahLst/>
            <a:cxnLst/>
            <a:rect r="r" b="b" t="t" l="l"/>
            <a:pathLst>
              <a:path h="182005" w="456796">
                <a:moveTo>
                  <a:pt x="0" y="0"/>
                </a:moveTo>
                <a:lnTo>
                  <a:pt x="456796" y="0"/>
                </a:lnTo>
                <a:lnTo>
                  <a:pt x="456796" y="182005"/>
                </a:lnTo>
                <a:lnTo>
                  <a:pt x="0" y="1820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39" id="39"/>
          <p:cNvSpPr txBox="true"/>
          <p:nvPr/>
        </p:nvSpPr>
        <p:spPr>
          <a:xfrm rot="0">
            <a:off x="14382750" y="771525"/>
            <a:ext cx="314325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11"/>
              </a:lnSpc>
            </a:pPr>
            <a:r>
              <a:rPr lang="en-US" sz="105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Dokumentklassifikation: KPMG fortroligt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382750" y="771525"/>
            <a:ext cx="314325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11"/>
              </a:lnSpc>
            </a:pPr>
            <a:r>
              <a:rPr lang="en-US" sz="105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Dokumentklassifikation: KPMG fortroligt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76300" y="666750"/>
            <a:ext cx="409575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i="true">
                <a:solidFill>
                  <a:srgbClr val="00BA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Investeringscase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76300" y="1343025"/>
            <a:ext cx="10858500" cy="2091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14"/>
              </a:lnSpc>
            </a:pPr>
            <a:r>
              <a:rPr lang="en-US" sz="48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Første flow skal bevise en skalerbar værdimotor</a:t>
            </a:r>
          </a:p>
          <a:p>
            <a:pPr algn="l">
              <a:lnSpc>
                <a:spcPts val="5414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876300" y="2857500"/>
            <a:ext cx="11620500" cy="664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5"/>
              </a:lnSpc>
            </a:pPr>
            <a:r>
              <a:rPr lang="en-US" sz="1875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Company X investerer først i fakturaflowet, fordi effekten kan måles hurtigt. Når mønsteret er dokumenteret, kan samme agentmønster genbruges på flere servicejourneys.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238250" y="4095750"/>
            <a:ext cx="3905250" cy="2476500"/>
            <a:chOff x="0" y="0"/>
            <a:chExt cx="5207000" cy="3302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207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5207000">
                  <a:moveTo>
                    <a:pt x="127000" y="0"/>
                  </a:moveTo>
                  <a:lnTo>
                    <a:pt x="5080000" y="0"/>
                  </a:lnTo>
                  <a:cubicBezTo>
                    <a:pt x="5150140" y="0"/>
                    <a:pt x="5207000" y="56860"/>
                    <a:pt x="5207000" y="127000"/>
                  </a:cubicBezTo>
                  <a:lnTo>
                    <a:pt x="5207000" y="3175000"/>
                  </a:lnTo>
                  <a:cubicBezTo>
                    <a:pt x="5207000" y="3245140"/>
                    <a:pt x="5150140" y="3302000"/>
                    <a:pt x="5080000" y="3302000"/>
                  </a:cubicBezTo>
                  <a:lnTo>
                    <a:pt x="127000" y="3302000"/>
                  </a:lnTo>
                  <a:cubicBezTo>
                    <a:pt x="56860" y="3302000"/>
                    <a:pt x="0" y="3245140"/>
                    <a:pt x="0" y="31750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DDE8F4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47750" y="3905250"/>
            <a:ext cx="3905250" cy="2476500"/>
            <a:chOff x="0" y="0"/>
            <a:chExt cx="5207000" cy="330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207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5207000">
                  <a:moveTo>
                    <a:pt x="127000" y="0"/>
                  </a:moveTo>
                  <a:lnTo>
                    <a:pt x="5080000" y="0"/>
                  </a:lnTo>
                  <a:cubicBezTo>
                    <a:pt x="5150140" y="0"/>
                    <a:pt x="5207000" y="56860"/>
                    <a:pt x="5207000" y="127000"/>
                  </a:cubicBezTo>
                  <a:lnTo>
                    <a:pt x="5207000" y="3175000"/>
                  </a:lnTo>
                  <a:cubicBezTo>
                    <a:pt x="5207000" y="3245140"/>
                    <a:pt x="5150140" y="3302000"/>
                    <a:pt x="5080000" y="3302000"/>
                  </a:cubicBezTo>
                  <a:lnTo>
                    <a:pt x="127000" y="3302000"/>
                  </a:lnTo>
                  <a:cubicBezTo>
                    <a:pt x="56860" y="3302000"/>
                    <a:pt x="0" y="3245140"/>
                    <a:pt x="0" y="31750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61B3F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28750" y="4267200"/>
            <a:ext cx="200025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350" b="true">
                <a:solidFill>
                  <a:srgbClr val="00BAFF"/>
                </a:solidFill>
                <a:latin typeface="Arial Bold"/>
                <a:ea typeface="Arial Bold"/>
                <a:cs typeface="Arial Bold"/>
                <a:sym typeface="Arial Bold"/>
              </a:rPr>
              <a:t>INVESTERING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28750" y="4695825"/>
            <a:ext cx="2476500" cy="11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05"/>
              </a:lnSpc>
            </a:pPr>
            <a:r>
              <a:rPr lang="en-US" sz="39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DKK</a:t>
            </a:r>
          </a:p>
          <a:p>
            <a:pPr algn="l">
              <a:lnSpc>
                <a:spcPts val="4305"/>
              </a:lnSpc>
            </a:pPr>
            <a:r>
              <a:rPr lang="en-US" sz="39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4-7m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28750" y="5791200"/>
            <a:ext cx="2857500" cy="724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500">
                <a:solidFill>
                  <a:srgbClr val="D7E2EF"/>
                </a:solidFill>
                <a:latin typeface="Arial"/>
                <a:ea typeface="Arial"/>
                <a:cs typeface="Arial"/>
                <a:sym typeface="Arial"/>
              </a:rPr>
              <a:t>for før</a:t>
            </a:r>
            <a:r>
              <a:rPr lang="en-US" sz="1500">
                <a:solidFill>
                  <a:srgbClr val="D7E2EF"/>
                </a:solidFill>
                <a:latin typeface="Arial"/>
                <a:ea typeface="Arial"/>
                <a:cs typeface="Arial"/>
                <a:sym typeface="Arial"/>
              </a:rPr>
              <a:t>ste produktionsklare fakturaflow</a:t>
            </a:r>
          </a:p>
          <a:p>
            <a:pPr algn="l">
              <a:lnSpc>
                <a:spcPts val="1944"/>
              </a:lnSpc>
            </a:pPr>
          </a:p>
        </p:txBody>
      </p:sp>
      <p:grpSp>
        <p:nvGrpSpPr>
          <p:cNvPr name="Group 13" id="13"/>
          <p:cNvGrpSpPr/>
          <p:nvPr/>
        </p:nvGrpSpPr>
        <p:grpSpPr>
          <a:xfrm rot="0">
            <a:off x="5657850" y="4629150"/>
            <a:ext cx="4667250" cy="2724150"/>
            <a:chOff x="0" y="0"/>
            <a:chExt cx="6223000" cy="36322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23000" cy="3632200"/>
            </a:xfrm>
            <a:custGeom>
              <a:avLst/>
              <a:gdLst/>
              <a:ahLst/>
              <a:cxnLst/>
              <a:rect r="r" b="b" t="t" l="l"/>
              <a:pathLst>
                <a:path h="3632200" w="6223000">
                  <a:moveTo>
                    <a:pt x="127000" y="0"/>
                  </a:moveTo>
                  <a:lnTo>
                    <a:pt x="6096000" y="0"/>
                  </a:lnTo>
                  <a:cubicBezTo>
                    <a:pt x="6166140" y="0"/>
                    <a:pt x="6223000" y="56860"/>
                    <a:pt x="6223000" y="127000"/>
                  </a:cubicBezTo>
                  <a:lnTo>
                    <a:pt x="6223000" y="3505200"/>
                  </a:lnTo>
                  <a:cubicBezTo>
                    <a:pt x="6223000" y="3575340"/>
                    <a:pt x="6166140" y="3632200"/>
                    <a:pt x="6096000" y="3632200"/>
                  </a:cubicBezTo>
                  <a:lnTo>
                    <a:pt x="127000" y="3632200"/>
                  </a:lnTo>
                  <a:cubicBezTo>
                    <a:pt x="56860" y="3632200"/>
                    <a:pt x="0" y="3575340"/>
                    <a:pt x="0" y="35052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E3EBF4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5467350" y="4438650"/>
            <a:ext cx="4667250" cy="2724150"/>
            <a:chOff x="0" y="0"/>
            <a:chExt cx="6223000" cy="36322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223000" cy="3632200"/>
            </a:xfrm>
            <a:custGeom>
              <a:avLst/>
              <a:gdLst/>
              <a:ahLst/>
              <a:cxnLst/>
              <a:rect r="r" b="b" t="t" l="l"/>
              <a:pathLst>
                <a:path h="3632200" w="6223000">
                  <a:moveTo>
                    <a:pt x="127000" y="0"/>
                  </a:moveTo>
                  <a:lnTo>
                    <a:pt x="6096000" y="0"/>
                  </a:lnTo>
                  <a:cubicBezTo>
                    <a:pt x="6166140" y="0"/>
                    <a:pt x="6223000" y="56860"/>
                    <a:pt x="6223000" y="127000"/>
                  </a:cubicBezTo>
                  <a:lnTo>
                    <a:pt x="6223000" y="3505200"/>
                  </a:lnTo>
                  <a:cubicBezTo>
                    <a:pt x="6223000" y="3575340"/>
                    <a:pt x="6166140" y="3632200"/>
                    <a:pt x="6096000" y="3632200"/>
                  </a:cubicBezTo>
                  <a:lnTo>
                    <a:pt x="127000" y="3632200"/>
                  </a:lnTo>
                  <a:cubicBezTo>
                    <a:pt x="56860" y="3632200"/>
                    <a:pt x="0" y="3575340"/>
                    <a:pt x="0" y="35052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D8F4FF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5962650" y="4838700"/>
            <a:ext cx="209550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FØRSTE FLOW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962650" y="5286375"/>
            <a:ext cx="2476500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33"/>
              </a:lnSpc>
            </a:pPr>
            <a:r>
              <a:rPr lang="en-US" sz="31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Faktura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962650" y="5991225"/>
            <a:ext cx="342900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sz="1575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640k årlige sager, tydelige datakilder og en kundeoplevelse, hvor kortere svartid kan mærkes direkte.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0648950" y="3905250"/>
            <a:ext cx="3905250" cy="2476500"/>
            <a:chOff x="0" y="0"/>
            <a:chExt cx="5207000" cy="33020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07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5207000">
                  <a:moveTo>
                    <a:pt x="127000" y="0"/>
                  </a:moveTo>
                  <a:lnTo>
                    <a:pt x="5080000" y="0"/>
                  </a:lnTo>
                  <a:cubicBezTo>
                    <a:pt x="5150140" y="0"/>
                    <a:pt x="5207000" y="56860"/>
                    <a:pt x="5207000" y="127000"/>
                  </a:cubicBezTo>
                  <a:lnTo>
                    <a:pt x="5207000" y="3175000"/>
                  </a:lnTo>
                  <a:cubicBezTo>
                    <a:pt x="5207000" y="3245140"/>
                    <a:pt x="5150140" y="3302000"/>
                    <a:pt x="5080000" y="3302000"/>
                  </a:cubicBezTo>
                  <a:lnTo>
                    <a:pt x="127000" y="3302000"/>
                  </a:lnTo>
                  <a:cubicBezTo>
                    <a:pt x="56860" y="3302000"/>
                    <a:pt x="0" y="3245140"/>
                    <a:pt x="0" y="31750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DDE8F4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0458450" y="3714750"/>
            <a:ext cx="3905250" cy="2476500"/>
            <a:chOff x="0" y="0"/>
            <a:chExt cx="5207000" cy="3302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207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5207000">
                  <a:moveTo>
                    <a:pt x="127000" y="0"/>
                  </a:moveTo>
                  <a:lnTo>
                    <a:pt x="5080000" y="0"/>
                  </a:lnTo>
                  <a:cubicBezTo>
                    <a:pt x="5150140" y="0"/>
                    <a:pt x="5207000" y="56860"/>
                    <a:pt x="5207000" y="127000"/>
                  </a:cubicBezTo>
                  <a:lnTo>
                    <a:pt x="5207000" y="3175000"/>
                  </a:lnTo>
                  <a:cubicBezTo>
                    <a:pt x="5207000" y="3245140"/>
                    <a:pt x="5150140" y="3302000"/>
                    <a:pt x="5080000" y="3302000"/>
                  </a:cubicBezTo>
                  <a:lnTo>
                    <a:pt x="127000" y="3302000"/>
                  </a:lnTo>
                  <a:cubicBezTo>
                    <a:pt x="56860" y="3302000"/>
                    <a:pt x="0" y="3245140"/>
                    <a:pt x="0" y="31750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0BAFF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10839450" y="4076700"/>
            <a:ext cx="180975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PAYBACK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839450" y="4507230"/>
            <a:ext cx="2476500" cy="1093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0"/>
              </a:lnSpc>
            </a:pPr>
            <a:r>
              <a:rPr lang="en-US" sz="37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Måned</a:t>
            </a:r>
          </a:p>
          <a:p>
            <a:pPr algn="l">
              <a:lnSpc>
                <a:spcPts val="4140"/>
              </a:lnSpc>
            </a:pPr>
            <a:r>
              <a:rPr lang="en-US" sz="37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11-14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839450" y="5638800"/>
            <a:ext cx="2857500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5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Når kumulativ tidsbesparelse overstiger første investering.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5030450" y="3448050"/>
            <a:ext cx="2571750" cy="4000500"/>
            <a:chOff x="0" y="0"/>
            <a:chExt cx="3429000" cy="5334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429000" cy="5334000"/>
            </a:xfrm>
            <a:custGeom>
              <a:avLst/>
              <a:gdLst/>
              <a:ahLst/>
              <a:cxnLst/>
              <a:rect r="r" b="b" t="t" l="l"/>
              <a:pathLst>
                <a:path h="5334000" w="34290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3327400" y="0"/>
                  </a:lnTo>
                  <a:cubicBezTo>
                    <a:pt x="3383534" y="0"/>
                    <a:pt x="3429000" y="45466"/>
                    <a:pt x="3429000" y="101600"/>
                  </a:cubicBezTo>
                  <a:lnTo>
                    <a:pt x="3429000" y="5232400"/>
                  </a:lnTo>
                  <a:cubicBezTo>
                    <a:pt x="3429000" y="5288534"/>
                    <a:pt x="3383534" y="5334000"/>
                    <a:pt x="3327400" y="5334000"/>
                  </a:cubicBezTo>
                  <a:lnTo>
                    <a:pt x="101600" y="5334000"/>
                  </a:lnTo>
                  <a:cubicBezTo>
                    <a:pt x="45466" y="5334000"/>
                    <a:pt x="0" y="5288534"/>
                    <a:pt x="0" y="5232400"/>
                  </a:cubicBezTo>
                  <a:close/>
                </a:path>
              </a:pathLst>
            </a:custGeom>
            <a:solidFill>
              <a:srgbClr val="E7EEF6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4949488" y="3348038"/>
            <a:ext cx="2581275" cy="4010025"/>
            <a:chOff x="0" y="0"/>
            <a:chExt cx="3441700" cy="53467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441700" cy="5346700"/>
            </a:xfrm>
            <a:custGeom>
              <a:avLst/>
              <a:gdLst/>
              <a:ahLst/>
              <a:cxnLst/>
              <a:rect r="r" b="b" t="t" l="l"/>
              <a:pathLst>
                <a:path h="5346700" w="3441700">
                  <a:moveTo>
                    <a:pt x="0" y="101981"/>
                  </a:moveTo>
                  <a:cubicBezTo>
                    <a:pt x="0" y="45720"/>
                    <a:pt x="45720" y="0"/>
                    <a:pt x="101981" y="0"/>
                  </a:cubicBezTo>
                  <a:lnTo>
                    <a:pt x="3339719" y="0"/>
                  </a:lnTo>
                  <a:cubicBezTo>
                    <a:pt x="3395980" y="0"/>
                    <a:pt x="3441700" y="45720"/>
                    <a:pt x="3441700" y="101981"/>
                  </a:cubicBezTo>
                  <a:lnTo>
                    <a:pt x="3441700" y="5244719"/>
                  </a:lnTo>
                  <a:cubicBezTo>
                    <a:pt x="3441700" y="5300980"/>
                    <a:pt x="3395980" y="5346700"/>
                    <a:pt x="3339719" y="5346700"/>
                  </a:cubicBezTo>
                  <a:lnTo>
                    <a:pt x="101981" y="5346700"/>
                  </a:lnTo>
                  <a:cubicBezTo>
                    <a:pt x="45720" y="5346700"/>
                    <a:pt x="0" y="5300980"/>
                    <a:pt x="0" y="5244719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DE7F1"/>
              </a:solidFill>
              <a:prstDash val="solid"/>
              <a:miter/>
            </a:ln>
          </p:spPr>
        </p:sp>
      </p:grpSp>
      <p:sp>
        <p:nvSpPr>
          <p:cNvPr name="TextBox 31" id="31"/>
          <p:cNvSpPr txBox="true"/>
          <p:nvPr/>
        </p:nvSpPr>
        <p:spPr>
          <a:xfrm rot="0">
            <a:off x="15297150" y="3752850"/>
            <a:ext cx="161925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350" b="true">
                <a:solidFill>
                  <a:srgbClr val="00BAFF"/>
                </a:solidFill>
                <a:latin typeface="Arial Bold"/>
                <a:ea typeface="Arial Bold"/>
                <a:cs typeface="Arial Bold"/>
                <a:sym typeface="Arial Bold"/>
              </a:rPr>
              <a:t>ÅR 1-EFFEKT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5297150" y="4486275"/>
            <a:ext cx="1809750" cy="905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7"/>
              </a:lnSpc>
            </a:pPr>
            <a:r>
              <a:rPr lang="en-US" sz="31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DKK</a:t>
            </a:r>
          </a:p>
          <a:p>
            <a:pPr algn="l">
              <a:lnSpc>
                <a:spcPts val="3477"/>
              </a:lnSpc>
            </a:pPr>
            <a:r>
              <a:rPr lang="en-US" sz="31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10-15m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5316200" y="5572125"/>
            <a:ext cx="1809750" cy="4684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46"/>
              </a:lnSpc>
            </a:pPr>
            <a:r>
              <a:rPr lang="en-US" sz="1425" b="true">
                <a:solidFill>
                  <a:srgbClr val="6D7584"/>
                </a:solidFill>
                <a:latin typeface="Arial Bold"/>
                <a:ea typeface="Arial Bold"/>
                <a:cs typeface="Arial Bold"/>
                <a:sym typeface="Arial Bold"/>
              </a:rPr>
              <a:t>årlig bruttoværdi i første fakturaflow.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504950" y="7905750"/>
            <a:ext cx="4476750" cy="1066800"/>
            <a:chOff x="0" y="0"/>
            <a:chExt cx="5969000" cy="14224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969000" cy="1422400"/>
            </a:xfrm>
            <a:custGeom>
              <a:avLst/>
              <a:gdLst/>
              <a:ahLst/>
              <a:cxnLst/>
              <a:rect r="r" b="b" t="t" l="l"/>
              <a:pathLst>
                <a:path h="1422400" w="59690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5867400" y="0"/>
                  </a:lnTo>
                  <a:cubicBezTo>
                    <a:pt x="5923534" y="0"/>
                    <a:pt x="5969000" y="45466"/>
                    <a:pt x="5969000" y="101600"/>
                  </a:cubicBezTo>
                  <a:lnTo>
                    <a:pt x="5969000" y="1320800"/>
                  </a:lnTo>
                  <a:cubicBezTo>
                    <a:pt x="5969000" y="1376934"/>
                    <a:pt x="5923534" y="1422400"/>
                    <a:pt x="5867400" y="1422400"/>
                  </a:cubicBezTo>
                  <a:lnTo>
                    <a:pt x="101600" y="1422400"/>
                  </a:lnTo>
                  <a:cubicBezTo>
                    <a:pt x="45466" y="1422400"/>
                    <a:pt x="0" y="1376934"/>
                    <a:pt x="0" y="1320800"/>
                  </a:cubicBezTo>
                  <a:close/>
                </a:path>
              </a:pathLst>
            </a:custGeom>
            <a:solidFill>
              <a:srgbClr val="E7EEF6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423988" y="7805738"/>
            <a:ext cx="4486275" cy="1076325"/>
            <a:chOff x="0" y="0"/>
            <a:chExt cx="5981700" cy="14351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981700" cy="1435100"/>
            </a:xfrm>
            <a:custGeom>
              <a:avLst/>
              <a:gdLst/>
              <a:ahLst/>
              <a:cxnLst/>
              <a:rect r="r" b="b" t="t" l="l"/>
              <a:pathLst>
                <a:path h="1435100" w="5981700">
                  <a:moveTo>
                    <a:pt x="0" y="102489"/>
                  </a:moveTo>
                  <a:cubicBezTo>
                    <a:pt x="0" y="45847"/>
                    <a:pt x="45847" y="0"/>
                    <a:pt x="102489" y="0"/>
                  </a:cubicBezTo>
                  <a:lnTo>
                    <a:pt x="5879211" y="0"/>
                  </a:lnTo>
                  <a:cubicBezTo>
                    <a:pt x="5935853" y="0"/>
                    <a:pt x="5981700" y="45847"/>
                    <a:pt x="5981700" y="102489"/>
                  </a:cubicBezTo>
                  <a:lnTo>
                    <a:pt x="5981700" y="1332611"/>
                  </a:lnTo>
                  <a:cubicBezTo>
                    <a:pt x="5981700" y="1389253"/>
                    <a:pt x="5935853" y="1435100"/>
                    <a:pt x="5879211" y="1435100"/>
                  </a:cubicBezTo>
                  <a:lnTo>
                    <a:pt x="102489" y="1435100"/>
                  </a:lnTo>
                  <a:cubicBezTo>
                    <a:pt x="45847" y="1435100"/>
                    <a:pt x="0" y="1389253"/>
                    <a:pt x="0" y="1332611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DE7F1"/>
              </a:solidFill>
              <a:prstDash val="solid"/>
              <a:miter/>
            </a:ln>
          </p:spPr>
        </p:sp>
      </p:grpSp>
      <p:sp>
        <p:nvSpPr>
          <p:cNvPr name="TextBox 38" id="38"/>
          <p:cNvSpPr txBox="true"/>
          <p:nvPr/>
        </p:nvSpPr>
        <p:spPr>
          <a:xfrm rot="0">
            <a:off x="1676400" y="8058150"/>
            <a:ext cx="55245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sz="2100" b="true">
                <a:solidFill>
                  <a:srgbClr val="00BAF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419350" y="7972425"/>
            <a:ext cx="25717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72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Hurtigere svar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2419350" y="8343900"/>
            <a:ext cx="295275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6D7584"/>
                </a:solidFill>
                <a:latin typeface="Arial"/>
                <a:ea typeface="Arial"/>
                <a:cs typeface="Arial"/>
                <a:sym typeface="Arial"/>
              </a:rPr>
              <a:t>Mikkel bruger mindre tid på at finde årsagen.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6629400" y="7905750"/>
            <a:ext cx="4476750" cy="1066800"/>
            <a:chOff x="0" y="0"/>
            <a:chExt cx="5969000" cy="1422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969000" cy="1422400"/>
            </a:xfrm>
            <a:custGeom>
              <a:avLst/>
              <a:gdLst/>
              <a:ahLst/>
              <a:cxnLst/>
              <a:rect r="r" b="b" t="t" l="l"/>
              <a:pathLst>
                <a:path h="1422400" w="59690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5867400" y="0"/>
                  </a:lnTo>
                  <a:cubicBezTo>
                    <a:pt x="5923534" y="0"/>
                    <a:pt x="5969000" y="45466"/>
                    <a:pt x="5969000" y="101600"/>
                  </a:cubicBezTo>
                  <a:lnTo>
                    <a:pt x="5969000" y="1320800"/>
                  </a:lnTo>
                  <a:cubicBezTo>
                    <a:pt x="5969000" y="1376934"/>
                    <a:pt x="5923534" y="1422400"/>
                    <a:pt x="5867400" y="1422400"/>
                  </a:cubicBezTo>
                  <a:lnTo>
                    <a:pt x="101600" y="1422400"/>
                  </a:lnTo>
                  <a:cubicBezTo>
                    <a:pt x="45466" y="1422400"/>
                    <a:pt x="0" y="1376934"/>
                    <a:pt x="0" y="1320800"/>
                  </a:cubicBezTo>
                  <a:close/>
                </a:path>
              </a:pathLst>
            </a:custGeom>
            <a:solidFill>
              <a:srgbClr val="E7EEF6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548438" y="7805738"/>
            <a:ext cx="4486275" cy="1076325"/>
            <a:chOff x="0" y="0"/>
            <a:chExt cx="5981700" cy="14351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981700" cy="1435100"/>
            </a:xfrm>
            <a:custGeom>
              <a:avLst/>
              <a:gdLst/>
              <a:ahLst/>
              <a:cxnLst/>
              <a:rect r="r" b="b" t="t" l="l"/>
              <a:pathLst>
                <a:path h="1435100" w="5981700">
                  <a:moveTo>
                    <a:pt x="0" y="102489"/>
                  </a:moveTo>
                  <a:cubicBezTo>
                    <a:pt x="0" y="45847"/>
                    <a:pt x="45847" y="0"/>
                    <a:pt x="102489" y="0"/>
                  </a:cubicBezTo>
                  <a:lnTo>
                    <a:pt x="5879211" y="0"/>
                  </a:lnTo>
                  <a:cubicBezTo>
                    <a:pt x="5935853" y="0"/>
                    <a:pt x="5981700" y="45847"/>
                    <a:pt x="5981700" y="102489"/>
                  </a:cubicBezTo>
                  <a:lnTo>
                    <a:pt x="5981700" y="1332611"/>
                  </a:lnTo>
                  <a:cubicBezTo>
                    <a:pt x="5981700" y="1389253"/>
                    <a:pt x="5935853" y="1435100"/>
                    <a:pt x="5879211" y="1435100"/>
                  </a:cubicBezTo>
                  <a:lnTo>
                    <a:pt x="102489" y="1435100"/>
                  </a:lnTo>
                  <a:cubicBezTo>
                    <a:pt x="45847" y="1435100"/>
                    <a:pt x="0" y="1389253"/>
                    <a:pt x="0" y="1332611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DE7F1"/>
              </a:solidFill>
              <a:prstDash val="solid"/>
              <a:miter/>
            </a:ln>
          </p:spPr>
        </p:sp>
      </p:grpSp>
      <p:sp>
        <p:nvSpPr>
          <p:cNvPr name="TextBox 45" id="45"/>
          <p:cNvSpPr txBox="true"/>
          <p:nvPr/>
        </p:nvSpPr>
        <p:spPr>
          <a:xfrm rot="0">
            <a:off x="6800850" y="8058150"/>
            <a:ext cx="55245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sz="21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7543800" y="7972425"/>
            <a:ext cx="25717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72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Mindre efterarbejde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7543800" y="8343900"/>
            <a:ext cx="295275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6D7584"/>
                </a:solidFill>
                <a:latin typeface="Arial"/>
                <a:ea typeface="Arial"/>
                <a:cs typeface="Arial"/>
                <a:sym typeface="Arial"/>
              </a:rPr>
              <a:t>Sagsnotat og dokumentation skabes i flowet.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1753850" y="7905750"/>
            <a:ext cx="4476750" cy="1066800"/>
            <a:chOff x="0" y="0"/>
            <a:chExt cx="5969000" cy="14224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969000" cy="1422400"/>
            </a:xfrm>
            <a:custGeom>
              <a:avLst/>
              <a:gdLst/>
              <a:ahLst/>
              <a:cxnLst/>
              <a:rect r="r" b="b" t="t" l="l"/>
              <a:pathLst>
                <a:path h="1422400" w="59690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5867400" y="0"/>
                  </a:lnTo>
                  <a:cubicBezTo>
                    <a:pt x="5923534" y="0"/>
                    <a:pt x="5969000" y="45466"/>
                    <a:pt x="5969000" y="101600"/>
                  </a:cubicBezTo>
                  <a:lnTo>
                    <a:pt x="5969000" y="1320800"/>
                  </a:lnTo>
                  <a:cubicBezTo>
                    <a:pt x="5969000" y="1376934"/>
                    <a:pt x="5923534" y="1422400"/>
                    <a:pt x="5867400" y="1422400"/>
                  </a:cubicBezTo>
                  <a:lnTo>
                    <a:pt x="101600" y="1422400"/>
                  </a:lnTo>
                  <a:cubicBezTo>
                    <a:pt x="45466" y="1422400"/>
                    <a:pt x="0" y="1376934"/>
                    <a:pt x="0" y="1320800"/>
                  </a:cubicBezTo>
                  <a:close/>
                </a:path>
              </a:pathLst>
            </a:custGeom>
            <a:solidFill>
              <a:srgbClr val="E7EEF6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1672888" y="7805738"/>
            <a:ext cx="4486275" cy="1076325"/>
            <a:chOff x="0" y="0"/>
            <a:chExt cx="5981700" cy="14351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981700" cy="1435100"/>
            </a:xfrm>
            <a:custGeom>
              <a:avLst/>
              <a:gdLst/>
              <a:ahLst/>
              <a:cxnLst/>
              <a:rect r="r" b="b" t="t" l="l"/>
              <a:pathLst>
                <a:path h="1435100" w="5981700">
                  <a:moveTo>
                    <a:pt x="0" y="102489"/>
                  </a:moveTo>
                  <a:cubicBezTo>
                    <a:pt x="0" y="45847"/>
                    <a:pt x="45847" y="0"/>
                    <a:pt x="102489" y="0"/>
                  </a:cubicBezTo>
                  <a:lnTo>
                    <a:pt x="5879211" y="0"/>
                  </a:lnTo>
                  <a:cubicBezTo>
                    <a:pt x="5935853" y="0"/>
                    <a:pt x="5981700" y="45847"/>
                    <a:pt x="5981700" y="102489"/>
                  </a:cubicBezTo>
                  <a:lnTo>
                    <a:pt x="5981700" y="1332611"/>
                  </a:lnTo>
                  <a:cubicBezTo>
                    <a:pt x="5981700" y="1389253"/>
                    <a:pt x="5935853" y="1435100"/>
                    <a:pt x="5879211" y="1435100"/>
                  </a:cubicBezTo>
                  <a:lnTo>
                    <a:pt x="102489" y="1435100"/>
                  </a:lnTo>
                  <a:cubicBezTo>
                    <a:pt x="45847" y="1435100"/>
                    <a:pt x="0" y="1389253"/>
                    <a:pt x="0" y="1332611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DE7F1"/>
              </a:solidFill>
              <a:prstDash val="solid"/>
              <a:miter/>
            </a:ln>
          </p:spPr>
        </p:sp>
      </p:grpSp>
      <p:sp>
        <p:nvSpPr>
          <p:cNvPr name="TextBox 52" id="52"/>
          <p:cNvSpPr txBox="true"/>
          <p:nvPr/>
        </p:nvSpPr>
        <p:spPr>
          <a:xfrm rot="0">
            <a:off x="11925300" y="8058150"/>
            <a:ext cx="55245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sz="2100" b="true">
                <a:solidFill>
                  <a:srgbClr val="00BAFF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2668250" y="7972425"/>
            <a:ext cx="25717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72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Genbrug på journeys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2668250" y="8343900"/>
            <a:ext cx="295275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6D7584"/>
                </a:solidFill>
                <a:latin typeface="Arial"/>
                <a:ea typeface="Arial"/>
                <a:cs typeface="Arial"/>
                <a:sym typeface="Arial"/>
              </a:rPr>
              <a:t>Samme agentmønster kan genbruges på nye servicejourneys.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5621000" y="9667875"/>
            <a:ext cx="142875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Value case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17135475" y="9772650"/>
            <a:ext cx="19050" cy="190500"/>
            <a:chOff x="0" y="0"/>
            <a:chExt cx="25400" cy="2540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54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">
                  <a:moveTo>
                    <a:pt x="0" y="0"/>
                  </a:moveTo>
                  <a:lnTo>
                    <a:pt x="25400" y="2540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-1233035" t="0" r="-1233035" b="0"/>
              </a:stretch>
            </a:blip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sp>
        <p:nvSpPr>
          <p:cNvPr name="TextBox 59" id="59"/>
          <p:cNvSpPr txBox="true"/>
          <p:nvPr/>
        </p:nvSpPr>
        <p:spPr>
          <a:xfrm rot="0">
            <a:off x="17297400" y="9620250"/>
            <a:ext cx="2667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name="Freeform 60" id="60"/>
          <p:cNvSpPr/>
          <p:nvPr/>
        </p:nvSpPr>
        <p:spPr>
          <a:xfrm flipH="false" flipV="false" rot="0">
            <a:off x="876300" y="9476345"/>
            <a:ext cx="456796" cy="182005"/>
          </a:xfrm>
          <a:custGeom>
            <a:avLst/>
            <a:gdLst/>
            <a:ahLst/>
            <a:cxnLst/>
            <a:rect r="r" b="b" t="t" l="l"/>
            <a:pathLst>
              <a:path h="182005" w="456796">
                <a:moveTo>
                  <a:pt x="0" y="0"/>
                </a:moveTo>
                <a:lnTo>
                  <a:pt x="456796" y="0"/>
                </a:lnTo>
                <a:lnTo>
                  <a:pt x="456796" y="182005"/>
                </a:lnTo>
                <a:lnTo>
                  <a:pt x="0" y="1820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359188" y="9405938"/>
            <a:ext cx="3000375" cy="447675"/>
            <a:chOff x="0" y="0"/>
            <a:chExt cx="4000500" cy="5969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000500" cy="596900"/>
            </a:xfrm>
            <a:custGeom>
              <a:avLst/>
              <a:gdLst/>
              <a:ahLst/>
              <a:cxnLst/>
              <a:rect r="r" b="b" t="t" l="l"/>
              <a:pathLst>
                <a:path h="596900" w="4000500">
                  <a:moveTo>
                    <a:pt x="0" y="0"/>
                  </a:moveTo>
                  <a:lnTo>
                    <a:pt x="4000500" y="5969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0" t="-80591" r="0" b="-80591"/>
              </a:stretch>
            </a:blipFill>
            <a:ln w="47625" cap="sq">
              <a:solidFill>
                <a:srgbClr val="061B3F"/>
              </a:solidFill>
              <a:prstDash val="sysDot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2001500" y="2076450"/>
            <a:ext cx="704850" cy="704850"/>
            <a:chOff x="0" y="0"/>
            <a:chExt cx="939800" cy="939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39800" cy="939800"/>
            </a:xfrm>
            <a:custGeom>
              <a:avLst/>
              <a:gdLst/>
              <a:ahLst/>
              <a:cxnLst/>
              <a:rect r="r" b="b" t="t" l="l"/>
              <a:pathLst>
                <a:path h="939800" w="939800">
                  <a:moveTo>
                    <a:pt x="0" y="469900"/>
                  </a:moveTo>
                  <a:cubicBezTo>
                    <a:pt x="0" y="210439"/>
                    <a:pt x="210439" y="0"/>
                    <a:pt x="469900" y="0"/>
                  </a:cubicBezTo>
                  <a:cubicBezTo>
                    <a:pt x="729361" y="0"/>
                    <a:pt x="939800" y="210439"/>
                    <a:pt x="939800" y="469900"/>
                  </a:cubicBezTo>
                  <a:cubicBezTo>
                    <a:pt x="939800" y="729361"/>
                    <a:pt x="729361" y="939800"/>
                    <a:pt x="469900" y="939800"/>
                  </a:cubicBezTo>
                  <a:cubicBezTo>
                    <a:pt x="210439" y="939800"/>
                    <a:pt x="0" y="729361"/>
                    <a:pt x="0" y="469900"/>
                  </a:cubicBezTo>
                  <a:close/>
                </a:path>
              </a:pathLst>
            </a:custGeom>
            <a:solidFill>
              <a:srgbClr val="061B3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2001500" y="3924300"/>
            <a:ext cx="704850" cy="704850"/>
            <a:chOff x="0" y="0"/>
            <a:chExt cx="939800" cy="939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39800" cy="939800"/>
            </a:xfrm>
            <a:custGeom>
              <a:avLst/>
              <a:gdLst/>
              <a:ahLst/>
              <a:cxnLst/>
              <a:rect r="r" b="b" t="t" l="l"/>
              <a:pathLst>
                <a:path h="939800" w="939800">
                  <a:moveTo>
                    <a:pt x="0" y="469900"/>
                  </a:moveTo>
                  <a:cubicBezTo>
                    <a:pt x="0" y="210439"/>
                    <a:pt x="210439" y="0"/>
                    <a:pt x="469900" y="0"/>
                  </a:cubicBezTo>
                  <a:cubicBezTo>
                    <a:pt x="729361" y="0"/>
                    <a:pt x="939800" y="210439"/>
                    <a:pt x="939800" y="469900"/>
                  </a:cubicBezTo>
                  <a:cubicBezTo>
                    <a:pt x="939800" y="729361"/>
                    <a:pt x="729361" y="939800"/>
                    <a:pt x="469900" y="939800"/>
                  </a:cubicBezTo>
                  <a:cubicBezTo>
                    <a:pt x="210439" y="939800"/>
                    <a:pt x="0" y="729361"/>
                    <a:pt x="0" y="469900"/>
                  </a:cubicBezTo>
                  <a:close/>
                </a:path>
              </a:pathLst>
            </a:custGeom>
            <a:solidFill>
              <a:srgbClr val="092A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2001500" y="5772150"/>
            <a:ext cx="704850" cy="704850"/>
            <a:chOff x="0" y="0"/>
            <a:chExt cx="939800" cy="939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39800" cy="939800"/>
            </a:xfrm>
            <a:custGeom>
              <a:avLst/>
              <a:gdLst/>
              <a:ahLst/>
              <a:cxnLst/>
              <a:rect r="r" b="b" t="t" l="l"/>
              <a:pathLst>
                <a:path h="939800" w="939800">
                  <a:moveTo>
                    <a:pt x="0" y="469900"/>
                  </a:moveTo>
                  <a:cubicBezTo>
                    <a:pt x="0" y="210439"/>
                    <a:pt x="210439" y="0"/>
                    <a:pt x="469900" y="0"/>
                  </a:cubicBezTo>
                  <a:cubicBezTo>
                    <a:pt x="729361" y="0"/>
                    <a:pt x="939800" y="210439"/>
                    <a:pt x="939800" y="469900"/>
                  </a:cubicBezTo>
                  <a:cubicBezTo>
                    <a:pt x="939800" y="729361"/>
                    <a:pt x="729361" y="939800"/>
                    <a:pt x="469900" y="939800"/>
                  </a:cubicBezTo>
                  <a:cubicBezTo>
                    <a:pt x="210439" y="939800"/>
                    <a:pt x="0" y="729361"/>
                    <a:pt x="0" y="469900"/>
                  </a:cubicBezTo>
                  <a:close/>
                </a:path>
              </a:pathLst>
            </a:custGeom>
            <a:solidFill>
              <a:srgbClr val="00BA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76300" y="7848600"/>
            <a:ext cx="8667750" cy="1333500"/>
            <a:chOff x="0" y="0"/>
            <a:chExt cx="11557000" cy="1778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557000" cy="1778000"/>
            </a:xfrm>
            <a:custGeom>
              <a:avLst/>
              <a:gdLst/>
              <a:ahLst/>
              <a:cxnLst/>
              <a:rect r="r" b="b" t="t" l="l"/>
              <a:pathLst>
                <a:path h="1778000" w="11557000">
                  <a:moveTo>
                    <a:pt x="0" y="177800"/>
                  </a:moveTo>
                  <a:cubicBezTo>
                    <a:pt x="0" y="79629"/>
                    <a:pt x="79629" y="0"/>
                    <a:pt x="177800" y="0"/>
                  </a:cubicBezTo>
                  <a:lnTo>
                    <a:pt x="11379200" y="0"/>
                  </a:lnTo>
                  <a:cubicBezTo>
                    <a:pt x="11477371" y="0"/>
                    <a:pt x="11557000" y="79629"/>
                    <a:pt x="11557000" y="177800"/>
                  </a:cubicBezTo>
                  <a:lnTo>
                    <a:pt x="11557000" y="1600200"/>
                  </a:lnTo>
                  <a:cubicBezTo>
                    <a:pt x="11557000" y="1698371"/>
                    <a:pt x="11477371" y="1778000"/>
                    <a:pt x="11379200" y="1778000"/>
                  </a:cubicBezTo>
                  <a:lnTo>
                    <a:pt x="177800" y="1778000"/>
                  </a:lnTo>
                  <a:cubicBezTo>
                    <a:pt x="79629" y="1778000"/>
                    <a:pt x="0" y="1698371"/>
                    <a:pt x="0" y="1600200"/>
                  </a:cubicBezTo>
                  <a:close/>
                </a:path>
              </a:pathLst>
            </a:custGeom>
            <a:solidFill>
              <a:srgbClr val="061B3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9696450" y="7848600"/>
            <a:ext cx="7715250" cy="1333500"/>
            <a:chOff x="0" y="0"/>
            <a:chExt cx="10287000" cy="1778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287000" cy="1778000"/>
            </a:xfrm>
            <a:custGeom>
              <a:avLst/>
              <a:gdLst/>
              <a:ahLst/>
              <a:cxnLst/>
              <a:rect r="r" b="b" t="t" l="l"/>
              <a:pathLst>
                <a:path h="1778000" w="10287000">
                  <a:moveTo>
                    <a:pt x="0" y="177800"/>
                  </a:moveTo>
                  <a:cubicBezTo>
                    <a:pt x="0" y="79629"/>
                    <a:pt x="79629" y="0"/>
                    <a:pt x="177800" y="0"/>
                  </a:cubicBezTo>
                  <a:lnTo>
                    <a:pt x="10109200" y="0"/>
                  </a:lnTo>
                  <a:cubicBezTo>
                    <a:pt x="10207371" y="0"/>
                    <a:pt x="10287000" y="79629"/>
                    <a:pt x="10287000" y="177800"/>
                  </a:cubicBezTo>
                  <a:lnTo>
                    <a:pt x="10287000" y="1600200"/>
                  </a:lnTo>
                  <a:cubicBezTo>
                    <a:pt x="10287000" y="1698371"/>
                    <a:pt x="10207371" y="1778000"/>
                    <a:pt x="10109200" y="1778000"/>
                  </a:cubicBezTo>
                  <a:lnTo>
                    <a:pt x="177800" y="1778000"/>
                  </a:lnTo>
                  <a:cubicBezTo>
                    <a:pt x="79629" y="1778000"/>
                    <a:pt x="0" y="1698371"/>
                    <a:pt x="0" y="1600200"/>
                  </a:cubicBezTo>
                  <a:close/>
                </a:path>
              </a:pathLst>
            </a:custGeom>
            <a:solidFill>
              <a:srgbClr val="092A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7021175" y="9772650"/>
            <a:ext cx="19050" cy="190500"/>
            <a:chOff x="0" y="0"/>
            <a:chExt cx="25400" cy="254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54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">
                  <a:moveTo>
                    <a:pt x="0" y="0"/>
                  </a:moveTo>
                  <a:lnTo>
                    <a:pt x="25400" y="2540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-1233035" t="0" r="-1233035" b="0"/>
              </a:stretch>
            </a:blip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876300" y="4572000"/>
            <a:ext cx="6858000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6"/>
              </a:lnSpc>
            </a:pPr>
            <a:r>
              <a:rPr lang="en-US" sz="21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Digitalt vant kunde, der vil forstå,</a:t>
            </a:r>
          </a:p>
          <a:p>
            <a:pPr algn="l">
              <a:lnSpc>
                <a:spcPts val="2646"/>
              </a:lnSpc>
            </a:pPr>
            <a:r>
              <a:rPr lang="en-US" sz="21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hvorfor regningen er steget med 150 kr.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001500" y="2238375"/>
            <a:ext cx="704850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3"/>
              </a:lnSpc>
            </a:pPr>
            <a:r>
              <a:rPr lang="en-US" sz="25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992100" y="2085975"/>
            <a:ext cx="3714750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3"/>
              </a:lnSpc>
            </a:pPr>
            <a:r>
              <a:rPr lang="en-US" sz="25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Kontekst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992100" y="2571750"/>
            <a:ext cx="4095750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34 år, København. Mobil- og</a:t>
            </a:r>
          </a:p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fiberkunde. Bruger selvbetjening,</a:t>
            </a:r>
          </a:p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når svaret kan findes hurtigt.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001500" y="4086225"/>
            <a:ext cx="704850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3"/>
              </a:lnSpc>
            </a:pPr>
            <a:r>
              <a:rPr lang="en-US" sz="25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992100" y="3933825"/>
            <a:ext cx="3714750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3"/>
              </a:lnSpc>
            </a:pPr>
            <a:r>
              <a:rPr lang="en-US" sz="25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Behov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992100" y="4419600"/>
            <a:ext cx="4095750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Forstå regningsændringen med det</a:t>
            </a:r>
          </a:p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samme uden at vente på en</a:t>
            </a:r>
          </a:p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medarbejder.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001500" y="5900397"/>
            <a:ext cx="704850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3"/>
              </a:lnSpc>
            </a:pPr>
            <a:r>
              <a:rPr lang="en-US" sz="25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992100" y="5781675"/>
            <a:ext cx="3714750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3"/>
              </a:lnSpc>
            </a:pPr>
            <a:r>
              <a:rPr lang="en-US" sz="25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Problem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992100" y="6267450"/>
            <a:ext cx="4095750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Kunde-, faktura- og forbrugsdata</a:t>
            </a:r>
          </a:p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ligger på tværs af systemer, før</a:t>
            </a:r>
          </a:p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regningen kan forklares.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38250" y="8143875"/>
            <a:ext cx="781050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9"/>
              </a:lnSpc>
            </a:pPr>
            <a:r>
              <a:rPr lang="en-US" b="true" sz="2325" i="true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"Min regning er 150 kr. højere.</a:t>
            </a:r>
          </a:p>
          <a:p>
            <a:pPr algn="l">
              <a:lnSpc>
                <a:spcPts val="2929"/>
              </a:lnSpc>
            </a:pPr>
            <a:r>
              <a:rPr lang="en-US" b="true" sz="2325" i="true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Hvorfor skal jeg vente i kø?"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077450" y="7981950"/>
            <a:ext cx="28575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875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DESIGNIMPLIKATION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077450" y="8401050"/>
            <a:ext cx="647700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In</a:t>
            </a:r>
            <a:r>
              <a:rPr lang="en-US" sz="1875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tern SIGNAL AGENT med adgang til faktura- og forbrugsdata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7192625" y="9629775"/>
            <a:ext cx="228600" cy="227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4</a:t>
            </a:r>
          </a:p>
        </p:txBody>
      </p:sp>
      <p:sp>
        <p:nvSpPr>
          <p:cNvPr name="Freeform 30" id="30"/>
          <p:cNvSpPr/>
          <p:nvPr/>
        </p:nvSpPr>
        <p:spPr>
          <a:xfrm flipH="false" flipV="false" rot="-675444">
            <a:off x="-565628" y="4134492"/>
            <a:ext cx="5907872" cy="32613"/>
          </a:xfrm>
          <a:custGeom>
            <a:avLst/>
            <a:gdLst/>
            <a:ahLst/>
            <a:cxnLst/>
            <a:rect r="r" b="b" t="t" l="l"/>
            <a:pathLst>
              <a:path h="32613" w="5907872">
                <a:moveTo>
                  <a:pt x="0" y="0"/>
                </a:moveTo>
                <a:lnTo>
                  <a:pt x="5907872" y="0"/>
                </a:lnTo>
                <a:lnTo>
                  <a:pt x="5907872" y="32613"/>
                </a:lnTo>
                <a:lnTo>
                  <a:pt x="0" y="326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39346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734241">
            <a:off x="15881723" y="9643823"/>
            <a:ext cx="4715547" cy="29054"/>
          </a:xfrm>
          <a:custGeom>
            <a:avLst/>
            <a:gdLst/>
            <a:ahLst/>
            <a:cxnLst/>
            <a:rect r="r" b="b" t="t" l="l"/>
            <a:pathLst>
              <a:path h="29054" w="4715547">
                <a:moveTo>
                  <a:pt x="0" y="0"/>
                </a:moveTo>
                <a:lnTo>
                  <a:pt x="4715546" y="0"/>
                </a:lnTo>
                <a:lnTo>
                  <a:pt x="4715546" y="29054"/>
                </a:lnTo>
                <a:lnTo>
                  <a:pt x="0" y="290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805" t="0" r="-5805" b="-39346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8115300" y="2886075"/>
            <a:ext cx="3676650" cy="3676650"/>
            <a:chOff x="0" y="0"/>
            <a:chExt cx="4902200" cy="49022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902200" cy="4902200"/>
            </a:xfrm>
            <a:custGeom>
              <a:avLst/>
              <a:gdLst/>
              <a:ahLst/>
              <a:cxnLst/>
              <a:rect r="r" b="b" t="t" l="l"/>
              <a:pathLst>
                <a:path h="4902200" w="4902200">
                  <a:moveTo>
                    <a:pt x="0" y="2451100"/>
                  </a:moveTo>
                  <a:cubicBezTo>
                    <a:pt x="0" y="1097407"/>
                    <a:pt x="1097407" y="0"/>
                    <a:pt x="2451100" y="0"/>
                  </a:cubicBezTo>
                  <a:cubicBezTo>
                    <a:pt x="3804793" y="0"/>
                    <a:pt x="4902200" y="1097407"/>
                    <a:pt x="4902200" y="2451100"/>
                  </a:cubicBezTo>
                  <a:cubicBezTo>
                    <a:pt x="4902200" y="3804793"/>
                    <a:pt x="3804793" y="4902200"/>
                    <a:pt x="2451100" y="4902200"/>
                  </a:cubicBezTo>
                  <a:cubicBezTo>
                    <a:pt x="1097407" y="4902200"/>
                    <a:pt x="0" y="3804793"/>
                    <a:pt x="0" y="2451100"/>
                  </a:cubicBezTo>
                  <a:close/>
                </a:path>
              </a:pathLst>
            </a:custGeom>
            <a:solidFill>
              <a:srgbClr val="D8F5F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8362950" y="3133725"/>
            <a:ext cx="3181350" cy="3181350"/>
            <a:chOff x="0" y="0"/>
            <a:chExt cx="4241800" cy="42418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241800" cy="4241800"/>
            </a:xfrm>
            <a:custGeom>
              <a:avLst/>
              <a:gdLst/>
              <a:ahLst/>
              <a:cxnLst/>
              <a:rect r="r" b="b" t="t" l="l"/>
              <a:pathLst>
                <a:path h="4241800" w="4241800">
                  <a:moveTo>
                    <a:pt x="0" y="2120900"/>
                  </a:moveTo>
                  <a:cubicBezTo>
                    <a:pt x="0" y="949579"/>
                    <a:pt x="949579" y="0"/>
                    <a:pt x="2120900" y="0"/>
                  </a:cubicBezTo>
                  <a:cubicBezTo>
                    <a:pt x="3292221" y="0"/>
                    <a:pt x="4241800" y="949579"/>
                    <a:pt x="4241800" y="2120900"/>
                  </a:cubicBezTo>
                  <a:cubicBezTo>
                    <a:pt x="4241800" y="3292221"/>
                    <a:pt x="3292221" y="4241800"/>
                    <a:pt x="2120900" y="4241800"/>
                  </a:cubicBezTo>
                  <a:cubicBezTo>
                    <a:pt x="949579" y="4241800"/>
                    <a:pt x="0" y="3292221"/>
                    <a:pt x="0" y="2120900"/>
                  </a:cubicBezTo>
                  <a:close/>
                </a:path>
              </a:pathLst>
            </a:custGeom>
            <a:solidFill>
              <a:srgbClr val="061B3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559568" y="3324105"/>
            <a:ext cx="2794352" cy="2794352"/>
            <a:chOff x="0" y="0"/>
            <a:chExt cx="4241800" cy="4241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241800" cy="4241800"/>
            </a:xfrm>
            <a:custGeom>
              <a:avLst/>
              <a:gdLst/>
              <a:ahLst/>
              <a:cxnLst/>
              <a:rect r="r" b="b" t="t" l="l"/>
              <a:pathLst>
                <a:path h="4241800" w="4241800">
                  <a:moveTo>
                    <a:pt x="0" y="2120900"/>
                  </a:moveTo>
                  <a:cubicBezTo>
                    <a:pt x="0" y="949579"/>
                    <a:pt x="949579" y="0"/>
                    <a:pt x="2120900" y="0"/>
                  </a:cubicBezTo>
                  <a:cubicBezTo>
                    <a:pt x="3292221" y="0"/>
                    <a:pt x="4241800" y="949579"/>
                    <a:pt x="4241800" y="2120900"/>
                  </a:cubicBezTo>
                  <a:cubicBezTo>
                    <a:pt x="4241800" y="3292221"/>
                    <a:pt x="3292221" y="4241800"/>
                    <a:pt x="2120900" y="4241800"/>
                  </a:cubicBezTo>
                  <a:cubicBezTo>
                    <a:pt x="949579" y="4241800"/>
                    <a:pt x="0" y="3292221"/>
                    <a:pt x="0" y="2120900"/>
                  </a:cubicBez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TextBox 38" id="38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Freeform 39" id="39"/>
          <p:cNvSpPr/>
          <p:nvPr/>
        </p:nvSpPr>
        <p:spPr>
          <a:xfrm flipH="false" flipV="false" rot="0">
            <a:off x="876300" y="9476345"/>
            <a:ext cx="456796" cy="182005"/>
          </a:xfrm>
          <a:custGeom>
            <a:avLst/>
            <a:gdLst/>
            <a:ahLst/>
            <a:cxnLst/>
            <a:rect r="r" b="b" t="t" l="l"/>
            <a:pathLst>
              <a:path h="182005" w="456796">
                <a:moveTo>
                  <a:pt x="0" y="0"/>
                </a:moveTo>
                <a:lnTo>
                  <a:pt x="456796" y="0"/>
                </a:lnTo>
                <a:lnTo>
                  <a:pt x="456796" y="182005"/>
                </a:lnTo>
                <a:lnTo>
                  <a:pt x="0" y="1820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5621000" y="9667875"/>
            <a:ext cx="1428750" cy="164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Persona 1: Maria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4382750" y="771525"/>
            <a:ext cx="314325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11"/>
              </a:lnSpc>
            </a:pPr>
            <a:r>
              <a:rPr lang="en-US" sz="105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Dokumentklassifikation: KPMG fortroligt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876300" y="666750"/>
            <a:ext cx="1829916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i="true">
                <a:solidFill>
                  <a:srgbClr val="00BA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Persona 01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99845" y="1261034"/>
            <a:ext cx="6934455" cy="346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414"/>
              </a:lnSpc>
            </a:pPr>
            <a:r>
              <a:rPr lang="en-US" sz="48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Maria vil have svar</a:t>
            </a:r>
          </a:p>
          <a:p>
            <a:pPr algn="just">
              <a:lnSpc>
                <a:spcPts val="5414"/>
              </a:lnSpc>
            </a:pPr>
            <a:r>
              <a:rPr lang="en-US" sz="48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uden at vente</a:t>
            </a:r>
          </a:p>
          <a:p>
            <a:pPr algn="just">
              <a:lnSpc>
                <a:spcPts val="5414"/>
              </a:lnSpc>
            </a:pPr>
            <a:r>
              <a:rPr lang="en-US" sz="48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i telefonkø</a:t>
            </a:r>
          </a:p>
          <a:p>
            <a:pPr algn="just">
              <a:lnSpc>
                <a:spcPts val="5414"/>
              </a:lnSpc>
            </a:pPr>
          </a:p>
          <a:p>
            <a:pPr algn="l">
              <a:lnSpc>
                <a:spcPts val="5414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406562" y="8596312"/>
            <a:ext cx="4333875" cy="904875"/>
            <a:chOff x="0" y="0"/>
            <a:chExt cx="5778500" cy="1206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78500" cy="1206500"/>
            </a:xfrm>
            <a:custGeom>
              <a:avLst/>
              <a:gdLst/>
              <a:ahLst/>
              <a:cxnLst/>
              <a:rect r="r" b="b" t="t" l="l"/>
              <a:pathLst>
                <a:path h="1206500" w="5778500">
                  <a:moveTo>
                    <a:pt x="0" y="0"/>
                  </a:moveTo>
                  <a:lnTo>
                    <a:pt x="5778500" y="12065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0" t="-43323" r="0" b="-43323"/>
              </a:stretch>
            </a:blipFill>
            <a:ln w="47625" cap="sq">
              <a:solidFill>
                <a:srgbClr val="061B3F"/>
              </a:solidFill>
              <a:prstDash val="sysDot"/>
              <a:miter/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876300" y="3731698"/>
            <a:ext cx="7239000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8"/>
              </a:lnSpc>
            </a:pPr>
            <a:r>
              <a:rPr lang="en-US" sz="2175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Kundeserviceagenten skal forklare regningsafvigelser,</a:t>
            </a:r>
          </a:p>
          <a:p>
            <a:pPr algn="l">
              <a:lnSpc>
                <a:spcPts val="2818"/>
              </a:lnSpc>
            </a:pPr>
            <a:r>
              <a:rPr lang="en-US" sz="2175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mens kunden venter i røret.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220075" y="2905125"/>
            <a:ext cx="3676650" cy="3676650"/>
            <a:chOff x="0" y="0"/>
            <a:chExt cx="4902200" cy="49022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902200" cy="4902200"/>
            </a:xfrm>
            <a:custGeom>
              <a:avLst/>
              <a:gdLst/>
              <a:ahLst/>
              <a:cxnLst/>
              <a:rect r="r" b="b" t="t" l="l"/>
              <a:pathLst>
                <a:path h="4902200" w="4902200">
                  <a:moveTo>
                    <a:pt x="0" y="2451100"/>
                  </a:moveTo>
                  <a:cubicBezTo>
                    <a:pt x="0" y="1097407"/>
                    <a:pt x="1097407" y="0"/>
                    <a:pt x="2451100" y="0"/>
                  </a:cubicBezTo>
                  <a:cubicBezTo>
                    <a:pt x="3804793" y="0"/>
                    <a:pt x="4902200" y="1097407"/>
                    <a:pt x="4902200" y="2451100"/>
                  </a:cubicBezTo>
                  <a:cubicBezTo>
                    <a:pt x="4902200" y="3804793"/>
                    <a:pt x="3804793" y="4902200"/>
                    <a:pt x="2451100" y="4902200"/>
                  </a:cubicBezTo>
                  <a:cubicBezTo>
                    <a:pt x="1097407" y="4902200"/>
                    <a:pt x="0" y="3804793"/>
                    <a:pt x="0" y="2451100"/>
                  </a:cubicBezTo>
                  <a:close/>
                </a:path>
              </a:pathLst>
            </a:custGeom>
            <a:solidFill>
              <a:srgbClr val="D8F5F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8467725" y="3152775"/>
            <a:ext cx="3181350" cy="3181350"/>
            <a:chOff x="0" y="0"/>
            <a:chExt cx="4241800" cy="4241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241800" cy="4241800"/>
            </a:xfrm>
            <a:custGeom>
              <a:avLst/>
              <a:gdLst/>
              <a:ahLst/>
              <a:cxnLst/>
              <a:rect r="r" b="b" t="t" l="l"/>
              <a:pathLst>
                <a:path h="4241800" w="4241800">
                  <a:moveTo>
                    <a:pt x="0" y="2120900"/>
                  </a:moveTo>
                  <a:cubicBezTo>
                    <a:pt x="0" y="949579"/>
                    <a:pt x="949579" y="0"/>
                    <a:pt x="2120900" y="0"/>
                  </a:cubicBezTo>
                  <a:cubicBezTo>
                    <a:pt x="3292221" y="0"/>
                    <a:pt x="4241800" y="949579"/>
                    <a:pt x="4241800" y="2120900"/>
                  </a:cubicBezTo>
                  <a:cubicBezTo>
                    <a:pt x="4241800" y="3292221"/>
                    <a:pt x="3292221" y="4241800"/>
                    <a:pt x="2120900" y="4241800"/>
                  </a:cubicBezTo>
                  <a:cubicBezTo>
                    <a:pt x="949579" y="4241800"/>
                    <a:pt x="0" y="3292221"/>
                    <a:pt x="0" y="2120900"/>
                  </a:cubicBezTo>
                  <a:close/>
                </a:path>
              </a:pathLst>
            </a:custGeom>
            <a:solidFill>
              <a:srgbClr val="061B3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8620125" y="3305175"/>
            <a:ext cx="2876550" cy="2876550"/>
            <a:chOff x="0" y="0"/>
            <a:chExt cx="3835400" cy="3835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35400" cy="3835400"/>
            </a:xfrm>
            <a:custGeom>
              <a:avLst/>
              <a:gdLst/>
              <a:ahLst/>
              <a:cxnLst/>
              <a:rect r="r" b="b" t="t" l="l"/>
              <a:pathLst>
                <a:path h="3835400" w="3835400">
                  <a:moveTo>
                    <a:pt x="0" y="0"/>
                  </a:moveTo>
                  <a:lnTo>
                    <a:pt x="3835400" y="0"/>
                  </a:lnTo>
                  <a:lnTo>
                    <a:pt x="3835400" y="3835400"/>
                  </a:lnTo>
                  <a:lnTo>
                    <a:pt x="0" y="3835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2106275" y="2095500"/>
            <a:ext cx="704850" cy="704850"/>
            <a:chOff x="0" y="0"/>
            <a:chExt cx="939800" cy="939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39800" cy="939800"/>
            </a:xfrm>
            <a:custGeom>
              <a:avLst/>
              <a:gdLst/>
              <a:ahLst/>
              <a:cxnLst/>
              <a:rect r="r" b="b" t="t" l="l"/>
              <a:pathLst>
                <a:path h="939800" w="939800">
                  <a:moveTo>
                    <a:pt x="0" y="469900"/>
                  </a:moveTo>
                  <a:cubicBezTo>
                    <a:pt x="0" y="210439"/>
                    <a:pt x="210439" y="0"/>
                    <a:pt x="469900" y="0"/>
                  </a:cubicBezTo>
                  <a:cubicBezTo>
                    <a:pt x="729361" y="0"/>
                    <a:pt x="939800" y="210439"/>
                    <a:pt x="939800" y="469900"/>
                  </a:cubicBezTo>
                  <a:cubicBezTo>
                    <a:pt x="939800" y="729361"/>
                    <a:pt x="729361" y="939800"/>
                    <a:pt x="469900" y="939800"/>
                  </a:cubicBezTo>
                  <a:cubicBezTo>
                    <a:pt x="210439" y="939800"/>
                    <a:pt x="0" y="729361"/>
                    <a:pt x="0" y="469900"/>
                  </a:cubicBezTo>
                  <a:close/>
                </a:path>
              </a:pathLst>
            </a:custGeom>
            <a:solidFill>
              <a:srgbClr val="061B3F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2106275" y="2221427"/>
            <a:ext cx="70485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3"/>
              </a:lnSpc>
            </a:pPr>
            <a:r>
              <a:rPr lang="en-US" sz="25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096875" y="2105025"/>
            <a:ext cx="3714750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3"/>
              </a:lnSpc>
            </a:pPr>
            <a:r>
              <a:rPr lang="en-US" sz="25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Kontekst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096875" y="2590800"/>
            <a:ext cx="4095750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31 år, kundeserviceagent i billing</a:t>
            </a:r>
          </a:p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support. Håndterer fakturaopkald</a:t>
            </a:r>
          </a:p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og dokumenterer sagen bagefter.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106275" y="3943350"/>
            <a:ext cx="704850" cy="704850"/>
            <a:chOff x="0" y="0"/>
            <a:chExt cx="939800" cy="939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39800" cy="939800"/>
            </a:xfrm>
            <a:custGeom>
              <a:avLst/>
              <a:gdLst/>
              <a:ahLst/>
              <a:cxnLst/>
              <a:rect r="r" b="b" t="t" l="l"/>
              <a:pathLst>
                <a:path h="939800" w="939800">
                  <a:moveTo>
                    <a:pt x="0" y="469900"/>
                  </a:moveTo>
                  <a:cubicBezTo>
                    <a:pt x="0" y="210439"/>
                    <a:pt x="210439" y="0"/>
                    <a:pt x="469900" y="0"/>
                  </a:cubicBezTo>
                  <a:cubicBezTo>
                    <a:pt x="729361" y="0"/>
                    <a:pt x="939800" y="210439"/>
                    <a:pt x="939800" y="469900"/>
                  </a:cubicBezTo>
                  <a:cubicBezTo>
                    <a:pt x="939800" y="729361"/>
                    <a:pt x="729361" y="939800"/>
                    <a:pt x="469900" y="939800"/>
                  </a:cubicBezTo>
                  <a:cubicBezTo>
                    <a:pt x="210439" y="939800"/>
                    <a:pt x="0" y="729361"/>
                    <a:pt x="0" y="469900"/>
                  </a:cubicBezTo>
                  <a:close/>
                </a:path>
              </a:pathLst>
            </a:custGeom>
            <a:solidFill>
              <a:srgbClr val="092A5C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2106275" y="4048125"/>
            <a:ext cx="70485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3"/>
              </a:lnSpc>
            </a:pPr>
            <a:r>
              <a:rPr lang="en-US" sz="25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096875" y="3952875"/>
            <a:ext cx="3714750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3"/>
              </a:lnSpc>
            </a:pPr>
            <a:r>
              <a:rPr lang="en-US" sz="25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Behov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096875" y="4438650"/>
            <a:ext cx="4095750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Samlet overblik over kunde,</a:t>
            </a:r>
          </a:p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faktura, forbrug og ændringer,</a:t>
            </a:r>
          </a:p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så han kan svare sikkert.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2106275" y="5791200"/>
            <a:ext cx="704850" cy="704850"/>
            <a:chOff x="0" y="0"/>
            <a:chExt cx="939800" cy="939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39800" cy="939800"/>
            </a:xfrm>
            <a:custGeom>
              <a:avLst/>
              <a:gdLst/>
              <a:ahLst/>
              <a:cxnLst/>
              <a:rect r="r" b="b" t="t" l="l"/>
              <a:pathLst>
                <a:path h="939800" w="939800">
                  <a:moveTo>
                    <a:pt x="0" y="469900"/>
                  </a:moveTo>
                  <a:cubicBezTo>
                    <a:pt x="0" y="210439"/>
                    <a:pt x="210439" y="0"/>
                    <a:pt x="469900" y="0"/>
                  </a:cubicBezTo>
                  <a:cubicBezTo>
                    <a:pt x="729361" y="0"/>
                    <a:pt x="939800" y="210439"/>
                    <a:pt x="939800" y="469900"/>
                  </a:cubicBezTo>
                  <a:cubicBezTo>
                    <a:pt x="939800" y="729361"/>
                    <a:pt x="729361" y="939800"/>
                    <a:pt x="469900" y="939800"/>
                  </a:cubicBezTo>
                  <a:cubicBezTo>
                    <a:pt x="210439" y="939800"/>
                    <a:pt x="0" y="729361"/>
                    <a:pt x="0" y="469900"/>
                  </a:cubicBezTo>
                  <a:close/>
                </a:path>
              </a:pathLst>
            </a:custGeom>
            <a:solidFill>
              <a:srgbClr val="2FC3D7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2106275" y="5895975"/>
            <a:ext cx="70485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3"/>
              </a:lnSpc>
            </a:pPr>
            <a:r>
              <a:rPr lang="en-US" sz="25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096875" y="5800725"/>
            <a:ext cx="3714750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3"/>
              </a:lnSpc>
            </a:pPr>
            <a:r>
              <a:rPr lang="en-US" sz="25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Problem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096875" y="6286500"/>
            <a:ext cx="4095750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Data ligger på tværs af CRM,</a:t>
            </a:r>
          </a:p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fakturasystem og forbrugsdata,</a:t>
            </a:r>
          </a:p>
          <a:p>
            <a:pPr algn="l">
              <a:lnSpc>
                <a:spcPts val="2332"/>
              </a:lnSpc>
            </a:pPr>
            <a:r>
              <a:rPr lang="en-US" sz="180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mens samtaletiden stiger.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876300" y="7848600"/>
            <a:ext cx="8667750" cy="1333500"/>
            <a:chOff x="0" y="0"/>
            <a:chExt cx="11557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557000" cy="1778000"/>
            </a:xfrm>
            <a:custGeom>
              <a:avLst/>
              <a:gdLst/>
              <a:ahLst/>
              <a:cxnLst/>
              <a:rect r="r" b="b" t="t" l="l"/>
              <a:pathLst>
                <a:path h="1778000" w="11557000">
                  <a:moveTo>
                    <a:pt x="0" y="177800"/>
                  </a:moveTo>
                  <a:cubicBezTo>
                    <a:pt x="0" y="79629"/>
                    <a:pt x="79629" y="0"/>
                    <a:pt x="177800" y="0"/>
                  </a:cubicBezTo>
                  <a:lnTo>
                    <a:pt x="11379200" y="0"/>
                  </a:lnTo>
                  <a:cubicBezTo>
                    <a:pt x="11477371" y="0"/>
                    <a:pt x="11557000" y="79629"/>
                    <a:pt x="11557000" y="177800"/>
                  </a:cubicBezTo>
                  <a:lnTo>
                    <a:pt x="11557000" y="1600200"/>
                  </a:lnTo>
                  <a:cubicBezTo>
                    <a:pt x="11557000" y="1698371"/>
                    <a:pt x="11477371" y="1778000"/>
                    <a:pt x="11379200" y="1778000"/>
                  </a:cubicBezTo>
                  <a:lnTo>
                    <a:pt x="177800" y="1778000"/>
                  </a:lnTo>
                  <a:cubicBezTo>
                    <a:pt x="79629" y="1778000"/>
                    <a:pt x="0" y="1698371"/>
                    <a:pt x="0" y="1600200"/>
                  </a:cubicBezTo>
                  <a:close/>
                </a:path>
              </a:pathLst>
            </a:custGeom>
            <a:solidFill>
              <a:srgbClr val="061B3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9696450" y="7848600"/>
            <a:ext cx="7715250" cy="1333500"/>
            <a:chOff x="0" y="0"/>
            <a:chExt cx="10287000" cy="1778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287000" cy="1778000"/>
            </a:xfrm>
            <a:custGeom>
              <a:avLst/>
              <a:gdLst/>
              <a:ahLst/>
              <a:cxnLst/>
              <a:rect r="r" b="b" t="t" l="l"/>
              <a:pathLst>
                <a:path h="1778000" w="10287000">
                  <a:moveTo>
                    <a:pt x="0" y="177800"/>
                  </a:moveTo>
                  <a:cubicBezTo>
                    <a:pt x="0" y="79629"/>
                    <a:pt x="79629" y="0"/>
                    <a:pt x="177800" y="0"/>
                  </a:cubicBezTo>
                  <a:lnTo>
                    <a:pt x="10109200" y="0"/>
                  </a:lnTo>
                  <a:cubicBezTo>
                    <a:pt x="10207371" y="0"/>
                    <a:pt x="10287000" y="79629"/>
                    <a:pt x="10287000" y="177800"/>
                  </a:cubicBezTo>
                  <a:lnTo>
                    <a:pt x="10287000" y="1600200"/>
                  </a:lnTo>
                  <a:cubicBezTo>
                    <a:pt x="10287000" y="1698371"/>
                    <a:pt x="10207371" y="1778000"/>
                    <a:pt x="10109200" y="1778000"/>
                  </a:cubicBezTo>
                  <a:lnTo>
                    <a:pt x="177800" y="1778000"/>
                  </a:lnTo>
                  <a:cubicBezTo>
                    <a:pt x="79629" y="1778000"/>
                    <a:pt x="0" y="1698371"/>
                    <a:pt x="0" y="1600200"/>
                  </a:cubicBezTo>
                  <a:close/>
                </a:path>
              </a:pathLst>
            </a:custGeom>
            <a:solidFill>
              <a:srgbClr val="092A5C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238250" y="8143875"/>
            <a:ext cx="781050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9"/>
              </a:lnSpc>
            </a:pPr>
            <a:r>
              <a:rPr lang="en-US" b="true" sz="2325" i="true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"Jeg vil gerne hjælpe, men jeg skal først</a:t>
            </a:r>
          </a:p>
          <a:p>
            <a:pPr algn="l">
              <a:lnSpc>
                <a:spcPts val="2929"/>
              </a:lnSpc>
            </a:pPr>
            <a:r>
              <a:rPr lang="en-US" b="true" sz="2325" i="true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samle svaret fra flere systemer."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077450" y="8115300"/>
            <a:ext cx="314325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875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DESIGNIMPLIKATION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077450" y="8515350"/>
            <a:ext cx="6477000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AI-copilot, der samler kontekst</a:t>
            </a:r>
          </a:p>
          <a:p>
            <a:pPr algn="l">
              <a:lnSpc>
                <a:spcPts val="2250"/>
              </a:lnSpc>
            </a:pPr>
            <a:r>
              <a:rPr lang="en-US" sz="1875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og giver en klar forklaring.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7021175" y="9772650"/>
            <a:ext cx="19050" cy="190500"/>
            <a:chOff x="0" y="0"/>
            <a:chExt cx="25400" cy="254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54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">
                  <a:moveTo>
                    <a:pt x="0" y="0"/>
                  </a:moveTo>
                  <a:lnTo>
                    <a:pt x="25400" y="2540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-1233035" t="0" r="-1233035" b="0"/>
              </a:stretch>
            </a:blip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17192625" y="9629775"/>
            <a:ext cx="228600" cy="227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5</a:t>
            </a:r>
          </a:p>
        </p:txBody>
      </p:sp>
      <p:sp>
        <p:nvSpPr>
          <p:cNvPr name="Freeform 36" id="36"/>
          <p:cNvSpPr/>
          <p:nvPr/>
        </p:nvSpPr>
        <p:spPr>
          <a:xfrm flipH="false" flipV="false" rot="-675444">
            <a:off x="-852413" y="5812993"/>
            <a:ext cx="5907872" cy="32613"/>
          </a:xfrm>
          <a:custGeom>
            <a:avLst/>
            <a:gdLst/>
            <a:ahLst/>
            <a:cxnLst/>
            <a:rect r="r" b="b" t="t" l="l"/>
            <a:pathLst>
              <a:path h="32613" w="5907872">
                <a:moveTo>
                  <a:pt x="0" y="0"/>
                </a:moveTo>
                <a:lnTo>
                  <a:pt x="5907872" y="0"/>
                </a:lnTo>
                <a:lnTo>
                  <a:pt x="5907872" y="32614"/>
                </a:lnTo>
                <a:lnTo>
                  <a:pt x="0" y="32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-39346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734241">
            <a:off x="15930227" y="9681529"/>
            <a:ext cx="4715547" cy="29054"/>
          </a:xfrm>
          <a:custGeom>
            <a:avLst/>
            <a:gdLst/>
            <a:ahLst/>
            <a:cxnLst/>
            <a:rect r="r" b="b" t="t" l="l"/>
            <a:pathLst>
              <a:path h="29054" w="4715547">
                <a:moveTo>
                  <a:pt x="0" y="0"/>
                </a:moveTo>
                <a:lnTo>
                  <a:pt x="4715546" y="0"/>
                </a:lnTo>
                <a:lnTo>
                  <a:pt x="4715546" y="29053"/>
                </a:lnTo>
                <a:lnTo>
                  <a:pt x="0" y="290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805" t="0" r="-5805" b="-39346"/>
            </a:stretch>
          </a:blipFill>
        </p:spPr>
      </p:sp>
      <p:sp>
        <p:nvSpPr>
          <p:cNvPr name="TextBox 38" id="38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Freeform 39" id="39"/>
          <p:cNvSpPr/>
          <p:nvPr/>
        </p:nvSpPr>
        <p:spPr>
          <a:xfrm flipH="false" flipV="false" rot="0">
            <a:off x="876300" y="9476345"/>
            <a:ext cx="456796" cy="182005"/>
          </a:xfrm>
          <a:custGeom>
            <a:avLst/>
            <a:gdLst/>
            <a:ahLst/>
            <a:cxnLst/>
            <a:rect r="r" b="b" t="t" l="l"/>
            <a:pathLst>
              <a:path h="182005" w="456796">
                <a:moveTo>
                  <a:pt x="0" y="0"/>
                </a:moveTo>
                <a:lnTo>
                  <a:pt x="456796" y="0"/>
                </a:lnTo>
                <a:lnTo>
                  <a:pt x="456796" y="182005"/>
                </a:lnTo>
                <a:lnTo>
                  <a:pt x="0" y="1820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5621000" y="9667875"/>
            <a:ext cx="1428750" cy="164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Persona 2: Mikkel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876300" y="666750"/>
            <a:ext cx="1829916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i="true">
                <a:solidFill>
                  <a:srgbClr val="00BA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Persona 02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876300" y="1266825"/>
            <a:ext cx="6745542" cy="2091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14"/>
              </a:lnSpc>
            </a:pPr>
            <a:r>
              <a:rPr lang="en-US" sz="48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M</a:t>
            </a:r>
            <a:r>
              <a:rPr lang="en-US" sz="48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ikkel skal hjælpe</a:t>
            </a:r>
          </a:p>
          <a:p>
            <a:pPr algn="l">
              <a:lnSpc>
                <a:spcPts val="5414"/>
              </a:lnSpc>
            </a:pPr>
            <a:r>
              <a:rPr lang="en-US" sz="48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uden samlet overblik</a:t>
            </a:r>
          </a:p>
          <a:p>
            <a:pPr algn="l">
              <a:lnSpc>
                <a:spcPts val="5414"/>
              </a:lnSpc>
            </a:pPr>
          </a:p>
        </p:txBody>
      </p:sp>
      <p:sp>
        <p:nvSpPr>
          <p:cNvPr name="TextBox 43" id="43"/>
          <p:cNvSpPr txBox="true"/>
          <p:nvPr/>
        </p:nvSpPr>
        <p:spPr>
          <a:xfrm rot="0">
            <a:off x="14382750" y="771525"/>
            <a:ext cx="314325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11"/>
              </a:lnSpc>
            </a:pPr>
            <a:r>
              <a:rPr lang="en-US" sz="105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Dokumentklassifikation: KPMG fortroligt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3095625"/>
            <a:ext cx="8001000" cy="7191375"/>
            <a:chOff x="0" y="0"/>
            <a:chExt cx="10668000" cy="9588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668000" cy="9588500"/>
            </a:xfrm>
            <a:custGeom>
              <a:avLst/>
              <a:gdLst/>
              <a:ahLst/>
              <a:cxnLst/>
              <a:rect r="r" b="b" t="t" l="l"/>
              <a:pathLst>
                <a:path h="9588500" w="10668000">
                  <a:moveTo>
                    <a:pt x="50800" y="0"/>
                  </a:moveTo>
                  <a:lnTo>
                    <a:pt x="10617200" y="0"/>
                  </a:lnTo>
                  <a:cubicBezTo>
                    <a:pt x="10645256" y="0"/>
                    <a:pt x="10668000" y="22744"/>
                    <a:pt x="10668000" y="50800"/>
                  </a:cubicBezTo>
                  <a:lnTo>
                    <a:pt x="10668000" y="9537700"/>
                  </a:lnTo>
                  <a:cubicBezTo>
                    <a:pt x="10668000" y="9565756"/>
                    <a:pt x="10645256" y="9588500"/>
                    <a:pt x="10617200" y="9588500"/>
                  </a:cubicBezTo>
                  <a:lnTo>
                    <a:pt x="50800" y="9588500"/>
                  </a:lnTo>
                  <a:cubicBezTo>
                    <a:pt x="22744" y="9588500"/>
                    <a:pt x="0" y="9565756"/>
                    <a:pt x="0" y="95377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61B3F">
                    <a:alpha val="100000"/>
                  </a:srgbClr>
                </a:gs>
                <a:gs pos="26000">
                  <a:srgbClr val="092A5C">
                    <a:alpha val="100000"/>
                  </a:srgbClr>
                </a:gs>
                <a:gs pos="7600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66649" y="3095625"/>
            <a:ext cx="17855695" cy="6243507"/>
            <a:chOff x="0" y="0"/>
            <a:chExt cx="23807593" cy="832467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807593" cy="8324676"/>
            </a:xfrm>
            <a:custGeom>
              <a:avLst/>
              <a:gdLst/>
              <a:ahLst/>
              <a:cxnLst/>
              <a:rect r="r" b="b" t="t" l="l"/>
              <a:pathLst>
                <a:path h="8324676" w="23807593">
                  <a:moveTo>
                    <a:pt x="0" y="362021"/>
                  </a:moveTo>
                  <a:cubicBezTo>
                    <a:pt x="0" y="161997"/>
                    <a:pt x="174340" y="0"/>
                    <a:pt x="389604" y="0"/>
                  </a:cubicBezTo>
                  <a:lnTo>
                    <a:pt x="23417988" y="0"/>
                  </a:lnTo>
                  <a:cubicBezTo>
                    <a:pt x="23633254" y="0"/>
                    <a:pt x="23807593" y="161997"/>
                    <a:pt x="23807593" y="362021"/>
                  </a:cubicBezTo>
                  <a:lnTo>
                    <a:pt x="23807593" y="7962656"/>
                  </a:lnTo>
                  <a:cubicBezTo>
                    <a:pt x="23807593" y="8162551"/>
                    <a:pt x="23633254" y="8324676"/>
                    <a:pt x="23417988" y="8324676"/>
                  </a:cubicBezTo>
                  <a:lnTo>
                    <a:pt x="389604" y="8324676"/>
                  </a:lnTo>
                  <a:cubicBezTo>
                    <a:pt x="174340" y="8324676"/>
                    <a:pt x="0" y="8162679"/>
                    <a:pt x="0" y="7962656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61B3F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600200" y="4019550"/>
            <a:ext cx="2190750" cy="304800"/>
            <a:chOff x="0" y="0"/>
            <a:chExt cx="2921000" cy="406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921000" cy="406400"/>
            </a:xfrm>
            <a:custGeom>
              <a:avLst/>
              <a:gdLst/>
              <a:ahLst/>
              <a:cxnLst/>
              <a:rect r="r" b="b" t="t" l="l"/>
              <a:pathLst>
                <a:path h="406400" w="2921000">
                  <a:moveTo>
                    <a:pt x="0" y="203200"/>
                  </a:moveTo>
                  <a:cubicBezTo>
                    <a:pt x="0" y="90932"/>
                    <a:pt x="90932" y="0"/>
                    <a:pt x="203200" y="0"/>
                  </a:cubicBezTo>
                  <a:lnTo>
                    <a:pt x="2717800" y="0"/>
                  </a:lnTo>
                  <a:cubicBezTo>
                    <a:pt x="2830068" y="0"/>
                    <a:pt x="2921000" y="90932"/>
                    <a:pt x="2921000" y="203200"/>
                  </a:cubicBezTo>
                  <a:cubicBezTo>
                    <a:pt x="2921000" y="315468"/>
                    <a:pt x="2830068" y="406400"/>
                    <a:pt x="2717800" y="406400"/>
                  </a:cubicBezTo>
                  <a:lnTo>
                    <a:pt x="203200" y="406400"/>
                  </a:lnTo>
                  <a:cubicBezTo>
                    <a:pt x="90932" y="406400"/>
                    <a:pt x="0" y="315468"/>
                    <a:pt x="0" y="203200"/>
                  </a:cubicBezTo>
                  <a:close/>
                </a:path>
              </a:pathLst>
            </a:custGeom>
            <a:solidFill>
              <a:srgbClr val="D8F4FF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2921000" cy="415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50"/>
                </a:lnSpc>
              </a:pPr>
              <a:r>
                <a:rPr lang="en-US" sz="1125" b="true">
                  <a:solidFill>
                    <a:srgbClr val="061B3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KUNDE &amp; KANALER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115300" y="4033838"/>
            <a:ext cx="2571750" cy="304800"/>
            <a:chOff x="0" y="0"/>
            <a:chExt cx="3429000" cy="406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429000" cy="406400"/>
            </a:xfrm>
            <a:custGeom>
              <a:avLst/>
              <a:gdLst/>
              <a:ahLst/>
              <a:cxnLst/>
              <a:rect r="r" b="b" t="t" l="l"/>
              <a:pathLst>
                <a:path h="406400" w="3429000">
                  <a:moveTo>
                    <a:pt x="0" y="203200"/>
                  </a:moveTo>
                  <a:cubicBezTo>
                    <a:pt x="0" y="90932"/>
                    <a:pt x="90932" y="0"/>
                    <a:pt x="203200" y="0"/>
                  </a:cubicBezTo>
                  <a:lnTo>
                    <a:pt x="3225800" y="0"/>
                  </a:lnTo>
                  <a:cubicBezTo>
                    <a:pt x="3338068" y="0"/>
                    <a:pt x="3429000" y="90932"/>
                    <a:pt x="3429000" y="203200"/>
                  </a:cubicBezTo>
                  <a:cubicBezTo>
                    <a:pt x="3429000" y="315468"/>
                    <a:pt x="3338068" y="406400"/>
                    <a:pt x="3225800" y="406400"/>
                  </a:cubicBezTo>
                  <a:lnTo>
                    <a:pt x="203200" y="406400"/>
                  </a:lnTo>
                  <a:cubicBezTo>
                    <a:pt x="90932" y="406400"/>
                    <a:pt x="0" y="315468"/>
                    <a:pt x="0" y="203200"/>
                  </a:cubicBezTo>
                  <a:close/>
                </a:path>
              </a:pathLst>
            </a:custGeom>
            <a:solidFill>
              <a:srgbClr val="D8F4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3429000" cy="415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50"/>
                </a:lnSpc>
              </a:pPr>
              <a:r>
                <a:rPr lang="en-US" sz="1125" b="true">
                  <a:solidFill>
                    <a:srgbClr val="061B3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MEDARBEJDER I RØRET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2534900" y="4076700"/>
            <a:ext cx="3238500" cy="304800"/>
            <a:chOff x="0" y="0"/>
            <a:chExt cx="4318000" cy="406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318000" cy="406400"/>
            </a:xfrm>
            <a:custGeom>
              <a:avLst/>
              <a:gdLst/>
              <a:ahLst/>
              <a:cxnLst/>
              <a:rect r="r" b="b" t="t" l="l"/>
              <a:pathLst>
                <a:path h="406400" w="4318000">
                  <a:moveTo>
                    <a:pt x="0" y="203200"/>
                  </a:moveTo>
                  <a:cubicBezTo>
                    <a:pt x="0" y="90932"/>
                    <a:pt x="90932" y="0"/>
                    <a:pt x="203200" y="0"/>
                  </a:cubicBezTo>
                  <a:lnTo>
                    <a:pt x="4114800" y="0"/>
                  </a:lnTo>
                  <a:cubicBezTo>
                    <a:pt x="4227068" y="0"/>
                    <a:pt x="4318000" y="90932"/>
                    <a:pt x="4318000" y="203200"/>
                  </a:cubicBezTo>
                  <a:cubicBezTo>
                    <a:pt x="4318000" y="315468"/>
                    <a:pt x="4227068" y="406400"/>
                    <a:pt x="4114800" y="406400"/>
                  </a:cubicBezTo>
                  <a:lnTo>
                    <a:pt x="203200" y="406400"/>
                  </a:lnTo>
                  <a:cubicBezTo>
                    <a:pt x="90932" y="406400"/>
                    <a:pt x="0" y="315468"/>
                    <a:pt x="0" y="203200"/>
                  </a:cubicBezTo>
                  <a:close/>
                </a:path>
              </a:pathLst>
            </a:custGeom>
            <a:solidFill>
              <a:srgbClr val="D8F4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4318000" cy="415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50"/>
                </a:lnSpc>
              </a:pPr>
              <a:r>
                <a:rPr lang="en-US" sz="1125" b="true">
                  <a:solidFill>
                    <a:srgbClr val="061B3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FRAGMENTERET SYSTEMLANDSKAB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2247900" y="5524500"/>
            <a:ext cx="1181100" cy="1181100"/>
            <a:chOff x="0" y="0"/>
            <a:chExt cx="1574800" cy="1574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574800" cy="1574800"/>
            </a:xfrm>
            <a:custGeom>
              <a:avLst/>
              <a:gdLst/>
              <a:ahLst/>
              <a:cxnLst/>
              <a:rect r="r" b="b" t="t" l="l"/>
              <a:pathLst>
                <a:path h="1574800" w="1574800">
                  <a:moveTo>
                    <a:pt x="0" y="787400"/>
                  </a:moveTo>
                  <a:cubicBezTo>
                    <a:pt x="0" y="352552"/>
                    <a:pt x="352552" y="0"/>
                    <a:pt x="787400" y="0"/>
                  </a:cubicBezTo>
                  <a:cubicBezTo>
                    <a:pt x="1222248" y="0"/>
                    <a:pt x="1574800" y="352552"/>
                    <a:pt x="1574800" y="787400"/>
                  </a:cubicBezTo>
                  <a:cubicBezTo>
                    <a:pt x="1574800" y="1222248"/>
                    <a:pt x="1222248" y="1574800"/>
                    <a:pt x="787400" y="1574800"/>
                  </a:cubicBezTo>
                  <a:cubicBezTo>
                    <a:pt x="352552" y="1574800"/>
                    <a:pt x="0" y="1222248"/>
                    <a:pt x="0" y="787400"/>
                  </a:cubicBezTo>
                  <a:close/>
                </a:path>
              </a:pathLst>
            </a:custGeom>
            <a:solidFill>
              <a:srgbClr val="D8F4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2352675" y="5629275"/>
            <a:ext cx="971550" cy="971550"/>
            <a:chOff x="0" y="0"/>
            <a:chExt cx="1295400" cy="12954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95400" cy="1295400"/>
            </a:xfrm>
            <a:custGeom>
              <a:avLst/>
              <a:gdLst/>
              <a:ahLst/>
              <a:cxnLst/>
              <a:rect r="r" b="b" t="t" l="l"/>
              <a:pathLst>
                <a:path h="1295400" w="1295400">
                  <a:moveTo>
                    <a:pt x="0" y="647700"/>
                  </a:moveTo>
                  <a:cubicBezTo>
                    <a:pt x="0" y="289941"/>
                    <a:pt x="289941" y="0"/>
                    <a:pt x="647700" y="0"/>
                  </a:cubicBezTo>
                  <a:cubicBezTo>
                    <a:pt x="1005459" y="0"/>
                    <a:pt x="1295400" y="289941"/>
                    <a:pt x="1295400" y="647700"/>
                  </a:cubicBezTo>
                  <a:cubicBezTo>
                    <a:pt x="1295400" y="1005459"/>
                    <a:pt x="1005459" y="1295400"/>
                    <a:pt x="647700" y="1295400"/>
                  </a:cubicBezTo>
                  <a:cubicBezTo>
                    <a:pt x="289941" y="1295400"/>
                    <a:pt x="0" y="1005459"/>
                    <a:pt x="0" y="647700"/>
                  </a:cubicBezTo>
                  <a:close/>
                </a:path>
              </a:pathLst>
            </a:custGeom>
            <a:solidFill>
              <a:srgbClr val="FFFFFF"/>
            </a:solidFill>
            <a:ln w="57150" cap="sq">
              <a:solidFill>
                <a:srgbClr val="061B3F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2646426" y="5381625"/>
            <a:ext cx="190500" cy="190500"/>
            <a:chOff x="0" y="0"/>
            <a:chExt cx="254000" cy="254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40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0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cubicBezTo>
                    <a:pt x="197104" y="0"/>
                    <a:pt x="254000" y="56896"/>
                    <a:pt x="254000" y="127000"/>
                  </a:cubicBezTo>
                  <a:cubicBezTo>
                    <a:pt x="254000" y="197104"/>
                    <a:pt x="197104" y="254000"/>
                    <a:pt x="127000" y="254000"/>
                  </a:cubicBezTo>
                  <a:cubicBezTo>
                    <a:pt x="56896" y="254000"/>
                    <a:pt x="0" y="197104"/>
                    <a:pt x="0" y="12700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2919032" y="5505450"/>
            <a:ext cx="133350" cy="133350"/>
            <a:chOff x="0" y="0"/>
            <a:chExt cx="177800" cy="177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0" y="88900"/>
                  </a:moveTo>
                  <a:cubicBezTo>
                    <a:pt x="0" y="39751"/>
                    <a:pt x="39751" y="0"/>
                    <a:pt x="88900" y="0"/>
                  </a:cubicBezTo>
                  <a:cubicBezTo>
                    <a:pt x="138049" y="0"/>
                    <a:pt x="177800" y="39751"/>
                    <a:pt x="177800" y="88900"/>
                  </a:cubicBezTo>
                  <a:cubicBezTo>
                    <a:pt x="177800" y="138049"/>
                    <a:pt x="138049" y="177800"/>
                    <a:pt x="88900" y="177800"/>
                  </a:cubicBezTo>
                  <a:cubicBezTo>
                    <a:pt x="39751" y="177800"/>
                    <a:pt x="0" y="138049"/>
                    <a:pt x="0" y="8890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4833938" y="4586288"/>
            <a:ext cx="1685925" cy="638175"/>
            <a:chOff x="0" y="0"/>
            <a:chExt cx="2247900" cy="8509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47900" cy="850900"/>
            </a:xfrm>
            <a:custGeom>
              <a:avLst/>
              <a:gdLst/>
              <a:ahLst/>
              <a:cxnLst/>
              <a:rect r="r" b="b" t="t" l="l"/>
              <a:pathLst>
                <a:path h="850900" w="2247900">
                  <a:moveTo>
                    <a:pt x="0" y="154686"/>
                  </a:moveTo>
                  <a:cubicBezTo>
                    <a:pt x="0" y="69215"/>
                    <a:pt x="69215" y="0"/>
                    <a:pt x="154686" y="0"/>
                  </a:cubicBezTo>
                  <a:lnTo>
                    <a:pt x="2093214" y="0"/>
                  </a:lnTo>
                  <a:cubicBezTo>
                    <a:pt x="2178685" y="0"/>
                    <a:pt x="2247900" y="69215"/>
                    <a:pt x="2247900" y="154686"/>
                  </a:cubicBezTo>
                  <a:lnTo>
                    <a:pt x="2247900" y="696214"/>
                  </a:lnTo>
                  <a:cubicBezTo>
                    <a:pt x="2247900" y="781685"/>
                    <a:pt x="2178685" y="850900"/>
                    <a:pt x="2093214" y="850900"/>
                  </a:cubicBezTo>
                  <a:lnTo>
                    <a:pt x="154686" y="850900"/>
                  </a:lnTo>
                  <a:cubicBezTo>
                    <a:pt x="69215" y="850900"/>
                    <a:pt x="0" y="781685"/>
                    <a:pt x="0" y="696214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338F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4833938" y="5443538"/>
            <a:ext cx="1685925" cy="638175"/>
            <a:chOff x="0" y="0"/>
            <a:chExt cx="2247900" cy="8509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47900" cy="850900"/>
            </a:xfrm>
            <a:custGeom>
              <a:avLst/>
              <a:gdLst/>
              <a:ahLst/>
              <a:cxnLst/>
              <a:rect r="r" b="b" t="t" l="l"/>
              <a:pathLst>
                <a:path h="850900" w="2247900">
                  <a:moveTo>
                    <a:pt x="0" y="154686"/>
                  </a:moveTo>
                  <a:cubicBezTo>
                    <a:pt x="0" y="69215"/>
                    <a:pt x="69215" y="0"/>
                    <a:pt x="154686" y="0"/>
                  </a:cubicBezTo>
                  <a:lnTo>
                    <a:pt x="2093214" y="0"/>
                  </a:lnTo>
                  <a:cubicBezTo>
                    <a:pt x="2178685" y="0"/>
                    <a:pt x="2247900" y="69215"/>
                    <a:pt x="2247900" y="154686"/>
                  </a:cubicBezTo>
                  <a:lnTo>
                    <a:pt x="2247900" y="696214"/>
                  </a:lnTo>
                  <a:cubicBezTo>
                    <a:pt x="2247900" y="781685"/>
                    <a:pt x="2178685" y="850900"/>
                    <a:pt x="2093214" y="850900"/>
                  </a:cubicBezTo>
                  <a:lnTo>
                    <a:pt x="154686" y="850900"/>
                  </a:lnTo>
                  <a:cubicBezTo>
                    <a:pt x="69215" y="850900"/>
                    <a:pt x="0" y="781685"/>
                    <a:pt x="0" y="696214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3391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4833628" y="6301166"/>
            <a:ext cx="1685925" cy="638175"/>
            <a:chOff x="0" y="0"/>
            <a:chExt cx="2247900" cy="8509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47900" cy="850900"/>
            </a:xfrm>
            <a:custGeom>
              <a:avLst/>
              <a:gdLst/>
              <a:ahLst/>
              <a:cxnLst/>
              <a:rect r="r" b="b" t="t" l="l"/>
              <a:pathLst>
                <a:path h="850900" w="2247900">
                  <a:moveTo>
                    <a:pt x="0" y="154686"/>
                  </a:moveTo>
                  <a:cubicBezTo>
                    <a:pt x="0" y="69215"/>
                    <a:pt x="69215" y="0"/>
                    <a:pt x="154686" y="0"/>
                  </a:cubicBezTo>
                  <a:lnTo>
                    <a:pt x="2093214" y="0"/>
                  </a:lnTo>
                  <a:cubicBezTo>
                    <a:pt x="2178685" y="0"/>
                    <a:pt x="2247900" y="69215"/>
                    <a:pt x="2247900" y="154686"/>
                  </a:cubicBezTo>
                  <a:lnTo>
                    <a:pt x="2247900" y="696214"/>
                  </a:lnTo>
                  <a:cubicBezTo>
                    <a:pt x="2247900" y="781685"/>
                    <a:pt x="2178685" y="850900"/>
                    <a:pt x="2093214" y="850900"/>
                  </a:cubicBezTo>
                  <a:lnTo>
                    <a:pt x="154686" y="850900"/>
                  </a:lnTo>
                  <a:cubicBezTo>
                    <a:pt x="69215" y="850900"/>
                    <a:pt x="0" y="781685"/>
                    <a:pt x="0" y="696214"/>
                  </a:cubicBezTo>
                  <a:close/>
                </a:path>
              </a:pathLst>
            </a:custGeom>
            <a:blipFill>
              <a:blip r:embed="rId2"/>
              <a:stretch>
                <a:fillRect l="0" t="-149039" r="0" b="-149039"/>
              </a:stretch>
            </a:blipFill>
            <a:ln w="28575" cap="sq">
              <a:solidFill>
                <a:srgbClr val="003391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7234238" y="4471988"/>
            <a:ext cx="4105275" cy="3533775"/>
            <a:chOff x="0" y="0"/>
            <a:chExt cx="5473700" cy="47117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473700" cy="4711700"/>
            </a:xfrm>
            <a:custGeom>
              <a:avLst/>
              <a:gdLst/>
              <a:ahLst/>
              <a:cxnLst/>
              <a:rect r="r" b="b" t="t" l="l"/>
              <a:pathLst>
                <a:path h="4711700" w="5473700">
                  <a:moveTo>
                    <a:pt x="0" y="305562"/>
                  </a:moveTo>
                  <a:cubicBezTo>
                    <a:pt x="0" y="136779"/>
                    <a:pt x="136779" y="0"/>
                    <a:pt x="305562" y="0"/>
                  </a:cubicBezTo>
                  <a:lnTo>
                    <a:pt x="5168138" y="0"/>
                  </a:lnTo>
                  <a:cubicBezTo>
                    <a:pt x="5336921" y="0"/>
                    <a:pt x="5473700" y="136779"/>
                    <a:pt x="5473700" y="305562"/>
                  </a:cubicBezTo>
                  <a:lnTo>
                    <a:pt x="5473700" y="4406138"/>
                  </a:lnTo>
                  <a:cubicBezTo>
                    <a:pt x="5473700" y="4574921"/>
                    <a:pt x="5336921" y="4711700"/>
                    <a:pt x="5168138" y="4711700"/>
                  </a:cubicBezTo>
                  <a:lnTo>
                    <a:pt x="305562" y="4711700"/>
                  </a:lnTo>
                  <a:cubicBezTo>
                    <a:pt x="136779" y="4711700"/>
                    <a:pt x="0" y="4574921"/>
                    <a:pt x="0" y="4406138"/>
                  </a:cubicBezTo>
                  <a:close/>
                </a:path>
              </a:pathLst>
            </a:custGeom>
            <a:solidFill>
              <a:srgbClr val="F5F8FC"/>
            </a:solidFill>
            <a:ln w="9525" cap="sq">
              <a:solidFill>
                <a:srgbClr val="C9D5E3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8667750" y="5162550"/>
            <a:ext cx="1181100" cy="1181100"/>
            <a:chOff x="0" y="0"/>
            <a:chExt cx="1574800" cy="15748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574800" cy="1574800"/>
            </a:xfrm>
            <a:custGeom>
              <a:avLst/>
              <a:gdLst/>
              <a:ahLst/>
              <a:cxnLst/>
              <a:rect r="r" b="b" t="t" l="l"/>
              <a:pathLst>
                <a:path h="1574800" w="1574800">
                  <a:moveTo>
                    <a:pt x="0" y="787400"/>
                  </a:moveTo>
                  <a:cubicBezTo>
                    <a:pt x="0" y="352552"/>
                    <a:pt x="352552" y="0"/>
                    <a:pt x="787400" y="0"/>
                  </a:cubicBezTo>
                  <a:cubicBezTo>
                    <a:pt x="1222248" y="0"/>
                    <a:pt x="1574800" y="352552"/>
                    <a:pt x="1574800" y="787400"/>
                  </a:cubicBezTo>
                  <a:cubicBezTo>
                    <a:pt x="1574800" y="1222248"/>
                    <a:pt x="1222248" y="1574800"/>
                    <a:pt x="787400" y="1574800"/>
                  </a:cubicBezTo>
                  <a:cubicBezTo>
                    <a:pt x="352552" y="1574800"/>
                    <a:pt x="0" y="1222248"/>
                    <a:pt x="0" y="78740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8772525" y="5267325"/>
            <a:ext cx="971550" cy="971550"/>
            <a:chOff x="0" y="0"/>
            <a:chExt cx="1295400" cy="1295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295400" cy="1295400"/>
            </a:xfrm>
            <a:custGeom>
              <a:avLst/>
              <a:gdLst/>
              <a:ahLst/>
              <a:cxnLst/>
              <a:rect r="r" b="b" t="t" l="l"/>
              <a:pathLst>
                <a:path h="1295400" w="1295400">
                  <a:moveTo>
                    <a:pt x="0" y="647700"/>
                  </a:moveTo>
                  <a:cubicBezTo>
                    <a:pt x="0" y="289941"/>
                    <a:pt x="289941" y="0"/>
                    <a:pt x="647700" y="0"/>
                  </a:cubicBezTo>
                  <a:cubicBezTo>
                    <a:pt x="1005459" y="0"/>
                    <a:pt x="1295400" y="289941"/>
                    <a:pt x="1295400" y="647700"/>
                  </a:cubicBezTo>
                  <a:cubicBezTo>
                    <a:pt x="1295400" y="1005459"/>
                    <a:pt x="1005459" y="1295400"/>
                    <a:pt x="647700" y="1295400"/>
                  </a:cubicBezTo>
                  <a:cubicBezTo>
                    <a:pt x="289941" y="1295400"/>
                    <a:pt x="0" y="1005459"/>
                    <a:pt x="0" y="647700"/>
                  </a:cubicBezTo>
                  <a:close/>
                </a:path>
              </a:pathLst>
            </a:custGeom>
            <a:solidFill>
              <a:srgbClr val="FFFFFF"/>
            </a:solidFill>
            <a:ln w="57150" cap="sq">
              <a:solidFill>
                <a:srgbClr val="061B3F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8012906" y="4627518"/>
            <a:ext cx="2571750" cy="323850"/>
            <a:chOff x="0" y="0"/>
            <a:chExt cx="3429000" cy="431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429000" cy="431800"/>
            </a:xfrm>
            <a:custGeom>
              <a:avLst/>
              <a:gdLst/>
              <a:ahLst/>
              <a:cxnLst/>
              <a:rect r="r" b="b" t="t" l="l"/>
              <a:pathLst>
                <a:path h="431800" w="3429000">
                  <a:moveTo>
                    <a:pt x="0" y="215900"/>
                  </a:moveTo>
                  <a:cubicBezTo>
                    <a:pt x="0" y="96647"/>
                    <a:pt x="96647" y="0"/>
                    <a:pt x="215900" y="0"/>
                  </a:cubicBezTo>
                  <a:lnTo>
                    <a:pt x="3213100" y="0"/>
                  </a:lnTo>
                  <a:cubicBezTo>
                    <a:pt x="3332353" y="0"/>
                    <a:pt x="3429000" y="96647"/>
                    <a:pt x="3429000" y="215900"/>
                  </a:cubicBezTo>
                  <a:cubicBezTo>
                    <a:pt x="3429000" y="335153"/>
                    <a:pt x="3332353" y="431800"/>
                    <a:pt x="3213100" y="431800"/>
                  </a:cubicBezTo>
                  <a:lnTo>
                    <a:pt x="215900" y="431800"/>
                  </a:lnTo>
                  <a:cubicBezTo>
                    <a:pt x="96647" y="431800"/>
                    <a:pt x="0" y="335153"/>
                    <a:pt x="0" y="215900"/>
                  </a:cubicBezTo>
                  <a:close/>
                </a:path>
              </a:pathLst>
            </a:custGeom>
            <a:solidFill>
              <a:srgbClr val="061B3F"/>
            </a:solidFill>
            <a:ln cap="sq">
              <a:noFill/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3429000" cy="4413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50"/>
                </a:lnSpc>
              </a:pPr>
              <a:r>
                <a:rPr lang="en-US" sz="1125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INDGÅENDE OPKALD · 03:41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7634288" y="7100888"/>
            <a:ext cx="1704975" cy="714375"/>
            <a:chOff x="0" y="0"/>
            <a:chExt cx="2273300" cy="9525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273300" cy="952500"/>
            </a:xfrm>
            <a:custGeom>
              <a:avLst/>
              <a:gdLst/>
              <a:ahLst/>
              <a:cxnLst/>
              <a:rect r="r" b="b" t="t" l="l"/>
              <a:pathLst>
                <a:path h="952500" w="2273300">
                  <a:moveTo>
                    <a:pt x="0" y="154432"/>
                  </a:moveTo>
                  <a:cubicBezTo>
                    <a:pt x="0" y="69215"/>
                    <a:pt x="72453" y="0"/>
                    <a:pt x="161657" y="0"/>
                  </a:cubicBezTo>
                  <a:lnTo>
                    <a:pt x="2111643" y="0"/>
                  </a:lnTo>
                  <a:cubicBezTo>
                    <a:pt x="2200847" y="0"/>
                    <a:pt x="2273300" y="69215"/>
                    <a:pt x="2273300" y="154432"/>
                  </a:cubicBezTo>
                  <a:lnTo>
                    <a:pt x="2273300" y="798068"/>
                  </a:lnTo>
                  <a:cubicBezTo>
                    <a:pt x="2273300" y="883285"/>
                    <a:pt x="2200847" y="952500"/>
                    <a:pt x="2111643" y="952500"/>
                  </a:cubicBezTo>
                  <a:lnTo>
                    <a:pt x="161657" y="952500"/>
                  </a:lnTo>
                  <a:cubicBezTo>
                    <a:pt x="72453" y="952500"/>
                    <a:pt x="0" y="883285"/>
                    <a:pt x="0" y="79806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C9D5E3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9539288" y="7100888"/>
            <a:ext cx="1438275" cy="714375"/>
            <a:chOff x="0" y="0"/>
            <a:chExt cx="1917700" cy="9525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917700" cy="952500"/>
            </a:xfrm>
            <a:custGeom>
              <a:avLst/>
              <a:gdLst/>
              <a:ahLst/>
              <a:cxnLst/>
              <a:rect r="r" b="b" t="t" l="l"/>
              <a:pathLst>
                <a:path h="952500" w="1917700">
                  <a:moveTo>
                    <a:pt x="0" y="154432"/>
                  </a:moveTo>
                  <a:cubicBezTo>
                    <a:pt x="0" y="69215"/>
                    <a:pt x="69215" y="0"/>
                    <a:pt x="154432" y="0"/>
                  </a:cubicBezTo>
                  <a:lnTo>
                    <a:pt x="1763268" y="0"/>
                  </a:lnTo>
                  <a:cubicBezTo>
                    <a:pt x="1848485" y="0"/>
                    <a:pt x="1917700" y="69215"/>
                    <a:pt x="1917700" y="154432"/>
                  </a:cubicBezTo>
                  <a:lnTo>
                    <a:pt x="1917700" y="798068"/>
                  </a:lnTo>
                  <a:cubicBezTo>
                    <a:pt x="1917700" y="883285"/>
                    <a:pt x="1848485" y="952500"/>
                    <a:pt x="1763268" y="952500"/>
                  </a:cubicBezTo>
                  <a:lnTo>
                    <a:pt x="154432" y="952500"/>
                  </a:lnTo>
                  <a:cubicBezTo>
                    <a:pt x="69215" y="952500"/>
                    <a:pt x="0" y="883285"/>
                    <a:pt x="0" y="79806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C9D5E3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2077700" y="4476750"/>
            <a:ext cx="4324350" cy="3845133"/>
            <a:chOff x="0" y="0"/>
            <a:chExt cx="5765800" cy="512684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765800" cy="5126844"/>
            </a:xfrm>
            <a:custGeom>
              <a:avLst/>
              <a:gdLst/>
              <a:ahLst/>
              <a:cxnLst/>
              <a:rect r="r" b="b" t="t" l="l"/>
              <a:pathLst>
                <a:path h="5126844" w="5765800">
                  <a:moveTo>
                    <a:pt x="0" y="332552"/>
                  </a:moveTo>
                  <a:cubicBezTo>
                    <a:pt x="0" y="148817"/>
                    <a:pt x="136398" y="0"/>
                    <a:pt x="304800" y="0"/>
                  </a:cubicBezTo>
                  <a:lnTo>
                    <a:pt x="5461000" y="0"/>
                  </a:lnTo>
                  <a:cubicBezTo>
                    <a:pt x="5629275" y="0"/>
                    <a:pt x="5765800" y="148817"/>
                    <a:pt x="5765800" y="332552"/>
                  </a:cubicBezTo>
                  <a:lnTo>
                    <a:pt x="5765800" y="4794292"/>
                  </a:lnTo>
                  <a:cubicBezTo>
                    <a:pt x="5765800" y="4977888"/>
                    <a:pt x="5629402" y="5126844"/>
                    <a:pt x="5461000" y="5126844"/>
                  </a:cubicBezTo>
                  <a:lnTo>
                    <a:pt x="304800" y="5126844"/>
                  </a:lnTo>
                  <a:cubicBezTo>
                    <a:pt x="136525" y="5126844"/>
                    <a:pt x="0" y="4978027"/>
                    <a:pt x="0" y="4794292"/>
                  </a:cubicBezTo>
                  <a:close/>
                </a:path>
              </a:pathLst>
            </a:custGeom>
            <a:solidFill>
              <a:srgbClr val="E9F1F8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2411075" y="5286375"/>
            <a:ext cx="1676400" cy="895350"/>
            <a:chOff x="0" y="0"/>
            <a:chExt cx="2235200" cy="11938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235200" cy="1193800"/>
            </a:xfrm>
            <a:custGeom>
              <a:avLst/>
              <a:gdLst/>
              <a:ahLst/>
              <a:cxnLst/>
              <a:rect r="r" b="b" t="t" l="l"/>
              <a:pathLst>
                <a:path h="1193800" w="2235200">
                  <a:moveTo>
                    <a:pt x="0" y="155702"/>
                  </a:moveTo>
                  <a:cubicBezTo>
                    <a:pt x="0" y="69723"/>
                    <a:pt x="69723" y="0"/>
                    <a:pt x="155702" y="0"/>
                  </a:cubicBezTo>
                  <a:lnTo>
                    <a:pt x="2079498" y="0"/>
                  </a:lnTo>
                  <a:cubicBezTo>
                    <a:pt x="2165477" y="0"/>
                    <a:pt x="2235200" y="69723"/>
                    <a:pt x="2235200" y="155702"/>
                  </a:cubicBezTo>
                  <a:lnTo>
                    <a:pt x="2235200" y="1038098"/>
                  </a:lnTo>
                  <a:cubicBezTo>
                    <a:pt x="2235200" y="1124077"/>
                    <a:pt x="2165477" y="1193800"/>
                    <a:pt x="2079498" y="1193800"/>
                  </a:cubicBezTo>
                  <a:lnTo>
                    <a:pt x="155702" y="1193800"/>
                  </a:lnTo>
                  <a:cubicBezTo>
                    <a:pt x="69723" y="1193800"/>
                    <a:pt x="0" y="1124077"/>
                    <a:pt x="0" y="103809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14297025" y="5286375"/>
            <a:ext cx="1676400" cy="895350"/>
            <a:chOff x="0" y="0"/>
            <a:chExt cx="2235200" cy="11938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235200" cy="1193800"/>
            </a:xfrm>
            <a:custGeom>
              <a:avLst/>
              <a:gdLst/>
              <a:ahLst/>
              <a:cxnLst/>
              <a:rect r="r" b="b" t="t" l="l"/>
              <a:pathLst>
                <a:path h="1193800" w="2235200">
                  <a:moveTo>
                    <a:pt x="0" y="155702"/>
                  </a:moveTo>
                  <a:cubicBezTo>
                    <a:pt x="0" y="69723"/>
                    <a:pt x="69723" y="0"/>
                    <a:pt x="155702" y="0"/>
                  </a:cubicBezTo>
                  <a:lnTo>
                    <a:pt x="2079498" y="0"/>
                  </a:lnTo>
                  <a:cubicBezTo>
                    <a:pt x="2165477" y="0"/>
                    <a:pt x="2235200" y="69723"/>
                    <a:pt x="2235200" y="155702"/>
                  </a:cubicBezTo>
                  <a:lnTo>
                    <a:pt x="2235200" y="1038098"/>
                  </a:lnTo>
                  <a:cubicBezTo>
                    <a:pt x="2235200" y="1124077"/>
                    <a:pt x="2165477" y="1193800"/>
                    <a:pt x="2079498" y="1193800"/>
                  </a:cubicBezTo>
                  <a:lnTo>
                    <a:pt x="155702" y="1193800"/>
                  </a:lnTo>
                  <a:cubicBezTo>
                    <a:pt x="69723" y="1193800"/>
                    <a:pt x="0" y="1124077"/>
                    <a:pt x="0" y="103809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2411075" y="6391275"/>
            <a:ext cx="1676400" cy="895350"/>
            <a:chOff x="0" y="0"/>
            <a:chExt cx="2235200" cy="11938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235200" cy="1193800"/>
            </a:xfrm>
            <a:custGeom>
              <a:avLst/>
              <a:gdLst/>
              <a:ahLst/>
              <a:cxnLst/>
              <a:rect r="r" b="b" t="t" l="l"/>
              <a:pathLst>
                <a:path h="1193800" w="2235200">
                  <a:moveTo>
                    <a:pt x="0" y="155702"/>
                  </a:moveTo>
                  <a:cubicBezTo>
                    <a:pt x="0" y="69723"/>
                    <a:pt x="69723" y="0"/>
                    <a:pt x="155702" y="0"/>
                  </a:cubicBezTo>
                  <a:lnTo>
                    <a:pt x="2079498" y="0"/>
                  </a:lnTo>
                  <a:cubicBezTo>
                    <a:pt x="2165477" y="0"/>
                    <a:pt x="2235200" y="69723"/>
                    <a:pt x="2235200" y="155702"/>
                  </a:cubicBezTo>
                  <a:lnTo>
                    <a:pt x="2235200" y="1038098"/>
                  </a:lnTo>
                  <a:cubicBezTo>
                    <a:pt x="2235200" y="1124077"/>
                    <a:pt x="2165477" y="1193800"/>
                    <a:pt x="2079498" y="1193800"/>
                  </a:cubicBezTo>
                  <a:lnTo>
                    <a:pt x="155702" y="1193800"/>
                  </a:lnTo>
                  <a:cubicBezTo>
                    <a:pt x="69723" y="1193800"/>
                    <a:pt x="0" y="1124077"/>
                    <a:pt x="0" y="103809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4297025" y="6391275"/>
            <a:ext cx="1676400" cy="895350"/>
            <a:chOff x="0" y="0"/>
            <a:chExt cx="2235200" cy="11938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235200" cy="1193800"/>
            </a:xfrm>
            <a:custGeom>
              <a:avLst/>
              <a:gdLst/>
              <a:ahLst/>
              <a:cxnLst/>
              <a:rect r="r" b="b" t="t" l="l"/>
              <a:pathLst>
                <a:path h="1193800" w="2235200">
                  <a:moveTo>
                    <a:pt x="0" y="155702"/>
                  </a:moveTo>
                  <a:cubicBezTo>
                    <a:pt x="0" y="69723"/>
                    <a:pt x="69723" y="0"/>
                    <a:pt x="155702" y="0"/>
                  </a:cubicBezTo>
                  <a:lnTo>
                    <a:pt x="2079498" y="0"/>
                  </a:lnTo>
                  <a:cubicBezTo>
                    <a:pt x="2165477" y="0"/>
                    <a:pt x="2235200" y="69723"/>
                    <a:pt x="2235200" y="155702"/>
                  </a:cubicBezTo>
                  <a:lnTo>
                    <a:pt x="2235200" y="1038098"/>
                  </a:lnTo>
                  <a:cubicBezTo>
                    <a:pt x="2235200" y="1124077"/>
                    <a:pt x="2165477" y="1193800"/>
                    <a:pt x="2079498" y="1193800"/>
                  </a:cubicBezTo>
                  <a:lnTo>
                    <a:pt x="155702" y="1193800"/>
                  </a:lnTo>
                  <a:cubicBezTo>
                    <a:pt x="69723" y="1193800"/>
                    <a:pt x="0" y="1124077"/>
                    <a:pt x="0" y="103809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2437137" y="7462838"/>
            <a:ext cx="1704975" cy="676275"/>
            <a:chOff x="0" y="0"/>
            <a:chExt cx="2273300" cy="9017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273300" cy="901700"/>
            </a:xfrm>
            <a:custGeom>
              <a:avLst/>
              <a:gdLst/>
              <a:ahLst/>
              <a:cxnLst/>
              <a:rect r="r" b="b" t="t" l="l"/>
              <a:pathLst>
                <a:path h="901700" w="2273300">
                  <a:moveTo>
                    <a:pt x="0" y="154559"/>
                  </a:moveTo>
                  <a:cubicBezTo>
                    <a:pt x="0" y="69215"/>
                    <a:pt x="69215" y="0"/>
                    <a:pt x="154559" y="0"/>
                  </a:cubicBezTo>
                  <a:lnTo>
                    <a:pt x="2118741" y="0"/>
                  </a:lnTo>
                  <a:cubicBezTo>
                    <a:pt x="2204085" y="0"/>
                    <a:pt x="2273300" y="69215"/>
                    <a:pt x="2273300" y="154559"/>
                  </a:cubicBezTo>
                  <a:lnTo>
                    <a:pt x="2273300" y="747141"/>
                  </a:lnTo>
                  <a:cubicBezTo>
                    <a:pt x="2273300" y="832485"/>
                    <a:pt x="2204085" y="901700"/>
                    <a:pt x="2118741" y="901700"/>
                  </a:cubicBezTo>
                  <a:lnTo>
                    <a:pt x="154559" y="901700"/>
                  </a:lnTo>
                  <a:cubicBezTo>
                    <a:pt x="69215" y="901700"/>
                    <a:pt x="0" y="832485"/>
                    <a:pt x="0" y="747141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C9D5E3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4282738" y="7458075"/>
            <a:ext cx="1704975" cy="676275"/>
            <a:chOff x="0" y="0"/>
            <a:chExt cx="2273300" cy="9017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273300" cy="901700"/>
            </a:xfrm>
            <a:custGeom>
              <a:avLst/>
              <a:gdLst/>
              <a:ahLst/>
              <a:cxnLst/>
              <a:rect r="r" b="b" t="t" l="l"/>
              <a:pathLst>
                <a:path h="901700" w="2273300">
                  <a:moveTo>
                    <a:pt x="0" y="154559"/>
                  </a:moveTo>
                  <a:cubicBezTo>
                    <a:pt x="0" y="69215"/>
                    <a:pt x="69215" y="0"/>
                    <a:pt x="154559" y="0"/>
                  </a:cubicBezTo>
                  <a:lnTo>
                    <a:pt x="2118741" y="0"/>
                  </a:lnTo>
                  <a:cubicBezTo>
                    <a:pt x="2204085" y="0"/>
                    <a:pt x="2273300" y="69215"/>
                    <a:pt x="2273300" y="154559"/>
                  </a:cubicBezTo>
                  <a:lnTo>
                    <a:pt x="2273300" y="747141"/>
                  </a:lnTo>
                  <a:cubicBezTo>
                    <a:pt x="2273300" y="832485"/>
                    <a:pt x="2204085" y="901700"/>
                    <a:pt x="2118741" y="901700"/>
                  </a:cubicBezTo>
                  <a:lnTo>
                    <a:pt x="154559" y="901700"/>
                  </a:lnTo>
                  <a:cubicBezTo>
                    <a:pt x="69215" y="901700"/>
                    <a:pt x="0" y="832485"/>
                    <a:pt x="0" y="747141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C9D5E3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6653212" y="5738812"/>
            <a:ext cx="904875" cy="180975"/>
            <a:chOff x="0" y="0"/>
            <a:chExt cx="1206500" cy="2413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206500" cy="241300"/>
            </a:xfrm>
            <a:custGeom>
              <a:avLst/>
              <a:gdLst/>
              <a:ahLst/>
              <a:cxnLst/>
              <a:rect r="r" b="b" t="t" l="l"/>
              <a:pathLst>
                <a:path h="241300" w="1206500">
                  <a:moveTo>
                    <a:pt x="0" y="0"/>
                  </a:moveTo>
                  <a:lnTo>
                    <a:pt x="1206500" y="24130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47425" r="0" b="-47425"/>
              </a:stretch>
            </a:blipFill>
            <a:ln w="28575" cap="sq">
              <a:solidFill>
                <a:srgbClr val="092A5C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6652903" y="6596441"/>
            <a:ext cx="904875" cy="28575"/>
            <a:chOff x="0" y="0"/>
            <a:chExt cx="1206500" cy="381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206500" cy="38100"/>
            </a:xfrm>
            <a:custGeom>
              <a:avLst/>
              <a:gdLst/>
              <a:ahLst/>
              <a:cxnLst/>
              <a:rect r="r" b="b" t="t" l="l"/>
              <a:pathLst>
                <a:path h="38100" w="1206500">
                  <a:moveTo>
                    <a:pt x="0" y="0"/>
                  </a:moveTo>
                  <a:lnTo>
                    <a:pt x="1206500" y="3810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567026" r="0" b="-567026"/>
              </a:stretch>
            </a:blipFill>
            <a:ln w="28575" cap="sq">
              <a:solidFill>
                <a:srgbClr val="092A5C"/>
              </a:solidFill>
              <a:prstDash val="dash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1320462" y="5757862"/>
            <a:ext cx="1076325" cy="28575"/>
            <a:chOff x="0" y="0"/>
            <a:chExt cx="1435100" cy="3810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435100" cy="38100"/>
            </a:xfrm>
            <a:custGeom>
              <a:avLst/>
              <a:gdLst/>
              <a:ahLst/>
              <a:cxnLst/>
              <a:rect r="r" b="b" t="t" l="l"/>
              <a:pathLst>
                <a:path h="38100" w="1435100">
                  <a:moveTo>
                    <a:pt x="0" y="0"/>
                  </a:moveTo>
                  <a:lnTo>
                    <a:pt x="1435100" y="3810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683936" r="0" b="-683936"/>
              </a:stretch>
            </a:blipFill>
            <a:ln w="28575" cap="sq">
              <a:solidFill>
                <a:srgbClr val="092A5C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063412" y="6710362"/>
            <a:ext cx="28575" cy="28575"/>
            <a:chOff x="0" y="0"/>
            <a:chExt cx="38100" cy="381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8100" cy="38100"/>
            </a:xfrm>
            <a:custGeom>
              <a:avLst/>
              <a:gdLst/>
              <a:ahLst/>
              <a:cxnLst/>
              <a:rect r="r" b="b" t="t" l="l"/>
              <a:pathLst>
                <a:path h="38100" w="38100">
                  <a:moveTo>
                    <a:pt x="0" y="0"/>
                  </a:moveTo>
                  <a:lnTo>
                    <a:pt x="38100" y="3810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  <a:ln w="28575" cap="sq">
              <a:solidFill>
                <a:srgbClr val="00BAFF"/>
              </a:solidFill>
              <a:prstDash val="dash"/>
              <a:miter/>
            </a:ln>
          </p:spPr>
        </p:sp>
      </p:grpSp>
      <p:grpSp>
        <p:nvGrpSpPr>
          <p:cNvPr name="Group 64" id="64"/>
          <p:cNvGrpSpPr/>
          <p:nvPr/>
        </p:nvGrpSpPr>
        <p:grpSpPr>
          <a:xfrm rot="0">
            <a:off x="1466850" y="8572500"/>
            <a:ext cx="15563850" cy="590550"/>
            <a:chOff x="0" y="0"/>
            <a:chExt cx="20751800" cy="7874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0751800" cy="787400"/>
            </a:xfrm>
            <a:custGeom>
              <a:avLst/>
              <a:gdLst/>
              <a:ahLst/>
              <a:cxnLst/>
              <a:rect r="r" b="b" t="t" l="l"/>
              <a:pathLst>
                <a:path h="787400" w="20751800">
                  <a:moveTo>
                    <a:pt x="0" y="152400"/>
                  </a:moveTo>
                  <a:cubicBezTo>
                    <a:pt x="0" y="68199"/>
                    <a:pt x="68199" y="0"/>
                    <a:pt x="152400" y="0"/>
                  </a:cubicBezTo>
                  <a:lnTo>
                    <a:pt x="20599400" y="0"/>
                  </a:lnTo>
                  <a:cubicBezTo>
                    <a:pt x="20683601" y="0"/>
                    <a:pt x="20751800" y="68199"/>
                    <a:pt x="20751800" y="152400"/>
                  </a:cubicBezTo>
                  <a:lnTo>
                    <a:pt x="20751800" y="635000"/>
                  </a:lnTo>
                  <a:cubicBezTo>
                    <a:pt x="20751800" y="719201"/>
                    <a:pt x="20683601" y="787400"/>
                    <a:pt x="20599400" y="787400"/>
                  </a:cubicBezTo>
                  <a:lnTo>
                    <a:pt x="152400" y="787400"/>
                  </a:lnTo>
                  <a:cubicBezTo>
                    <a:pt x="68199" y="787400"/>
                    <a:pt x="0" y="719201"/>
                    <a:pt x="0" y="635000"/>
                  </a:cubicBezTo>
                  <a:close/>
                </a:path>
              </a:pathLst>
            </a:custGeom>
            <a:solidFill>
              <a:srgbClr val="061B3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4813860" y="7587041"/>
            <a:ext cx="1552766" cy="681038"/>
            <a:chOff x="0" y="0"/>
            <a:chExt cx="2171700" cy="9525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171700" cy="952500"/>
            </a:xfrm>
            <a:custGeom>
              <a:avLst/>
              <a:gdLst/>
              <a:ahLst/>
              <a:cxnLst/>
              <a:rect r="r" b="b" t="t" l="l"/>
              <a:pathLst>
                <a:path h="952500" w="2171700">
                  <a:moveTo>
                    <a:pt x="0" y="154432"/>
                  </a:moveTo>
                  <a:cubicBezTo>
                    <a:pt x="0" y="69215"/>
                    <a:pt x="69215" y="0"/>
                    <a:pt x="154432" y="0"/>
                  </a:cubicBezTo>
                  <a:lnTo>
                    <a:pt x="2017268" y="0"/>
                  </a:lnTo>
                  <a:cubicBezTo>
                    <a:pt x="2102485" y="0"/>
                    <a:pt x="2171700" y="69215"/>
                    <a:pt x="2171700" y="154432"/>
                  </a:cubicBezTo>
                  <a:lnTo>
                    <a:pt x="2171700" y="798068"/>
                  </a:lnTo>
                  <a:cubicBezTo>
                    <a:pt x="2171700" y="883285"/>
                    <a:pt x="2102485" y="952500"/>
                    <a:pt x="2017268" y="952500"/>
                  </a:cubicBezTo>
                  <a:lnTo>
                    <a:pt x="154432" y="952500"/>
                  </a:lnTo>
                  <a:cubicBezTo>
                    <a:pt x="69215" y="952500"/>
                    <a:pt x="0" y="883285"/>
                    <a:pt x="0" y="79806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C9D5E3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11990680" y="3255127"/>
            <a:ext cx="1666875" cy="731086"/>
            <a:chOff x="0" y="0"/>
            <a:chExt cx="2171700" cy="9525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171700" cy="952500"/>
            </a:xfrm>
            <a:custGeom>
              <a:avLst/>
              <a:gdLst/>
              <a:ahLst/>
              <a:cxnLst/>
              <a:rect r="r" b="b" t="t" l="l"/>
              <a:pathLst>
                <a:path h="952500" w="2171700">
                  <a:moveTo>
                    <a:pt x="0" y="154432"/>
                  </a:moveTo>
                  <a:cubicBezTo>
                    <a:pt x="0" y="69215"/>
                    <a:pt x="69215" y="0"/>
                    <a:pt x="154432" y="0"/>
                  </a:cubicBezTo>
                  <a:lnTo>
                    <a:pt x="2017268" y="0"/>
                  </a:lnTo>
                  <a:cubicBezTo>
                    <a:pt x="2102485" y="0"/>
                    <a:pt x="2171700" y="69215"/>
                    <a:pt x="2171700" y="154432"/>
                  </a:cubicBezTo>
                  <a:lnTo>
                    <a:pt x="2171700" y="798068"/>
                  </a:lnTo>
                  <a:cubicBezTo>
                    <a:pt x="2171700" y="883285"/>
                    <a:pt x="2102485" y="952500"/>
                    <a:pt x="2017268" y="952500"/>
                  </a:cubicBezTo>
                  <a:lnTo>
                    <a:pt x="154432" y="952500"/>
                  </a:lnTo>
                  <a:cubicBezTo>
                    <a:pt x="69215" y="952500"/>
                    <a:pt x="0" y="883285"/>
                    <a:pt x="0" y="79806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C9D5E3"/>
              </a:solidFill>
              <a:prstDash val="solid"/>
              <a:miter/>
            </a:ln>
          </p:spPr>
        </p:sp>
      </p:grpSp>
      <p:sp>
        <p:nvSpPr>
          <p:cNvPr name="Freeform 70" id="70"/>
          <p:cNvSpPr/>
          <p:nvPr/>
        </p:nvSpPr>
        <p:spPr>
          <a:xfrm flipH="false" flipV="false" rot="0">
            <a:off x="876300" y="9476345"/>
            <a:ext cx="456796" cy="182005"/>
          </a:xfrm>
          <a:custGeom>
            <a:avLst/>
            <a:gdLst/>
            <a:ahLst/>
            <a:cxnLst/>
            <a:rect r="r" b="b" t="t" l="l"/>
            <a:pathLst>
              <a:path h="182005" w="456796">
                <a:moveTo>
                  <a:pt x="0" y="0"/>
                </a:moveTo>
                <a:lnTo>
                  <a:pt x="456796" y="0"/>
                </a:lnTo>
                <a:lnTo>
                  <a:pt x="456796" y="182005"/>
                </a:lnTo>
                <a:lnTo>
                  <a:pt x="0" y="1820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1" id="71"/>
          <p:cNvSpPr/>
          <p:nvPr/>
        </p:nvSpPr>
        <p:spPr>
          <a:xfrm flipH="false" flipV="false" rot="0">
            <a:off x="1961211" y="4415920"/>
            <a:ext cx="1829739" cy="978910"/>
          </a:xfrm>
          <a:custGeom>
            <a:avLst/>
            <a:gdLst/>
            <a:ahLst/>
            <a:cxnLst/>
            <a:rect r="r" b="b" t="t" l="l"/>
            <a:pathLst>
              <a:path h="978910" w="1829739">
                <a:moveTo>
                  <a:pt x="0" y="0"/>
                </a:moveTo>
                <a:lnTo>
                  <a:pt x="1829739" y="0"/>
                </a:lnTo>
                <a:lnTo>
                  <a:pt x="1829739" y="978910"/>
                </a:lnTo>
                <a:lnTo>
                  <a:pt x="0" y="9789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2" id="72"/>
          <p:cNvSpPr txBox="true"/>
          <p:nvPr/>
        </p:nvSpPr>
        <p:spPr>
          <a:xfrm rot="0">
            <a:off x="8229600" y="6381750"/>
            <a:ext cx="2057400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62"/>
              </a:lnSpc>
            </a:pPr>
            <a:r>
              <a:rPr lang="en-US" sz="187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Mikkel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819786" y="6467475"/>
            <a:ext cx="2019300" cy="218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637"/>
              </a:lnSpc>
              <a:spcBef>
                <a:spcPct val="0"/>
              </a:spcBef>
            </a:pPr>
            <a:r>
              <a:rPr lang="en-US" sz="1299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søges manuelt</a:t>
            </a:r>
          </a:p>
        </p:txBody>
      </p:sp>
      <p:grpSp>
        <p:nvGrpSpPr>
          <p:cNvPr name="Group 74" id="74"/>
          <p:cNvGrpSpPr/>
          <p:nvPr/>
        </p:nvGrpSpPr>
        <p:grpSpPr>
          <a:xfrm rot="0">
            <a:off x="2410682" y="5695950"/>
            <a:ext cx="852488" cy="852488"/>
            <a:chOff x="0" y="0"/>
            <a:chExt cx="4241800" cy="424180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241800" cy="4241800"/>
            </a:xfrm>
            <a:custGeom>
              <a:avLst/>
              <a:gdLst/>
              <a:ahLst/>
              <a:cxnLst/>
              <a:rect r="r" b="b" t="t" l="l"/>
              <a:pathLst>
                <a:path h="4241800" w="4241800">
                  <a:moveTo>
                    <a:pt x="0" y="2120900"/>
                  </a:moveTo>
                  <a:cubicBezTo>
                    <a:pt x="0" y="949579"/>
                    <a:pt x="949579" y="0"/>
                    <a:pt x="2120900" y="0"/>
                  </a:cubicBezTo>
                  <a:cubicBezTo>
                    <a:pt x="3292221" y="0"/>
                    <a:pt x="4241800" y="949579"/>
                    <a:pt x="4241800" y="2120900"/>
                  </a:cubicBezTo>
                  <a:cubicBezTo>
                    <a:pt x="4241800" y="3292221"/>
                    <a:pt x="3292221" y="4241800"/>
                    <a:pt x="2120900" y="4241800"/>
                  </a:cubicBezTo>
                  <a:cubicBezTo>
                    <a:pt x="949579" y="4241800"/>
                    <a:pt x="0" y="3292221"/>
                    <a:pt x="0" y="2120900"/>
                  </a:cubicBez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8857671" y="5347708"/>
            <a:ext cx="810783" cy="810783"/>
            <a:chOff x="0" y="0"/>
            <a:chExt cx="3835400" cy="383540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835400" cy="3835400"/>
            </a:xfrm>
            <a:custGeom>
              <a:avLst/>
              <a:gdLst/>
              <a:ahLst/>
              <a:cxnLst/>
              <a:rect r="r" b="b" t="t" l="l"/>
              <a:pathLst>
                <a:path h="3835400" w="3835400">
                  <a:moveTo>
                    <a:pt x="0" y="0"/>
                  </a:moveTo>
                  <a:lnTo>
                    <a:pt x="3835400" y="0"/>
                  </a:lnTo>
                  <a:lnTo>
                    <a:pt x="3835400" y="3835400"/>
                  </a:lnTo>
                  <a:lnTo>
                    <a:pt x="0" y="3835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sp>
        <p:nvSpPr>
          <p:cNvPr name="Freeform 78" id="78"/>
          <p:cNvSpPr/>
          <p:nvPr/>
        </p:nvSpPr>
        <p:spPr>
          <a:xfrm flipH="false" flipV="false" rot="0">
            <a:off x="10020300" y="4856934"/>
            <a:ext cx="1783424" cy="954132"/>
          </a:xfrm>
          <a:custGeom>
            <a:avLst/>
            <a:gdLst/>
            <a:ahLst/>
            <a:cxnLst/>
            <a:rect r="r" b="b" t="t" l="l"/>
            <a:pathLst>
              <a:path h="954132" w="1783424">
                <a:moveTo>
                  <a:pt x="0" y="0"/>
                </a:moveTo>
                <a:lnTo>
                  <a:pt x="1783424" y="0"/>
                </a:lnTo>
                <a:lnTo>
                  <a:pt x="1783424" y="954132"/>
                </a:lnTo>
                <a:lnTo>
                  <a:pt x="0" y="954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9" id="79"/>
          <p:cNvSpPr txBox="true"/>
          <p:nvPr/>
        </p:nvSpPr>
        <p:spPr>
          <a:xfrm rot="0">
            <a:off x="10010775" y="5186077"/>
            <a:ext cx="1692250" cy="372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0"/>
              </a:lnSpc>
            </a:pPr>
            <a:r>
              <a:rPr lang="en-US" b="true" sz="1175" i="true">
                <a:solidFill>
                  <a:srgbClr val="061B3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“Hvilket system viser årsagen?”</a:t>
            </a:r>
          </a:p>
        </p:txBody>
      </p:sp>
      <p:grpSp>
        <p:nvGrpSpPr>
          <p:cNvPr name="Group 80" id="80"/>
          <p:cNvGrpSpPr/>
          <p:nvPr/>
        </p:nvGrpSpPr>
        <p:grpSpPr>
          <a:xfrm rot="0">
            <a:off x="9906000" y="5491162"/>
            <a:ext cx="190500" cy="190500"/>
            <a:chOff x="0" y="0"/>
            <a:chExt cx="254000" cy="25400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2540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0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cubicBezTo>
                    <a:pt x="197104" y="0"/>
                    <a:pt x="254000" y="56896"/>
                    <a:pt x="254000" y="127000"/>
                  </a:cubicBezTo>
                  <a:cubicBezTo>
                    <a:pt x="254000" y="197104"/>
                    <a:pt x="197104" y="254000"/>
                    <a:pt x="127000" y="254000"/>
                  </a:cubicBezTo>
                  <a:cubicBezTo>
                    <a:pt x="56896" y="254000"/>
                    <a:pt x="0" y="197104"/>
                    <a:pt x="0" y="12700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9782175" y="5629275"/>
            <a:ext cx="133350" cy="133350"/>
            <a:chOff x="0" y="0"/>
            <a:chExt cx="177800" cy="17780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0" y="88900"/>
                  </a:moveTo>
                  <a:cubicBezTo>
                    <a:pt x="0" y="39751"/>
                    <a:pt x="39751" y="0"/>
                    <a:pt x="88900" y="0"/>
                  </a:cubicBezTo>
                  <a:cubicBezTo>
                    <a:pt x="138049" y="0"/>
                    <a:pt x="177800" y="39751"/>
                    <a:pt x="177800" y="88900"/>
                  </a:cubicBezTo>
                  <a:cubicBezTo>
                    <a:pt x="177800" y="138049"/>
                    <a:pt x="138049" y="177800"/>
                    <a:pt x="88900" y="177800"/>
                  </a:cubicBezTo>
                  <a:cubicBezTo>
                    <a:pt x="39751" y="177800"/>
                    <a:pt x="0" y="138049"/>
                    <a:pt x="0" y="8890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sp>
        <p:nvSpPr>
          <p:cNvPr name="AutoShape 84" id="84"/>
          <p:cNvSpPr/>
          <p:nvPr/>
        </p:nvSpPr>
        <p:spPr>
          <a:xfrm flipV="true">
            <a:off x="6519553" y="6610729"/>
            <a:ext cx="714685" cy="128209"/>
          </a:xfrm>
          <a:prstGeom prst="line">
            <a:avLst/>
          </a:prstGeom>
          <a:ln cap="flat" w="38100">
            <a:solidFill>
              <a:srgbClr val="000000"/>
            </a:solidFill>
            <a:prstDash val="sysDot"/>
            <a:headEnd type="none" len="sm" w="sm"/>
            <a:tailEnd type="none" len="sm" w="sm"/>
          </a:ln>
        </p:spPr>
      </p:sp>
      <p:sp>
        <p:nvSpPr>
          <p:cNvPr name="AutoShape 85" id="85"/>
          <p:cNvSpPr/>
          <p:nvPr/>
        </p:nvSpPr>
        <p:spPr>
          <a:xfrm flipV="true">
            <a:off x="3467720" y="5857304"/>
            <a:ext cx="1028080" cy="18155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86" id="86"/>
          <p:cNvSpPr txBox="true"/>
          <p:nvPr/>
        </p:nvSpPr>
        <p:spPr>
          <a:xfrm rot="0">
            <a:off x="1466850" y="3495675"/>
            <a:ext cx="59055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06"/>
              </a:lnSpc>
            </a:pPr>
            <a:r>
              <a:rPr lang="en-US" sz="1275" b="true">
                <a:solidFill>
                  <a:srgbClr val="667386"/>
                </a:solidFill>
                <a:latin typeface="Arial Bold"/>
                <a:ea typeface="Arial Bold"/>
                <a:cs typeface="Arial Bold"/>
                <a:sym typeface="Arial Bold"/>
              </a:rPr>
              <a:t>COMPANY X CUSTOMER SERVICE CENTRE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876300" y="2724150"/>
            <a:ext cx="135255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sz="1650">
                <a:solidFill>
                  <a:srgbClr val="092A5C"/>
                </a:solidFill>
                <a:latin typeface="Arial"/>
                <a:ea typeface="Arial"/>
                <a:cs typeface="Arial"/>
                <a:sym typeface="Arial"/>
              </a:rPr>
              <a:t>Data findes i Company X, men forklaringen opstår først, når Mikkel manuelt kobler kunde, faktura, forbrug, betaling og historik.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1809750" y="6743700"/>
            <a:ext cx="2057400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62"/>
              </a:lnSpc>
            </a:pPr>
            <a:r>
              <a:rPr lang="en-US" sz="187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Maria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1562100" y="7058025"/>
            <a:ext cx="2552700" cy="204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5"/>
              </a:lnSpc>
            </a:pPr>
            <a:r>
              <a:rPr lang="en-US" sz="1200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Vil forstå regningen uden ventetid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1828800" y="4743450"/>
            <a:ext cx="2057400" cy="36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58"/>
              </a:lnSpc>
            </a:pPr>
            <a:r>
              <a:rPr lang="en-US" b="true" sz="1125" i="true">
                <a:solidFill>
                  <a:srgbClr val="061B3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“Hvorfor er min regning højere end normalt?”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4953000" y="4752975"/>
            <a:ext cx="1447800" cy="209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2"/>
              </a:lnSpc>
            </a:pPr>
            <a:r>
              <a:rPr lang="en-US" sz="12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Telefonkø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4953000" y="5610225"/>
            <a:ext cx="144780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2"/>
              </a:lnSpc>
            </a:pPr>
            <a:r>
              <a:rPr lang="en-US" sz="12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Fakturaformular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4953000" y="6467475"/>
            <a:ext cx="144780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2"/>
              </a:lnSpc>
            </a:pPr>
            <a:r>
              <a:rPr lang="en-US" sz="12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Tidligere sag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7981950" y="6696075"/>
            <a:ext cx="2552700" cy="204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5"/>
              </a:lnSpc>
            </a:pPr>
            <a:r>
              <a:rPr lang="en-US" sz="1200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Billing Support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7991475" y="7124700"/>
            <a:ext cx="125730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Vurdering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7706400" y="7343775"/>
            <a:ext cx="1592381" cy="40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11"/>
              </a:lnSpc>
              <a:spcBef>
                <a:spcPct val="0"/>
              </a:spcBef>
            </a:pPr>
            <a:r>
              <a:rPr lang="en-US" sz="1199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Samler forklaring mens kunden venter.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9744075" y="7134225"/>
            <a:ext cx="106680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Efterarbejde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9725025" y="7343775"/>
            <a:ext cx="1131875" cy="40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11"/>
              </a:lnSpc>
              <a:spcBef>
                <a:spcPct val="0"/>
              </a:spcBef>
            </a:pPr>
            <a:r>
              <a:rPr lang="en-US" sz="1199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Notat skrives bagefter.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12601575" y="4610100"/>
            <a:ext cx="32766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51"/>
              </a:lnSpc>
            </a:pPr>
            <a:r>
              <a:rPr lang="en-US" sz="202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Seks opslag for ét svar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12575249" y="5486400"/>
            <a:ext cx="135255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95"/>
              </a:lnSpc>
            </a:pPr>
            <a:r>
              <a:rPr lang="en-US" sz="142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CRM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12575249" y="5786247"/>
            <a:ext cx="1428750" cy="209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"/>
              </a:lnSpc>
            </a:pPr>
            <a:r>
              <a:rPr lang="en-US" sz="1199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kontakt og samtykke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14473238" y="5505450"/>
            <a:ext cx="135255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95"/>
              </a:lnSpc>
            </a:pPr>
            <a:r>
              <a:rPr lang="en-US" sz="142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Faktura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14449425" y="5819775"/>
            <a:ext cx="1428750" cy="209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"/>
              </a:lnSpc>
            </a:pPr>
            <a:r>
              <a:rPr lang="en-US" sz="1199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linjer og gebyrer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12573000" y="6581775"/>
            <a:ext cx="135255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95"/>
              </a:lnSpc>
            </a:pPr>
            <a:r>
              <a:rPr lang="en-US" sz="142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Forbrug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12534900" y="6896100"/>
            <a:ext cx="1428750" cy="209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"/>
              </a:lnSpc>
            </a:pPr>
            <a:r>
              <a:rPr lang="en-US" sz="1199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data og roaming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14497050" y="6581775"/>
            <a:ext cx="135255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95"/>
              </a:lnSpc>
            </a:pPr>
            <a:r>
              <a:rPr lang="en-US" sz="142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Betaling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14449425" y="6877050"/>
            <a:ext cx="1428750" cy="209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"/>
              </a:lnSpc>
            </a:pPr>
            <a:r>
              <a:rPr lang="en-US" sz="1199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rykker og status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12622874" y="7548563"/>
            <a:ext cx="1333500" cy="209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Produktregler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12451424" y="7810309"/>
            <a:ext cx="1690688" cy="209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11"/>
              </a:lnSpc>
              <a:spcBef>
                <a:spcPct val="0"/>
              </a:spcBef>
            </a:pPr>
            <a:r>
              <a:rPr lang="en-US" sz="1199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Rabatter ligger separat.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14497050" y="7519263"/>
            <a:ext cx="1333500" cy="209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2"/>
              </a:lnSpc>
            </a:pPr>
            <a:r>
              <a:rPr lang="en-US" sz="12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Historik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14308931" y="7700619"/>
            <a:ext cx="1681162" cy="40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11"/>
              </a:lnSpc>
              <a:spcBef>
                <a:spcPct val="0"/>
              </a:spcBef>
            </a:pPr>
            <a:r>
              <a:rPr lang="en-US" sz="1199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Gamle svar i gamle sager.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6898029" y="4915471"/>
            <a:ext cx="1482042" cy="218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637"/>
              </a:lnSpc>
              <a:spcBef>
                <a:spcPct val="0"/>
              </a:spcBef>
            </a:pPr>
            <a:r>
              <a:rPr lang="en-US" sz="1299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venter i kø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6898029" y="5629465"/>
            <a:ext cx="1862813" cy="218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637"/>
              </a:lnSpc>
              <a:spcBef>
                <a:spcPct val="0"/>
              </a:spcBef>
            </a:pPr>
            <a:r>
              <a:rPr lang="en-US" sz="1299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lander som sag</a:t>
            </a:r>
          </a:p>
        </p:txBody>
      </p:sp>
      <p:grpSp>
        <p:nvGrpSpPr>
          <p:cNvPr name="Group 114" id="114"/>
          <p:cNvGrpSpPr/>
          <p:nvPr/>
        </p:nvGrpSpPr>
        <p:grpSpPr>
          <a:xfrm rot="0">
            <a:off x="14239875" y="3255127"/>
            <a:ext cx="1666875" cy="731086"/>
            <a:chOff x="0" y="0"/>
            <a:chExt cx="2171700" cy="952500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2171700" cy="952500"/>
            </a:xfrm>
            <a:custGeom>
              <a:avLst/>
              <a:gdLst/>
              <a:ahLst/>
              <a:cxnLst/>
              <a:rect r="r" b="b" t="t" l="l"/>
              <a:pathLst>
                <a:path h="952500" w="2171700">
                  <a:moveTo>
                    <a:pt x="0" y="154432"/>
                  </a:moveTo>
                  <a:cubicBezTo>
                    <a:pt x="0" y="69215"/>
                    <a:pt x="69215" y="0"/>
                    <a:pt x="154432" y="0"/>
                  </a:cubicBezTo>
                  <a:lnTo>
                    <a:pt x="2017268" y="0"/>
                  </a:lnTo>
                  <a:cubicBezTo>
                    <a:pt x="2102485" y="0"/>
                    <a:pt x="2171700" y="69215"/>
                    <a:pt x="2171700" y="154432"/>
                  </a:cubicBezTo>
                  <a:lnTo>
                    <a:pt x="2171700" y="798068"/>
                  </a:lnTo>
                  <a:cubicBezTo>
                    <a:pt x="2171700" y="883285"/>
                    <a:pt x="2102485" y="952500"/>
                    <a:pt x="2017268" y="952500"/>
                  </a:cubicBezTo>
                  <a:lnTo>
                    <a:pt x="154432" y="952500"/>
                  </a:lnTo>
                  <a:cubicBezTo>
                    <a:pt x="69215" y="952500"/>
                    <a:pt x="0" y="883285"/>
                    <a:pt x="0" y="79806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C9D5E3"/>
              </a:solidFill>
              <a:prstDash val="solid"/>
              <a:miter/>
            </a:ln>
          </p:spPr>
        </p:sp>
      </p:grpSp>
      <p:sp>
        <p:nvSpPr>
          <p:cNvPr name="TextBox 116" id="116"/>
          <p:cNvSpPr txBox="true"/>
          <p:nvPr/>
        </p:nvSpPr>
        <p:spPr>
          <a:xfrm rot="0">
            <a:off x="14020106" y="3339922"/>
            <a:ext cx="2019300" cy="227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795"/>
              </a:lnSpc>
              <a:spcBef>
                <a:spcPct val="0"/>
              </a:spcBef>
            </a:pPr>
            <a:r>
              <a:rPr lang="en-US" b="true" sz="1425" strike="noStrike" u="non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Usikkerhed</a:t>
            </a:r>
          </a:p>
        </p:txBody>
      </p:sp>
      <p:sp>
        <p:nvSpPr>
          <p:cNvPr name="TextBox 117" id="117"/>
          <p:cNvSpPr txBox="true"/>
          <p:nvPr/>
        </p:nvSpPr>
        <p:spPr>
          <a:xfrm rot="0">
            <a:off x="14209912" y="3562350"/>
            <a:ext cx="1639688" cy="40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11"/>
              </a:lnSpc>
              <a:spcBef>
                <a:spcPct val="0"/>
              </a:spcBef>
            </a:pPr>
            <a:r>
              <a:rPr lang="en-US" sz="1199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Flere kilder tolkes manuelt.</a:t>
            </a:r>
          </a:p>
        </p:txBody>
      </p:sp>
      <p:sp>
        <p:nvSpPr>
          <p:cNvPr name="TextBox 118" id="118"/>
          <p:cNvSpPr txBox="true"/>
          <p:nvPr/>
        </p:nvSpPr>
        <p:spPr>
          <a:xfrm rot="0">
            <a:off x="1828800" y="8734425"/>
            <a:ext cx="16383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sz="1650" b="true">
                <a:solidFill>
                  <a:srgbClr val="00BAFF"/>
                </a:solidFill>
                <a:latin typeface="Arial Bold"/>
                <a:ea typeface="Arial Bold"/>
                <a:cs typeface="Arial Bold"/>
                <a:sym typeface="Arial Bold"/>
              </a:rPr>
              <a:t>Konsekvens</a:t>
            </a:r>
          </a:p>
        </p:txBody>
      </p:sp>
      <p:sp>
        <p:nvSpPr>
          <p:cNvPr name="TextBox 119" id="119"/>
          <p:cNvSpPr txBox="true"/>
          <p:nvPr/>
        </p:nvSpPr>
        <p:spPr>
          <a:xfrm rot="0">
            <a:off x="3686175" y="8734425"/>
            <a:ext cx="1264920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4"/>
              </a:lnSpc>
            </a:pPr>
            <a:r>
              <a:rPr lang="en-US" sz="1575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længere ventetid  |  flere genopkald  |  højere behandlingstid  |  lavere sikkerhed i forklaringen</a:t>
            </a:r>
          </a:p>
        </p:txBody>
      </p:sp>
      <p:sp>
        <p:nvSpPr>
          <p:cNvPr name="TextBox 120" id="120"/>
          <p:cNvSpPr txBox="true"/>
          <p:nvPr/>
        </p:nvSpPr>
        <p:spPr>
          <a:xfrm rot="0">
            <a:off x="5280496" y="7599101"/>
            <a:ext cx="496416" cy="275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50"/>
              </a:lnSpc>
              <a:spcBef>
                <a:spcPct val="0"/>
              </a:spcBef>
            </a:pPr>
            <a:r>
              <a:rPr lang="en-US" b="true" sz="1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Loop</a:t>
            </a:r>
          </a:p>
        </p:txBody>
      </p:sp>
      <p:sp>
        <p:nvSpPr>
          <p:cNvPr name="TextBox 121" id="121"/>
          <p:cNvSpPr txBox="true"/>
          <p:nvPr/>
        </p:nvSpPr>
        <p:spPr>
          <a:xfrm rot="0">
            <a:off x="4833938" y="7922265"/>
            <a:ext cx="1717397" cy="1726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10"/>
              </a:lnSpc>
              <a:spcBef>
                <a:spcPct val="0"/>
              </a:spcBef>
            </a:pPr>
            <a:r>
              <a:rPr lang="en-US" sz="975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Uklart svar giver genopkald</a:t>
            </a:r>
          </a:p>
        </p:txBody>
      </p:sp>
      <p:sp>
        <p:nvSpPr>
          <p:cNvPr name="TextBox 122" id="122"/>
          <p:cNvSpPr txBox="true"/>
          <p:nvPr/>
        </p:nvSpPr>
        <p:spPr>
          <a:xfrm rot="0">
            <a:off x="12009637" y="3320872"/>
            <a:ext cx="1628961" cy="2506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1"/>
              </a:lnSpc>
              <a:spcBef>
                <a:spcPct val="0"/>
              </a:spcBef>
            </a:pPr>
            <a:r>
              <a:rPr lang="en-US" b="true" sz="14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Spredte systemer</a:t>
            </a:r>
          </a:p>
        </p:txBody>
      </p:sp>
      <p:sp>
        <p:nvSpPr>
          <p:cNvPr name="TextBox 123" id="123"/>
          <p:cNvSpPr txBox="true"/>
          <p:nvPr/>
        </p:nvSpPr>
        <p:spPr>
          <a:xfrm rot="0">
            <a:off x="11943941" y="3542919"/>
            <a:ext cx="1760353" cy="40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11"/>
              </a:lnSpc>
              <a:spcBef>
                <a:spcPct val="0"/>
              </a:spcBef>
            </a:pPr>
            <a:r>
              <a:rPr lang="en-US" sz="1199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99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lang="en-US" sz="1199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ing</a:t>
            </a:r>
            <a:r>
              <a:rPr lang="en-US" sz="1199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er </a:t>
            </a:r>
            <a:r>
              <a:rPr lang="en-US" sz="1199" strike="noStrike" u="none">
                <a:solidFill>
                  <a:srgbClr val="667386"/>
                </a:solidFill>
                <a:latin typeface="Arial"/>
                <a:ea typeface="Arial"/>
                <a:cs typeface="Arial"/>
                <a:sym typeface="Arial"/>
              </a:rPr>
              <a:t>manuel sammenstilling</a:t>
            </a:r>
          </a:p>
        </p:txBody>
      </p:sp>
      <p:sp>
        <p:nvSpPr>
          <p:cNvPr name="TextBox 124" id="124"/>
          <p:cNvSpPr txBox="true"/>
          <p:nvPr/>
        </p:nvSpPr>
        <p:spPr>
          <a:xfrm rot="0">
            <a:off x="876300" y="666750"/>
            <a:ext cx="3392388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i="true">
                <a:solidFill>
                  <a:srgbClr val="00BA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AS-IS i kundeservice</a:t>
            </a:r>
          </a:p>
        </p:txBody>
      </p:sp>
      <p:sp>
        <p:nvSpPr>
          <p:cNvPr name="TextBox 125" id="125"/>
          <p:cNvSpPr txBox="true"/>
          <p:nvPr/>
        </p:nvSpPr>
        <p:spPr>
          <a:xfrm rot="0">
            <a:off x="876300" y="1266825"/>
            <a:ext cx="9906000" cy="1405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14"/>
              </a:lnSpc>
            </a:pPr>
            <a:r>
              <a:rPr lang="en-US" sz="48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E</a:t>
            </a:r>
            <a:r>
              <a:rPr lang="en-US" sz="48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t simpelt spørgsmål bliver til en jagt på forklaringen</a:t>
            </a:r>
          </a:p>
        </p:txBody>
      </p:sp>
      <p:sp>
        <p:nvSpPr>
          <p:cNvPr name="TextBox 126" id="126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TextBox 127" id="127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AutoShape 128" id="128"/>
          <p:cNvSpPr/>
          <p:nvPr/>
        </p:nvSpPr>
        <p:spPr>
          <a:xfrm>
            <a:off x="6519862" y="5762625"/>
            <a:ext cx="649772" cy="0"/>
          </a:xfrm>
          <a:prstGeom prst="line">
            <a:avLst/>
          </a:prstGeom>
          <a:ln cap="flat" w="38100">
            <a:solidFill>
              <a:srgbClr val="000000"/>
            </a:solidFill>
            <a:prstDash val="sysDot"/>
            <a:headEnd type="none" len="sm" w="sm"/>
            <a:tailEnd type="none" len="sm" w="sm"/>
          </a:ln>
        </p:spPr>
      </p:sp>
      <p:sp>
        <p:nvSpPr>
          <p:cNvPr name="AutoShape 129" id="129"/>
          <p:cNvSpPr/>
          <p:nvPr/>
        </p:nvSpPr>
        <p:spPr>
          <a:xfrm>
            <a:off x="6519862" y="4781550"/>
            <a:ext cx="659315" cy="257556"/>
          </a:xfrm>
          <a:prstGeom prst="line">
            <a:avLst/>
          </a:prstGeom>
          <a:ln cap="flat" w="38100">
            <a:solidFill>
              <a:srgbClr val="000000"/>
            </a:solidFill>
            <a:prstDash val="sysDot"/>
            <a:headEnd type="none" len="sm" w="sm"/>
            <a:tailEnd type="none" len="sm" w="sm"/>
          </a:ln>
        </p:spPr>
      </p:sp>
      <p:sp>
        <p:nvSpPr>
          <p:cNvPr name="TextBox 130" id="130"/>
          <p:cNvSpPr txBox="true"/>
          <p:nvPr/>
        </p:nvSpPr>
        <p:spPr>
          <a:xfrm rot="0">
            <a:off x="14382750" y="771525"/>
            <a:ext cx="314325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11"/>
              </a:lnSpc>
            </a:pPr>
            <a:r>
              <a:rPr lang="en-US" sz="105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Dokumentklassifikation: KPMG fortroligt</a:t>
            </a:r>
          </a:p>
        </p:txBody>
      </p:sp>
      <p:sp>
        <p:nvSpPr>
          <p:cNvPr name="TextBox 131" id="131"/>
          <p:cNvSpPr txBox="true"/>
          <p:nvPr/>
        </p:nvSpPr>
        <p:spPr>
          <a:xfrm rot="0">
            <a:off x="17297400" y="9620250"/>
            <a:ext cx="266700" cy="2420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6</a:t>
            </a:r>
          </a:p>
        </p:txBody>
      </p:sp>
      <p:sp>
        <p:nvSpPr>
          <p:cNvPr name="TextBox 132" id="132"/>
          <p:cNvSpPr txBox="true"/>
          <p:nvPr/>
        </p:nvSpPr>
        <p:spPr>
          <a:xfrm rot="0">
            <a:off x="15621000" y="9667875"/>
            <a:ext cx="1428750" cy="164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AS-IS Rich Picture</a:t>
            </a:r>
          </a:p>
        </p:txBody>
      </p:sp>
      <p:sp>
        <p:nvSpPr>
          <p:cNvPr name="AutoShape 133" id="133"/>
          <p:cNvSpPr/>
          <p:nvPr/>
        </p:nvSpPr>
        <p:spPr>
          <a:xfrm flipV="true">
            <a:off x="11384865" y="6181725"/>
            <a:ext cx="692835" cy="185645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382750" y="771525"/>
            <a:ext cx="314325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11"/>
              </a:lnSpc>
            </a:pPr>
            <a:r>
              <a:rPr lang="en-US" sz="105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Dokumentklassifikation: KPMG fortroligt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7191375" cy="10287000"/>
            <a:chOff x="0" y="0"/>
            <a:chExt cx="95885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5885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588500">
                  <a:moveTo>
                    <a:pt x="0" y="0"/>
                  </a:moveTo>
                  <a:lnTo>
                    <a:pt x="9588500" y="0"/>
                  </a:lnTo>
                  <a:lnTo>
                    <a:pt x="95885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61B3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876300" y="762000"/>
            <a:ext cx="40005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i="true">
                <a:solidFill>
                  <a:srgbClr val="00BA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Valgt startpunkt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76300" y="1676400"/>
            <a:ext cx="5334000" cy="2171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64"/>
              </a:lnSpc>
            </a:pPr>
            <a:r>
              <a:rPr lang="en-US" sz="49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Start med faktura</a:t>
            </a:r>
          </a:p>
          <a:p>
            <a:pPr algn="l">
              <a:lnSpc>
                <a:spcPts val="5464"/>
              </a:lnSpc>
            </a:pPr>
            <a:r>
              <a:rPr lang="en-US" sz="49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fordi værdien kan</a:t>
            </a:r>
          </a:p>
          <a:p>
            <a:pPr algn="l">
              <a:lnSpc>
                <a:spcPts val="5464"/>
              </a:lnSpc>
            </a:pPr>
            <a:r>
              <a:rPr lang="en-US" sz="49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måles hurtigt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95350" y="4686300"/>
            <a:ext cx="5143500" cy="1162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sz="2100">
                <a:solidFill>
                  <a:srgbClr val="D7E2EF"/>
                </a:solidFill>
                <a:latin typeface="Arial"/>
                <a:ea typeface="Arial"/>
                <a:cs typeface="Arial"/>
                <a:sym typeface="Arial"/>
              </a:rPr>
              <a:t>Flowet er smalt nok til en pilot og stort nok til at bevise værdien: volumen, tydelige datakilder og en kunde, der mærker ventetiden.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14400" y="6810375"/>
            <a:ext cx="43815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9"/>
              </a:lnSpc>
            </a:pPr>
            <a:r>
              <a:rPr lang="en-US" b="true" sz="1800">
                <a:solidFill>
                  <a:srgbClr val="00BAFF"/>
                </a:solidFill>
                <a:latin typeface="Arial Bold"/>
                <a:ea typeface="Arial Bold"/>
                <a:cs typeface="Arial Bold"/>
                <a:sym typeface="Arial Bold"/>
              </a:rPr>
              <a:t>COMPANY X SIGNAL AGENT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14400" y="7239000"/>
            <a:ext cx="4953000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Intern agent, hvor medarbejderen godkender forklaring og mail før kunden kontaktes.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8267700" y="1905000"/>
            <a:ext cx="7715250" cy="1295400"/>
            <a:chOff x="0" y="0"/>
            <a:chExt cx="10287000" cy="1727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287000" cy="1727200"/>
            </a:xfrm>
            <a:custGeom>
              <a:avLst/>
              <a:gdLst/>
              <a:ahLst/>
              <a:cxnLst/>
              <a:rect r="r" b="b" t="t" l="l"/>
              <a:pathLst>
                <a:path h="1727200" w="102870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10185400" y="0"/>
                  </a:lnTo>
                  <a:cubicBezTo>
                    <a:pt x="10241534" y="0"/>
                    <a:pt x="10287000" y="45466"/>
                    <a:pt x="10287000" y="101600"/>
                  </a:cubicBezTo>
                  <a:lnTo>
                    <a:pt x="10287000" y="1625600"/>
                  </a:lnTo>
                  <a:cubicBezTo>
                    <a:pt x="10287000" y="1681734"/>
                    <a:pt x="10241534" y="1727200"/>
                    <a:pt x="10185400" y="1727200"/>
                  </a:cubicBezTo>
                  <a:lnTo>
                    <a:pt x="101600" y="1727200"/>
                  </a:lnTo>
                  <a:cubicBezTo>
                    <a:pt x="45466" y="1727200"/>
                    <a:pt x="0" y="1681734"/>
                    <a:pt x="0" y="1625600"/>
                  </a:cubicBezTo>
                  <a:close/>
                </a:path>
              </a:pathLst>
            </a:custGeom>
            <a:solidFill>
              <a:srgbClr val="E7EEF6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8186738" y="1804988"/>
            <a:ext cx="7724775" cy="1304925"/>
            <a:chOff x="0" y="0"/>
            <a:chExt cx="10299700" cy="17399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299700" cy="1739900"/>
            </a:xfrm>
            <a:custGeom>
              <a:avLst/>
              <a:gdLst/>
              <a:ahLst/>
              <a:cxnLst/>
              <a:rect r="r" b="b" t="t" l="l"/>
              <a:pathLst>
                <a:path h="1739900" w="10299700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10197338" y="0"/>
                  </a:lnTo>
                  <a:cubicBezTo>
                    <a:pt x="10253853" y="0"/>
                    <a:pt x="10299700" y="45847"/>
                    <a:pt x="10299700" y="102362"/>
                  </a:cubicBezTo>
                  <a:lnTo>
                    <a:pt x="10299700" y="1637538"/>
                  </a:lnTo>
                  <a:cubicBezTo>
                    <a:pt x="10299700" y="1694053"/>
                    <a:pt x="10253853" y="1739900"/>
                    <a:pt x="10197338" y="1739900"/>
                  </a:cubicBezTo>
                  <a:lnTo>
                    <a:pt x="102362" y="1739900"/>
                  </a:lnTo>
                  <a:cubicBezTo>
                    <a:pt x="45847" y="1739900"/>
                    <a:pt x="0" y="1694053"/>
                    <a:pt x="0" y="163753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DE7F1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8667750" y="2133600"/>
            <a:ext cx="74295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b="true" sz="2850">
                <a:solidFill>
                  <a:srgbClr val="00BAF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15500" y="2047875"/>
            <a:ext cx="295275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32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Høj volumen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715500" y="2495550"/>
            <a:ext cx="4953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6"/>
              </a:lnSpc>
            </a:pPr>
            <a:r>
              <a:rPr lang="en-US" sz="1500">
                <a:solidFill>
                  <a:srgbClr val="6D7584"/>
                </a:solidFill>
                <a:latin typeface="Arial"/>
                <a:ea typeface="Arial"/>
                <a:cs typeface="Arial"/>
                <a:sym typeface="Arial"/>
              </a:rPr>
              <a:t>Mange gentagne spørgsmål om pris, forbrug og ændringer.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8267700" y="3505200"/>
            <a:ext cx="7715250" cy="1295400"/>
            <a:chOff x="0" y="0"/>
            <a:chExt cx="10287000" cy="1727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287000" cy="1727200"/>
            </a:xfrm>
            <a:custGeom>
              <a:avLst/>
              <a:gdLst/>
              <a:ahLst/>
              <a:cxnLst/>
              <a:rect r="r" b="b" t="t" l="l"/>
              <a:pathLst>
                <a:path h="1727200" w="102870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10185400" y="0"/>
                  </a:lnTo>
                  <a:cubicBezTo>
                    <a:pt x="10241534" y="0"/>
                    <a:pt x="10287000" y="45466"/>
                    <a:pt x="10287000" y="101600"/>
                  </a:cubicBezTo>
                  <a:lnTo>
                    <a:pt x="10287000" y="1625600"/>
                  </a:lnTo>
                  <a:cubicBezTo>
                    <a:pt x="10287000" y="1681734"/>
                    <a:pt x="10241534" y="1727200"/>
                    <a:pt x="10185400" y="1727200"/>
                  </a:cubicBezTo>
                  <a:lnTo>
                    <a:pt x="101600" y="1727200"/>
                  </a:lnTo>
                  <a:cubicBezTo>
                    <a:pt x="45466" y="1727200"/>
                    <a:pt x="0" y="1681734"/>
                    <a:pt x="0" y="1625600"/>
                  </a:cubicBezTo>
                  <a:close/>
                </a:path>
              </a:pathLst>
            </a:custGeom>
            <a:solidFill>
              <a:srgbClr val="E7EEF6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8186738" y="3405188"/>
            <a:ext cx="7724775" cy="1304925"/>
            <a:chOff x="0" y="0"/>
            <a:chExt cx="10299700" cy="17399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299700" cy="1739900"/>
            </a:xfrm>
            <a:custGeom>
              <a:avLst/>
              <a:gdLst/>
              <a:ahLst/>
              <a:cxnLst/>
              <a:rect r="r" b="b" t="t" l="l"/>
              <a:pathLst>
                <a:path h="1739900" w="10299700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10197338" y="0"/>
                  </a:lnTo>
                  <a:cubicBezTo>
                    <a:pt x="10253853" y="0"/>
                    <a:pt x="10299700" y="45847"/>
                    <a:pt x="10299700" y="102362"/>
                  </a:cubicBezTo>
                  <a:lnTo>
                    <a:pt x="10299700" y="1637538"/>
                  </a:lnTo>
                  <a:cubicBezTo>
                    <a:pt x="10299700" y="1694053"/>
                    <a:pt x="10253853" y="1739900"/>
                    <a:pt x="10197338" y="1739900"/>
                  </a:cubicBezTo>
                  <a:lnTo>
                    <a:pt x="102362" y="1739900"/>
                  </a:lnTo>
                  <a:cubicBezTo>
                    <a:pt x="45847" y="1739900"/>
                    <a:pt x="0" y="1694053"/>
                    <a:pt x="0" y="163753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DE7F1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8667750" y="3733800"/>
            <a:ext cx="74295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8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715500" y="3648075"/>
            <a:ext cx="295275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32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Datakilder findes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715500" y="4095750"/>
            <a:ext cx="4953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6"/>
              </a:lnSpc>
            </a:pPr>
            <a:r>
              <a:rPr lang="en-US" sz="1500">
                <a:solidFill>
                  <a:srgbClr val="6D7584"/>
                </a:solidFill>
                <a:latin typeface="Arial"/>
                <a:ea typeface="Arial"/>
                <a:cs typeface="Arial"/>
                <a:sym typeface="Arial"/>
              </a:rPr>
              <a:t>CRM, faktura, forbrug, betaling og produktregler kan samles.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267700" y="5105400"/>
            <a:ext cx="7715250" cy="1295400"/>
            <a:chOff x="0" y="0"/>
            <a:chExt cx="10287000" cy="17272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287000" cy="1727200"/>
            </a:xfrm>
            <a:custGeom>
              <a:avLst/>
              <a:gdLst/>
              <a:ahLst/>
              <a:cxnLst/>
              <a:rect r="r" b="b" t="t" l="l"/>
              <a:pathLst>
                <a:path h="1727200" w="102870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10185400" y="0"/>
                  </a:lnTo>
                  <a:cubicBezTo>
                    <a:pt x="10241534" y="0"/>
                    <a:pt x="10287000" y="45466"/>
                    <a:pt x="10287000" y="101600"/>
                  </a:cubicBezTo>
                  <a:lnTo>
                    <a:pt x="10287000" y="1625600"/>
                  </a:lnTo>
                  <a:cubicBezTo>
                    <a:pt x="10287000" y="1681734"/>
                    <a:pt x="10241534" y="1727200"/>
                    <a:pt x="10185400" y="1727200"/>
                  </a:cubicBezTo>
                  <a:lnTo>
                    <a:pt x="101600" y="1727200"/>
                  </a:lnTo>
                  <a:cubicBezTo>
                    <a:pt x="45466" y="1727200"/>
                    <a:pt x="0" y="1681734"/>
                    <a:pt x="0" y="1625600"/>
                  </a:cubicBezTo>
                  <a:close/>
                </a:path>
              </a:pathLst>
            </a:custGeom>
            <a:solidFill>
              <a:srgbClr val="E7EEF6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8186738" y="5005388"/>
            <a:ext cx="7724775" cy="1304925"/>
            <a:chOff x="0" y="0"/>
            <a:chExt cx="10299700" cy="17399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299700" cy="1739900"/>
            </a:xfrm>
            <a:custGeom>
              <a:avLst/>
              <a:gdLst/>
              <a:ahLst/>
              <a:cxnLst/>
              <a:rect r="r" b="b" t="t" l="l"/>
              <a:pathLst>
                <a:path h="1739900" w="10299700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10197338" y="0"/>
                  </a:lnTo>
                  <a:cubicBezTo>
                    <a:pt x="10253853" y="0"/>
                    <a:pt x="10299700" y="45847"/>
                    <a:pt x="10299700" y="102362"/>
                  </a:cubicBezTo>
                  <a:lnTo>
                    <a:pt x="10299700" y="1637538"/>
                  </a:lnTo>
                  <a:cubicBezTo>
                    <a:pt x="10299700" y="1694053"/>
                    <a:pt x="10253853" y="1739900"/>
                    <a:pt x="10197338" y="1739900"/>
                  </a:cubicBezTo>
                  <a:lnTo>
                    <a:pt x="102362" y="1739900"/>
                  </a:lnTo>
                  <a:cubicBezTo>
                    <a:pt x="45847" y="1739900"/>
                    <a:pt x="0" y="1694053"/>
                    <a:pt x="0" y="163753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DE7F1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8667750" y="5334000"/>
            <a:ext cx="74295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b="true" sz="2850">
                <a:solidFill>
                  <a:srgbClr val="00BAFF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715500" y="5248275"/>
            <a:ext cx="295275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32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Kontrolleret risiko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715500" y="5695950"/>
            <a:ext cx="4953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6"/>
              </a:lnSpc>
            </a:pPr>
            <a:r>
              <a:rPr lang="en-US" sz="1500">
                <a:solidFill>
                  <a:srgbClr val="6D7584"/>
                </a:solidFill>
                <a:latin typeface="Arial"/>
                <a:ea typeface="Arial"/>
                <a:cs typeface="Arial"/>
                <a:sym typeface="Arial"/>
              </a:rPr>
              <a:t>Human approval holder ansvar og compliance hos medarbejderen.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8191500" y="7353300"/>
            <a:ext cx="7715250" cy="876300"/>
            <a:chOff x="0" y="0"/>
            <a:chExt cx="10287000" cy="11684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287000" cy="1168400"/>
            </a:xfrm>
            <a:custGeom>
              <a:avLst/>
              <a:gdLst/>
              <a:ahLst/>
              <a:cxnLst/>
              <a:rect r="r" b="b" t="t" l="l"/>
              <a:pathLst>
                <a:path h="1168400" w="10287000">
                  <a:moveTo>
                    <a:pt x="127000" y="0"/>
                  </a:moveTo>
                  <a:lnTo>
                    <a:pt x="10160000" y="0"/>
                  </a:lnTo>
                  <a:cubicBezTo>
                    <a:pt x="10230140" y="0"/>
                    <a:pt x="10287000" y="56860"/>
                    <a:pt x="10287000" y="127000"/>
                  </a:cubicBezTo>
                  <a:lnTo>
                    <a:pt x="10287000" y="1041400"/>
                  </a:lnTo>
                  <a:cubicBezTo>
                    <a:pt x="10287000" y="1111540"/>
                    <a:pt x="10230140" y="1168400"/>
                    <a:pt x="10160000" y="1168400"/>
                  </a:cubicBezTo>
                  <a:lnTo>
                    <a:pt x="127000" y="1168400"/>
                  </a:lnTo>
                  <a:cubicBezTo>
                    <a:pt x="56860" y="1168400"/>
                    <a:pt x="0" y="1111540"/>
                    <a:pt x="0" y="10414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92A5C"/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8572500" y="7458075"/>
            <a:ext cx="695325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9"/>
              </a:lnSpc>
            </a:pPr>
            <a:r>
              <a:rPr lang="en-US" sz="18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To-be: telefonnummer/kundenummer → data samles → årsag og svar foreslås → Mikkel godkender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5621000" y="9667875"/>
            <a:ext cx="142875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Selected journey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7135475" y="9772650"/>
            <a:ext cx="19050" cy="190500"/>
            <a:chOff x="0" y="0"/>
            <a:chExt cx="25400" cy="254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54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">
                  <a:moveTo>
                    <a:pt x="0" y="0"/>
                  </a:moveTo>
                  <a:lnTo>
                    <a:pt x="25400" y="2540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-1233035" t="0" r="-1233035" b="0"/>
              </a:stretch>
            </a:blip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sp>
        <p:nvSpPr>
          <p:cNvPr name="TextBox 38" id="38"/>
          <p:cNvSpPr txBox="true"/>
          <p:nvPr/>
        </p:nvSpPr>
        <p:spPr>
          <a:xfrm rot="0">
            <a:off x="17297400" y="9620250"/>
            <a:ext cx="2667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7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Freeform 40" id="40"/>
          <p:cNvSpPr/>
          <p:nvPr/>
        </p:nvSpPr>
        <p:spPr>
          <a:xfrm flipH="false" flipV="false" rot="0">
            <a:off x="876300" y="9476345"/>
            <a:ext cx="456796" cy="182005"/>
          </a:xfrm>
          <a:custGeom>
            <a:avLst/>
            <a:gdLst/>
            <a:ahLst/>
            <a:cxnLst/>
            <a:rect r="r" b="b" t="t" l="l"/>
            <a:pathLst>
              <a:path h="182005" w="456796">
                <a:moveTo>
                  <a:pt x="0" y="0"/>
                </a:moveTo>
                <a:lnTo>
                  <a:pt x="456796" y="0"/>
                </a:lnTo>
                <a:lnTo>
                  <a:pt x="456796" y="182005"/>
                </a:lnTo>
                <a:lnTo>
                  <a:pt x="0" y="1820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61B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382750" y="771525"/>
            <a:ext cx="314325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11"/>
              </a:lnSpc>
            </a:pPr>
            <a:r>
              <a:rPr lang="en-US" sz="1050">
                <a:solidFill>
                  <a:srgbClr val="AEBBD0"/>
                </a:solidFill>
                <a:latin typeface="Arial"/>
                <a:ea typeface="Arial"/>
                <a:cs typeface="Arial"/>
                <a:sym typeface="Arial"/>
              </a:rPr>
              <a:t>Dokumentklassifikation: KPMG fortroligt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6191250" cy="10287000"/>
            <a:chOff x="0" y="0"/>
            <a:chExt cx="8255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255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8255000">
                  <a:moveTo>
                    <a:pt x="0" y="0"/>
                  </a:moveTo>
                  <a:lnTo>
                    <a:pt x="8255000" y="0"/>
                  </a:lnTo>
                  <a:lnTo>
                    <a:pt x="8255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92A5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000500" y="0"/>
            <a:ext cx="5334000" cy="10287000"/>
            <a:chOff x="0" y="0"/>
            <a:chExt cx="7112000" cy="1371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112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7112000">
                  <a:moveTo>
                    <a:pt x="0" y="0"/>
                  </a:moveTo>
                  <a:lnTo>
                    <a:pt x="7112000" y="0"/>
                  </a:lnTo>
                  <a:lnTo>
                    <a:pt x="7112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61B3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0" y="8305800"/>
            <a:ext cx="6191250" cy="190500"/>
            <a:chOff x="0" y="0"/>
            <a:chExt cx="8255000" cy="254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255000" cy="254000"/>
            </a:xfrm>
            <a:custGeom>
              <a:avLst/>
              <a:gdLst/>
              <a:ahLst/>
              <a:cxnLst/>
              <a:rect r="r" b="b" t="t" l="l"/>
              <a:pathLst>
                <a:path h="254000" w="8255000">
                  <a:moveTo>
                    <a:pt x="0" y="0"/>
                  </a:moveTo>
                  <a:lnTo>
                    <a:pt x="8255000" y="0"/>
                  </a:lnTo>
                  <a:lnTo>
                    <a:pt x="8255000" y="254000"/>
                  </a:lnTo>
                  <a:lnTo>
                    <a:pt x="0" y="254000"/>
                  </a:lnTo>
                  <a:close/>
                </a:path>
              </a:pathLst>
            </a:custGeom>
            <a:solidFill>
              <a:srgbClr val="2FC3D7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876300" y="1190625"/>
            <a:ext cx="7429500" cy="1466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91"/>
              </a:lnSpc>
            </a:pPr>
            <a:r>
              <a:rPr lang="en-US" sz="54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Demo: Company X</a:t>
            </a:r>
          </a:p>
          <a:p>
            <a:pPr algn="l">
              <a:lnSpc>
                <a:spcPts val="6091"/>
              </a:lnSpc>
            </a:pPr>
            <a:r>
              <a:rPr lang="en-US" sz="54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SIGNAL AGENT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76300" y="3124200"/>
            <a:ext cx="6762750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250">
                <a:solidFill>
                  <a:srgbClr val="EAF0FF"/>
                </a:solidFill>
                <a:latin typeface="Arial"/>
                <a:ea typeface="Arial"/>
                <a:cs typeface="Arial"/>
                <a:sym typeface="Arial"/>
              </a:rPr>
              <a:t>Proof-of-conceptet viser intern beslutningsstøtte i et realistisk billing support-flow.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901238" y="3138488"/>
            <a:ext cx="6581775" cy="1209675"/>
            <a:chOff x="0" y="0"/>
            <a:chExt cx="8775700" cy="16129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775700" cy="1612900"/>
            </a:xfrm>
            <a:custGeom>
              <a:avLst/>
              <a:gdLst/>
              <a:ahLst/>
              <a:cxnLst/>
              <a:rect r="r" b="b" t="t" l="l"/>
              <a:pathLst>
                <a:path h="1612900" w="8775700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8673338" y="0"/>
                  </a:lnTo>
                  <a:cubicBezTo>
                    <a:pt x="8729853" y="0"/>
                    <a:pt x="8775700" y="45847"/>
                    <a:pt x="8775700" y="102362"/>
                  </a:cubicBezTo>
                  <a:lnTo>
                    <a:pt x="8775700" y="1510538"/>
                  </a:lnTo>
                  <a:cubicBezTo>
                    <a:pt x="8775700" y="1567053"/>
                    <a:pt x="8729853" y="1612900"/>
                    <a:pt x="8673338" y="1612900"/>
                  </a:cubicBezTo>
                  <a:lnTo>
                    <a:pt x="102362" y="1612900"/>
                  </a:lnTo>
                  <a:cubicBezTo>
                    <a:pt x="45847" y="1612900"/>
                    <a:pt x="0" y="1567053"/>
                    <a:pt x="0" y="1510538"/>
                  </a:cubicBezTo>
                  <a:close/>
                </a:path>
              </a:pathLst>
            </a:custGeom>
            <a:solidFill>
              <a:srgbClr val="123B73"/>
            </a:solidFill>
            <a:ln w="9525" cap="sq">
              <a:solidFill>
                <a:srgbClr val="486A95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0325100" y="3419475"/>
            <a:ext cx="66675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27"/>
              </a:lnSpc>
            </a:pPr>
            <a:r>
              <a:rPr lang="en-US" sz="2550" b="true">
                <a:solidFill>
                  <a:srgbClr val="2FC3D7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372850" y="3362325"/>
            <a:ext cx="342900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2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Indgående opkald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372850" y="3752850"/>
            <a:ext cx="4429125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6"/>
              </a:lnSpc>
            </a:pPr>
            <a:r>
              <a:rPr lang="en-US" sz="1500">
                <a:solidFill>
                  <a:srgbClr val="D7E2EF"/>
                </a:solidFill>
                <a:latin typeface="Arial"/>
                <a:ea typeface="Arial"/>
                <a:cs typeface="Arial"/>
                <a:sym typeface="Arial"/>
              </a:rPr>
              <a:t>Mikkel ser telefonnummer og kundespørgsmål.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901238" y="4605338"/>
            <a:ext cx="6581775" cy="1209675"/>
            <a:chOff x="0" y="0"/>
            <a:chExt cx="8775700" cy="16129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775700" cy="1612900"/>
            </a:xfrm>
            <a:custGeom>
              <a:avLst/>
              <a:gdLst/>
              <a:ahLst/>
              <a:cxnLst/>
              <a:rect r="r" b="b" t="t" l="l"/>
              <a:pathLst>
                <a:path h="1612900" w="8775700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8673338" y="0"/>
                  </a:lnTo>
                  <a:cubicBezTo>
                    <a:pt x="8729853" y="0"/>
                    <a:pt x="8775700" y="45847"/>
                    <a:pt x="8775700" y="102362"/>
                  </a:cubicBezTo>
                  <a:lnTo>
                    <a:pt x="8775700" y="1510538"/>
                  </a:lnTo>
                  <a:cubicBezTo>
                    <a:pt x="8775700" y="1567053"/>
                    <a:pt x="8729853" y="1612900"/>
                    <a:pt x="8673338" y="1612900"/>
                  </a:cubicBezTo>
                  <a:lnTo>
                    <a:pt x="102362" y="1612900"/>
                  </a:lnTo>
                  <a:cubicBezTo>
                    <a:pt x="45847" y="1612900"/>
                    <a:pt x="0" y="1567053"/>
                    <a:pt x="0" y="1510538"/>
                  </a:cubicBezTo>
                  <a:close/>
                </a:path>
              </a:pathLst>
            </a:custGeom>
            <a:solidFill>
              <a:srgbClr val="123B73"/>
            </a:solidFill>
            <a:ln w="9525" cap="sq">
              <a:solidFill>
                <a:srgbClr val="486A95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0325100" y="4886325"/>
            <a:ext cx="66675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27"/>
              </a:lnSpc>
            </a:pPr>
            <a:r>
              <a:rPr lang="en-US" sz="2550" b="true">
                <a:solidFill>
                  <a:srgbClr val="2FC3D7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372850" y="4829175"/>
            <a:ext cx="342900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2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SIGNAL AGENT slår op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372850" y="5219700"/>
            <a:ext cx="4429125" cy="2583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6"/>
              </a:lnSpc>
            </a:pPr>
            <a:r>
              <a:rPr lang="en-US" sz="1500">
                <a:solidFill>
                  <a:srgbClr val="D7E2EF"/>
                </a:solidFill>
                <a:latin typeface="Arial"/>
                <a:ea typeface="Arial"/>
                <a:cs typeface="Arial"/>
                <a:sym typeface="Arial"/>
              </a:rPr>
              <a:t>CRM, faktura, forbrug, betaling og historik samles.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901238" y="6072188"/>
            <a:ext cx="6581775" cy="1209675"/>
            <a:chOff x="0" y="0"/>
            <a:chExt cx="8775700" cy="16129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775700" cy="1612900"/>
            </a:xfrm>
            <a:custGeom>
              <a:avLst/>
              <a:gdLst/>
              <a:ahLst/>
              <a:cxnLst/>
              <a:rect r="r" b="b" t="t" l="l"/>
              <a:pathLst>
                <a:path h="1612900" w="8775700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8673338" y="0"/>
                  </a:lnTo>
                  <a:cubicBezTo>
                    <a:pt x="8729853" y="0"/>
                    <a:pt x="8775700" y="45847"/>
                    <a:pt x="8775700" y="102362"/>
                  </a:cubicBezTo>
                  <a:lnTo>
                    <a:pt x="8775700" y="1510538"/>
                  </a:lnTo>
                  <a:cubicBezTo>
                    <a:pt x="8775700" y="1567053"/>
                    <a:pt x="8729853" y="1612900"/>
                    <a:pt x="8673338" y="1612900"/>
                  </a:cubicBezTo>
                  <a:lnTo>
                    <a:pt x="102362" y="1612900"/>
                  </a:lnTo>
                  <a:cubicBezTo>
                    <a:pt x="45847" y="1612900"/>
                    <a:pt x="0" y="1567053"/>
                    <a:pt x="0" y="1510538"/>
                  </a:cubicBezTo>
                  <a:close/>
                </a:path>
              </a:pathLst>
            </a:custGeom>
            <a:solidFill>
              <a:srgbClr val="123B73"/>
            </a:solidFill>
            <a:ln w="9525" cap="sq">
              <a:solidFill>
                <a:srgbClr val="486A95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0325100" y="6353175"/>
            <a:ext cx="66675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27"/>
              </a:lnSpc>
            </a:pPr>
            <a:r>
              <a:rPr lang="en-US" sz="2550" b="true">
                <a:solidFill>
                  <a:srgbClr val="2FC3D7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72850" y="6296025"/>
            <a:ext cx="3429000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2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Forslag godkendes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372850" y="6686550"/>
            <a:ext cx="4429125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6"/>
              </a:lnSpc>
            </a:pPr>
            <a:r>
              <a:rPr lang="en-US" sz="1500">
                <a:solidFill>
                  <a:srgbClr val="D7E2EF"/>
                </a:solidFill>
                <a:latin typeface="Arial"/>
                <a:ea typeface="Arial"/>
                <a:cs typeface="Arial"/>
                <a:sym typeface="Arial"/>
              </a:rPr>
              <a:t>Forklaring, mailudkast og sagsnotat er klar.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76300" y="6134100"/>
            <a:ext cx="3619500" cy="895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54"/>
              </a:lnSpc>
            </a:pPr>
            <a:r>
              <a:rPr lang="en-US" b="true" sz="5100" i="true">
                <a:solidFill>
                  <a:srgbClr val="FFFF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/AI/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76300" y="7181850"/>
            <a:ext cx="6762750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75">
                <a:solidFill>
                  <a:srgbClr val="D7E2EF"/>
                </a:solidFill>
                <a:latin typeface="Arial"/>
                <a:ea typeface="Arial"/>
                <a:cs typeface="Arial"/>
                <a:sym typeface="Arial"/>
              </a:rPr>
              <a:t>Demoen gør business casen konkret: kortere håndteringstid, bedre dokumentation og mere ensartede svar.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AEBBD0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5621000" y="9667875"/>
            <a:ext cx="142875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09"/>
              </a:lnSpc>
            </a:pPr>
            <a:r>
              <a:rPr lang="en-US" sz="900">
                <a:solidFill>
                  <a:srgbClr val="AEBBD0"/>
                </a:solidFill>
                <a:latin typeface="Arial"/>
                <a:ea typeface="Arial"/>
                <a:cs typeface="Arial"/>
                <a:sym typeface="Arial"/>
              </a:rPr>
              <a:t>Demo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7135475" y="9772650"/>
            <a:ext cx="19050" cy="190500"/>
            <a:chOff x="0" y="0"/>
            <a:chExt cx="25400" cy="254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54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">
                  <a:moveTo>
                    <a:pt x="0" y="0"/>
                  </a:moveTo>
                  <a:lnTo>
                    <a:pt x="25400" y="2540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-1233035" t="0" r="-1233035" b="0"/>
              </a:stretch>
            </a:blipFill>
            <a:ln w="19050" cap="sq">
              <a:solidFill>
                <a:srgbClr val="2FC3D7"/>
              </a:solidFill>
              <a:prstDash val="solid"/>
              <a:miter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17297400" y="9620250"/>
            <a:ext cx="2667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3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8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Freeform 34" id="34"/>
          <p:cNvSpPr/>
          <p:nvPr/>
        </p:nvSpPr>
        <p:spPr>
          <a:xfrm flipH="false" flipV="false" rot="0">
            <a:off x="876300" y="9476345"/>
            <a:ext cx="456796" cy="182005"/>
          </a:xfrm>
          <a:custGeom>
            <a:avLst/>
            <a:gdLst/>
            <a:ahLst/>
            <a:cxnLst/>
            <a:rect r="r" b="b" t="t" l="l"/>
            <a:pathLst>
              <a:path h="182005" w="456796">
                <a:moveTo>
                  <a:pt x="0" y="0"/>
                </a:moveTo>
                <a:lnTo>
                  <a:pt x="456796" y="0"/>
                </a:lnTo>
                <a:lnTo>
                  <a:pt x="456796" y="182005"/>
                </a:lnTo>
                <a:lnTo>
                  <a:pt x="0" y="1820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382750" y="771525"/>
            <a:ext cx="314325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11"/>
              </a:lnSpc>
            </a:pPr>
            <a:r>
              <a:rPr lang="en-US" sz="105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Dokumentklassifikation: KPMG fortroligt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76300" y="666750"/>
            <a:ext cx="409575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i="true">
                <a:solidFill>
                  <a:srgbClr val="00BA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Business case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76300" y="1362075"/>
            <a:ext cx="10572750" cy="122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45"/>
              </a:lnSpc>
            </a:pPr>
            <a:r>
              <a:rPr lang="en-US" sz="46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Faktura-piloten beviser effekten</a:t>
            </a:r>
          </a:p>
          <a:p>
            <a:pPr algn="l">
              <a:lnSpc>
                <a:spcPts val="5245"/>
              </a:lnSpc>
            </a:pPr>
            <a:r>
              <a:rPr lang="en-US" sz="46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programmet skalerer værdien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3581400" y="3224212"/>
            <a:ext cx="5773865" cy="3028950"/>
            <a:chOff x="0" y="0"/>
            <a:chExt cx="7698487" cy="4038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698487" cy="4038600"/>
            </a:xfrm>
            <a:custGeom>
              <a:avLst/>
              <a:gdLst/>
              <a:ahLst/>
              <a:cxnLst/>
              <a:rect r="r" b="b" t="t" l="l"/>
              <a:pathLst>
                <a:path h="4038600" w="7698487">
                  <a:moveTo>
                    <a:pt x="0" y="0"/>
                  </a:moveTo>
                  <a:lnTo>
                    <a:pt x="7698487" y="0"/>
                  </a:lnTo>
                  <a:lnTo>
                    <a:pt x="7698487" y="4038600"/>
                  </a:lnTo>
                  <a:lnTo>
                    <a:pt x="0" y="4038600"/>
                  </a:lnTo>
                  <a:close/>
                </a:path>
              </a:pathLst>
            </a:custGeom>
            <a:solidFill>
              <a:srgbClr val="061B3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729154" y="3862388"/>
            <a:ext cx="5977446" cy="3028950"/>
            <a:chOff x="0" y="0"/>
            <a:chExt cx="7969929" cy="4038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969928" cy="4038600"/>
            </a:xfrm>
            <a:custGeom>
              <a:avLst/>
              <a:gdLst/>
              <a:ahLst/>
              <a:cxnLst/>
              <a:rect r="r" b="b" t="t" l="l"/>
              <a:pathLst>
                <a:path h="4038600" w="7969928">
                  <a:moveTo>
                    <a:pt x="0" y="0"/>
                  </a:moveTo>
                  <a:lnTo>
                    <a:pt x="7969928" y="0"/>
                  </a:lnTo>
                  <a:lnTo>
                    <a:pt x="7969928" y="4038600"/>
                  </a:lnTo>
                  <a:lnTo>
                    <a:pt x="0" y="4038600"/>
                  </a:lnTo>
                  <a:close/>
                </a:path>
              </a:pathLst>
            </a:custGeom>
            <a:solidFill>
              <a:srgbClr val="092A5C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4152900" y="3652837"/>
            <a:ext cx="28575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b="true" sz="2400">
                <a:solidFill>
                  <a:srgbClr val="00BAFF"/>
                </a:solidFill>
                <a:latin typeface="Arial Bold"/>
                <a:ea typeface="Arial Bold"/>
                <a:cs typeface="Arial Bold"/>
                <a:sym typeface="Arial Bold"/>
              </a:rPr>
              <a:t>Pilot proof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152900" y="4243387"/>
            <a:ext cx="4762500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9"/>
              </a:lnSpc>
            </a:pPr>
            <a:r>
              <a:rPr lang="en-US" sz="1800">
                <a:solidFill>
                  <a:srgbClr val="D7E2EF"/>
                </a:solidFill>
                <a:latin typeface="Arial"/>
                <a:ea typeface="Arial"/>
                <a:cs typeface="Arial"/>
                <a:sym typeface="Arial"/>
              </a:rPr>
              <a:t>Fakturaflowet bruges til at måle effekt på tid, kontaktkvalitet og efterarbejde.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152900" y="5091112"/>
            <a:ext cx="4762500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44"/>
              </a:lnSpc>
            </a:pPr>
            <a:r>
              <a:rPr lang="en-US" sz="42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7:08 → 3:38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320212" y="4300537"/>
            <a:ext cx="40005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Transformation value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355265" y="4786313"/>
            <a:ext cx="4762500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9"/>
              </a:lnSpc>
            </a:pPr>
            <a:r>
              <a:rPr lang="en-US" sz="1800">
                <a:solidFill>
                  <a:srgbClr val="EAF0FF"/>
                </a:solidFill>
                <a:latin typeface="Arial"/>
                <a:ea typeface="Arial"/>
                <a:cs typeface="Arial"/>
                <a:sym typeface="Arial"/>
              </a:rPr>
              <a:t>Når agentmønsteret genbruges på 3-4 servicejourneys, bliver løsningen en ny operating model.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334500" y="5643562"/>
            <a:ext cx="3030141" cy="687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43"/>
              </a:lnSpc>
            </a:pPr>
            <a:r>
              <a:rPr lang="en-US" sz="40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DKK 30-45m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372600" y="6309170"/>
            <a:ext cx="4038600" cy="7536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6"/>
              </a:lnSpc>
            </a:pPr>
            <a:r>
              <a:rPr lang="en-US" sz="1500">
                <a:solidFill>
                  <a:srgbClr val="EAF0FF"/>
                </a:solidFill>
                <a:latin typeface="Arial"/>
                <a:ea typeface="Arial"/>
                <a:cs typeface="Arial"/>
                <a:sym typeface="Arial"/>
              </a:rPr>
              <a:t>årlig værdipotentiale ved skalering på tværs af 3-4 servicejourneys</a:t>
            </a:r>
          </a:p>
          <a:p>
            <a:pPr algn="l">
              <a:lnSpc>
                <a:spcPts val="2016"/>
              </a:lnSpc>
            </a:pPr>
          </a:p>
        </p:txBody>
      </p:sp>
      <p:grpSp>
        <p:nvGrpSpPr>
          <p:cNvPr name="Group 16" id="16"/>
          <p:cNvGrpSpPr/>
          <p:nvPr/>
        </p:nvGrpSpPr>
        <p:grpSpPr>
          <a:xfrm rot="0">
            <a:off x="1524000" y="7543800"/>
            <a:ext cx="3429000" cy="1200150"/>
            <a:chOff x="0" y="0"/>
            <a:chExt cx="4572000" cy="16002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572000" cy="1600200"/>
            </a:xfrm>
            <a:custGeom>
              <a:avLst/>
              <a:gdLst/>
              <a:ahLst/>
              <a:cxnLst/>
              <a:rect r="r" b="b" t="t" l="l"/>
              <a:pathLst>
                <a:path h="1600200" w="45720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4470400" y="0"/>
                  </a:lnTo>
                  <a:cubicBezTo>
                    <a:pt x="4526534" y="0"/>
                    <a:pt x="4572000" y="45466"/>
                    <a:pt x="4572000" y="101600"/>
                  </a:cubicBezTo>
                  <a:lnTo>
                    <a:pt x="4572000" y="1498600"/>
                  </a:lnTo>
                  <a:cubicBezTo>
                    <a:pt x="4572000" y="1554734"/>
                    <a:pt x="4526534" y="1600200"/>
                    <a:pt x="4470400" y="1600200"/>
                  </a:cubicBezTo>
                  <a:lnTo>
                    <a:pt x="101600" y="1600200"/>
                  </a:lnTo>
                  <a:cubicBezTo>
                    <a:pt x="45466" y="1600200"/>
                    <a:pt x="0" y="1554734"/>
                    <a:pt x="0" y="1498600"/>
                  </a:cubicBezTo>
                  <a:close/>
                </a:path>
              </a:pathLst>
            </a:custGeom>
            <a:solidFill>
              <a:srgbClr val="E7EEF6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443038" y="7443788"/>
            <a:ext cx="3438525" cy="1209675"/>
            <a:chOff x="0" y="0"/>
            <a:chExt cx="4584700" cy="16129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584700" cy="1612900"/>
            </a:xfrm>
            <a:custGeom>
              <a:avLst/>
              <a:gdLst/>
              <a:ahLst/>
              <a:cxnLst/>
              <a:rect r="r" b="b" t="t" l="l"/>
              <a:pathLst>
                <a:path h="1612900" w="4584700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4482338" y="0"/>
                  </a:lnTo>
                  <a:cubicBezTo>
                    <a:pt x="4538853" y="0"/>
                    <a:pt x="4584700" y="45847"/>
                    <a:pt x="4584700" y="102362"/>
                  </a:cubicBezTo>
                  <a:lnTo>
                    <a:pt x="4584700" y="1510538"/>
                  </a:lnTo>
                  <a:cubicBezTo>
                    <a:pt x="4584700" y="1567053"/>
                    <a:pt x="4538853" y="1612900"/>
                    <a:pt x="4482338" y="1612900"/>
                  </a:cubicBezTo>
                  <a:lnTo>
                    <a:pt x="102362" y="1612900"/>
                  </a:lnTo>
                  <a:cubicBezTo>
                    <a:pt x="45847" y="1612900"/>
                    <a:pt x="0" y="1567053"/>
                    <a:pt x="0" y="151053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DE7F1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695450" y="7715250"/>
            <a:ext cx="219075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6D7584"/>
                </a:solidFill>
                <a:latin typeface="Arial Bold"/>
                <a:ea typeface="Arial Bold"/>
                <a:cs typeface="Arial Bold"/>
                <a:sym typeface="Arial Bold"/>
              </a:rPr>
              <a:t>Tid pr. sag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695450" y="8191500"/>
            <a:ext cx="26670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sz="21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7:08 → 3:38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5429250" y="7543800"/>
            <a:ext cx="3429000" cy="1200150"/>
            <a:chOff x="0" y="0"/>
            <a:chExt cx="4572000" cy="16002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572000" cy="1600200"/>
            </a:xfrm>
            <a:custGeom>
              <a:avLst/>
              <a:gdLst/>
              <a:ahLst/>
              <a:cxnLst/>
              <a:rect r="r" b="b" t="t" l="l"/>
              <a:pathLst>
                <a:path h="1600200" w="45720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4470400" y="0"/>
                  </a:lnTo>
                  <a:cubicBezTo>
                    <a:pt x="4526534" y="0"/>
                    <a:pt x="4572000" y="45466"/>
                    <a:pt x="4572000" y="101600"/>
                  </a:cubicBezTo>
                  <a:lnTo>
                    <a:pt x="4572000" y="1498600"/>
                  </a:lnTo>
                  <a:cubicBezTo>
                    <a:pt x="4572000" y="1554734"/>
                    <a:pt x="4526534" y="1600200"/>
                    <a:pt x="4470400" y="1600200"/>
                  </a:cubicBezTo>
                  <a:lnTo>
                    <a:pt x="101600" y="1600200"/>
                  </a:lnTo>
                  <a:cubicBezTo>
                    <a:pt x="45466" y="1600200"/>
                    <a:pt x="0" y="1554734"/>
                    <a:pt x="0" y="1498600"/>
                  </a:cubicBezTo>
                  <a:close/>
                </a:path>
              </a:pathLst>
            </a:custGeom>
            <a:solidFill>
              <a:srgbClr val="E7EEF6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5348288" y="7443788"/>
            <a:ext cx="3438525" cy="1209675"/>
            <a:chOff x="0" y="0"/>
            <a:chExt cx="4584700" cy="16129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584700" cy="1612900"/>
            </a:xfrm>
            <a:custGeom>
              <a:avLst/>
              <a:gdLst/>
              <a:ahLst/>
              <a:cxnLst/>
              <a:rect r="r" b="b" t="t" l="l"/>
              <a:pathLst>
                <a:path h="1612900" w="4584700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4482338" y="0"/>
                  </a:lnTo>
                  <a:cubicBezTo>
                    <a:pt x="4538853" y="0"/>
                    <a:pt x="4584700" y="45847"/>
                    <a:pt x="4584700" y="102362"/>
                  </a:cubicBezTo>
                  <a:lnTo>
                    <a:pt x="4584700" y="1510538"/>
                  </a:lnTo>
                  <a:cubicBezTo>
                    <a:pt x="4584700" y="1567053"/>
                    <a:pt x="4538853" y="1612900"/>
                    <a:pt x="4482338" y="1612900"/>
                  </a:cubicBezTo>
                  <a:lnTo>
                    <a:pt x="102362" y="1612900"/>
                  </a:lnTo>
                  <a:cubicBezTo>
                    <a:pt x="45847" y="1612900"/>
                    <a:pt x="0" y="1567053"/>
                    <a:pt x="0" y="151053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DE7F1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5600700" y="7715250"/>
            <a:ext cx="219075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6D7584"/>
                </a:solidFill>
                <a:latin typeface="Arial Bold"/>
                <a:ea typeface="Arial Bold"/>
                <a:cs typeface="Arial Bold"/>
                <a:sym typeface="Arial Bold"/>
              </a:rPr>
              <a:t>Løst i første kontakt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600700" y="8191500"/>
            <a:ext cx="26670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sz="2100" b="true">
                <a:solidFill>
                  <a:srgbClr val="2FC3D7"/>
                </a:solidFill>
                <a:latin typeface="Arial Bold"/>
                <a:ea typeface="Arial Bold"/>
                <a:cs typeface="Arial Bold"/>
                <a:sym typeface="Arial Bold"/>
              </a:rPr>
              <a:t>92% → 97%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9334500" y="7543800"/>
            <a:ext cx="3429000" cy="1200150"/>
            <a:chOff x="0" y="0"/>
            <a:chExt cx="4572000" cy="16002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572000" cy="1600200"/>
            </a:xfrm>
            <a:custGeom>
              <a:avLst/>
              <a:gdLst/>
              <a:ahLst/>
              <a:cxnLst/>
              <a:rect r="r" b="b" t="t" l="l"/>
              <a:pathLst>
                <a:path h="1600200" w="45720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4470400" y="0"/>
                  </a:lnTo>
                  <a:cubicBezTo>
                    <a:pt x="4526534" y="0"/>
                    <a:pt x="4572000" y="45466"/>
                    <a:pt x="4572000" y="101600"/>
                  </a:cubicBezTo>
                  <a:lnTo>
                    <a:pt x="4572000" y="1498600"/>
                  </a:lnTo>
                  <a:cubicBezTo>
                    <a:pt x="4572000" y="1554734"/>
                    <a:pt x="4526534" y="1600200"/>
                    <a:pt x="4470400" y="1600200"/>
                  </a:cubicBezTo>
                  <a:lnTo>
                    <a:pt x="101600" y="1600200"/>
                  </a:lnTo>
                  <a:cubicBezTo>
                    <a:pt x="45466" y="1600200"/>
                    <a:pt x="0" y="1554734"/>
                    <a:pt x="0" y="1498600"/>
                  </a:cubicBezTo>
                  <a:close/>
                </a:path>
              </a:pathLst>
            </a:custGeom>
            <a:solidFill>
              <a:srgbClr val="E7EEF6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9253538" y="7443788"/>
            <a:ext cx="3438525" cy="1209675"/>
            <a:chOff x="0" y="0"/>
            <a:chExt cx="4584700" cy="16129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584700" cy="1612900"/>
            </a:xfrm>
            <a:custGeom>
              <a:avLst/>
              <a:gdLst/>
              <a:ahLst/>
              <a:cxnLst/>
              <a:rect r="r" b="b" t="t" l="l"/>
              <a:pathLst>
                <a:path h="1612900" w="4584700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4482338" y="0"/>
                  </a:lnTo>
                  <a:cubicBezTo>
                    <a:pt x="4538853" y="0"/>
                    <a:pt x="4584700" y="45847"/>
                    <a:pt x="4584700" y="102362"/>
                  </a:cubicBezTo>
                  <a:lnTo>
                    <a:pt x="4584700" y="1510538"/>
                  </a:lnTo>
                  <a:cubicBezTo>
                    <a:pt x="4584700" y="1567053"/>
                    <a:pt x="4538853" y="1612900"/>
                    <a:pt x="4482338" y="1612900"/>
                  </a:cubicBezTo>
                  <a:lnTo>
                    <a:pt x="102362" y="1612900"/>
                  </a:lnTo>
                  <a:cubicBezTo>
                    <a:pt x="45847" y="1612900"/>
                    <a:pt x="0" y="1567053"/>
                    <a:pt x="0" y="151053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DE7F1"/>
              </a:solidFill>
              <a:prstDash val="solid"/>
              <a:miter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9505950" y="7715250"/>
            <a:ext cx="219075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6D7584"/>
                </a:solidFill>
                <a:latin typeface="Arial Bold"/>
                <a:ea typeface="Arial Bold"/>
                <a:cs typeface="Arial Bold"/>
                <a:sym typeface="Arial Bold"/>
              </a:rPr>
              <a:t>Efterbehandling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505950" y="8191500"/>
            <a:ext cx="26670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sz="21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1:24 → 0:38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3239750" y="7543800"/>
            <a:ext cx="3429000" cy="1200150"/>
            <a:chOff x="0" y="0"/>
            <a:chExt cx="4572000" cy="16002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572000" cy="1600200"/>
            </a:xfrm>
            <a:custGeom>
              <a:avLst/>
              <a:gdLst/>
              <a:ahLst/>
              <a:cxnLst/>
              <a:rect r="r" b="b" t="t" l="l"/>
              <a:pathLst>
                <a:path h="1600200" w="45720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4470400" y="0"/>
                  </a:lnTo>
                  <a:cubicBezTo>
                    <a:pt x="4526534" y="0"/>
                    <a:pt x="4572000" y="45466"/>
                    <a:pt x="4572000" y="101600"/>
                  </a:cubicBezTo>
                  <a:lnTo>
                    <a:pt x="4572000" y="1498600"/>
                  </a:lnTo>
                  <a:cubicBezTo>
                    <a:pt x="4572000" y="1554734"/>
                    <a:pt x="4526534" y="1600200"/>
                    <a:pt x="4470400" y="1600200"/>
                  </a:cubicBezTo>
                  <a:lnTo>
                    <a:pt x="101600" y="1600200"/>
                  </a:lnTo>
                  <a:cubicBezTo>
                    <a:pt x="45466" y="1600200"/>
                    <a:pt x="0" y="1554734"/>
                    <a:pt x="0" y="1498600"/>
                  </a:cubicBezTo>
                  <a:close/>
                </a:path>
              </a:pathLst>
            </a:custGeom>
            <a:solidFill>
              <a:srgbClr val="E7EEF6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3158788" y="7443788"/>
            <a:ext cx="3438525" cy="1209675"/>
            <a:chOff x="0" y="0"/>
            <a:chExt cx="4584700" cy="16129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584700" cy="1612900"/>
            </a:xfrm>
            <a:custGeom>
              <a:avLst/>
              <a:gdLst/>
              <a:ahLst/>
              <a:cxnLst/>
              <a:rect r="r" b="b" t="t" l="l"/>
              <a:pathLst>
                <a:path h="1612900" w="4584700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4482338" y="0"/>
                  </a:lnTo>
                  <a:cubicBezTo>
                    <a:pt x="4538853" y="0"/>
                    <a:pt x="4584700" y="45847"/>
                    <a:pt x="4584700" y="102362"/>
                  </a:cubicBezTo>
                  <a:lnTo>
                    <a:pt x="4584700" y="1510538"/>
                  </a:lnTo>
                  <a:cubicBezTo>
                    <a:pt x="4584700" y="1567053"/>
                    <a:pt x="4538853" y="1612900"/>
                    <a:pt x="4482338" y="1612900"/>
                  </a:cubicBezTo>
                  <a:lnTo>
                    <a:pt x="102362" y="1612900"/>
                  </a:lnTo>
                  <a:cubicBezTo>
                    <a:pt x="45847" y="1612900"/>
                    <a:pt x="0" y="1567053"/>
                    <a:pt x="0" y="151053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DE7F1"/>
              </a:solidFill>
              <a:prstDash val="solid"/>
              <a:miter/>
            </a:ln>
          </p:spPr>
        </p:sp>
      </p:grpSp>
      <p:sp>
        <p:nvSpPr>
          <p:cNvPr name="TextBox 38" id="38"/>
          <p:cNvSpPr txBox="true"/>
          <p:nvPr/>
        </p:nvSpPr>
        <p:spPr>
          <a:xfrm rot="0">
            <a:off x="13411200" y="7715250"/>
            <a:ext cx="219075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6D7584"/>
                </a:solidFill>
                <a:latin typeface="Arial Bold"/>
                <a:ea typeface="Arial Bold"/>
                <a:cs typeface="Arial Bold"/>
                <a:sym typeface="Arial Bold"/>
              </a:rPr>
              <a:t>Kundetilfredshed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3411200" y="8191500"/>
            <a:ext cx="26670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sz="21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4,1 → 4,6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443038" y="8993734"/>
            <a:ext cx="14287500" cy="224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3"/>
              </a:lnSpc>
            </a:pPr>
            <a:r>
              <a:rPr lang="en-US" sz="1275">
                <a:solidFill>
                  <a:srgbClr val="6D7584"/>
                </a:solidFill>
                <a:latin typeface="Arial"/>
                <a:ea typeface="Arial"/>
                <a:cs typeface="Arial"/>
                <a:sym typeface="Arial"/>
              </a:rPr>
              <a:t>Baseline: </a:t>
            </a:r>
            <a:r>
              <a:rPr lang="en-US" sz="1275">
                <a:solidFill>
                  <a:srgbClr val="6D7584"/>
                </a:solidFill>
                <a:latin typeface="Arial"/>
                <a:ea typeface="Arial"/>
                <a:cs typeface="Arial"/>
                <a:sym typeface="Arial"/>
              </a:rPr>
              <a:t>640k årlige fakturasager, ca. 3:30 min. sparet pr. sag, DKK 425-550 pr. fuldt lastet behandlingstime.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5621000" y="9667875"/>
            <a:ext cx="142875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Business case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7135475" y="9772650"/>
            <a:ext cx="19050" cy="190500"/>
            <a:chOff x="0" y="0"/>
            <a:chExt cx="25400" cy="2540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54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">
                  <a:moveTo>
                    <a:pt x="0" y="0"/>
                  </a:moveTo>
                  <a:lnTo>
                    <a:pt x="25400" y="2540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-1233035" t="0" r="-1233035" b="0"/>
              </a:stretch>
            </a:blip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sp>
        <p:nvSpPr>
          <p:cNvPr name="TextBox 45" id="45"/>
          <p:cNvSpPr txBox="true"/>
          <p:nvPr/>
        </p:nvSpPr>
        <p:spPr>
          <a:xfrm rot="0">
            <a:off x="17297400" y="9620250"/>
            <a:ext cx="2667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9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Freeform 47" id="47"/>
          <p:cNvSpPr/>
          <p:nvPr/>
        </p:nvSpPr>
        <p:spPr>
          <a:xfrm flipH="false" flipV="false" rot="0">
            <a:off x="876300" y="9476345"/>
            <a:ext cx="456796" cy="182005"/>
          </a:xfrm>
          <a:custGeom>
            <a:avLst/>
            <a:gdLst/>
            <a:ahLst/>
            <a:cxnLst/>
            <a:rect r="r" b="b" t="t" l="l"/>
            <a:pathLst>
              <a:path h="182005" w="456796">
                <a:moveTo>
                  <a:pt x="0" y="0"/>
                </a:moveTo>
                <a:lnTo>
                  <a:pt x="456796" y="0"/>
                </a:lnTo>
                <a:lnTo>
                  <a:pt x="456796" y="182005"/>
                </a:lnTo>
                <a:lnTo>
                  <a:pt x="0" y="1820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76300" y="666750"/>
            <a:ext cx="409575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i="true">
                <a:solidFill>
                  <a:srgbClr val="00BAFF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Anbefaling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76300" y="1266825"/>
            <a:ext cx="9906000" cy="1190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14"/>
              </a:lnSpc>
            </a:pPr>
            <a:r>
              <a:rPr lang="en-US" sz="48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Byg et 12-måneders program</a:t>
            </a:r>
          </a:p>
          <a:p>
            <a:pPr algn="l">
              <a:lnSpc>
                <a:spcPts val="5414"/>
              </a:lnSpc>
            </a:pPr>
            <a:r>
              <a:rPr lang="en-US" sz="48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ikke en isoleret AI-demo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657350" y="3562350"/>
            <a:ext cx="4476750" cy="3429000"/>
            <a:chOff x="0" y="0"/>
            <a:chExt cx="5969000" cy="4572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969000" cy="4572000"/>
            </a:xfrm>
            <a:custGeom>
              <a:avLst/>
              <a:gdLst/>
              <a:ahLst/>
              <a:cxnLst/>
              <a:rect r="r" b="b" t="t" l="l"/>
              <a:pathLst>
                <a:path h="4572000" w="5969000">
                  <a:moveTo>
                    <a:pt x="127000" y="0"/>
                  </a:moveTo>
                  <a:lnTo>
                    <a:pt x="5842000" y="0"/>
                  </a:lnTo>
                  <a:cubicBezTo>
                    <a:pt x="5912140" y="0"/>
                    <a:pt x="5969000" y="56860"/>
                    <a:pt x="5969000" y="127000"/>
                  </a:cubicBezTo>
                  <a:lnTo>
                    <a:pt x="5969000" y="4445000"/>
                  </a:lnTo>
                  <a:cubicBezTo>
                    <a:pt x="5969000" y="4515140"/>
                    <a:pt x="5912140" y="4572000"/>
                    <a:pt x="5842000" y="4572000"/>
                  </a:cubicBezTo>
                  <a:lnTo>
                    <a:pt x="127000" y="4572000"/>
                  </a:lnTo>
                  <a:cubicBezTo>
                    <a:pt x="56860" y="4572000"/>
                    <a:pt x="0" y="4515140"/>
                    <a:pt x="0" y="44450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E3EBF4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43050" y="3429000"/>
            <a:ext cx="4476750" cy="3429000"/>
            <a:chOff x="0" y="0"/>
            <a:chExt cx="5969000" cy="4572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969000" cy="4572000"/>
            </a:xfrm>
            <a:custGeom>
              <a:avLst/>
              <a:gdLst/>
              <a:ahLst/>
              <a:cxnLst/>
              <a:rect r="r" b="b" t="t" l="l"/>
              <a:pathLst>
                <a:path h="4572000" w="5969000">
                  <a:moveTo>
                    <a:pt x="127000" y="0"/>
                  </a:moveTo>
                  <a:lnTo>
                    <a:pt x="5842000" y="0"/>
                  </a:lnTo>
                  <a:cubicBezTo>
                    <a:pt x="5912140" y="0"/>
                    <a:pt x="5969000" y="56860"/>
                    <a:pt x="5969000" y="127000"/>
                  </a:cubicBezTo>
                  <a:lnTo>
                    <a:pt x="5969000" y="4445000"/>
                  </a:lnTo>
                  <a:cubicBezTo>
                    <a:pt x="5969000" y="4515140"/>
                    <a:pt x="5912140" y="4572000"/>
                    <a:pt x="5842000" y="4572000"/>
                  </a:cubicBezTo>
                  <a:lnTo>
                    <a:pt x="127000" y="4572000"/>
                  </a:lnTo>
                  <a:cubicBezTo>
                    <a:pt x="56860" y="4572000"/>
                    <a:pt x="0" y="4515140"/>
                    <a:pt x="0" y="44450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D8F5F8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66900" y="3829050"/>
            <a:ext cx="1037555" cy="352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sz="21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0-2 mdr.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66900" y="4562475"/>
            <a:ext cx="3286125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31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Baseline</a:t>
            </a:r>
          </a:p>
          <a:p>
            <a:pPr algn="l">
              <a:lnSpc>
                <a:spcPts val="3628"/>
              </a:lnSpc>
            </a:pPr>
            <a:r>
              <a:rPr lang="en-US" sz="31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og pilot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66900" y="5857875"/>
            <a:ext cx="3429000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17"/>
              </a:lnSpc>
            </a:pPr>
            <a:r>
              <a:rPr lang="en-US" sz="165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Datakilder, KPI-baseline og fakturaflow i kontrolleret pilot.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610350" y="3562350"/>
            <a:ext cx="4476750" cy="3429000"/>
            <a:chOff x="0" y="0"/>
            <a:chExt cx="5969000" cy="4572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969000" cy="4572000"/>
            </a:xfrm>
            <a:custGeom>
              <a:avLst/>
              <a:gdLst/>
              <a:ahLst/>
              <a:cxnLst/>
              <a:rect r="r" b="b" t="t" l="l"/>
              <a:pathLst>
                <a:path h="4572000" w="5969000">
                  <a:moveTo>
                    <a:pt x="127000" y="0"/>
                  </a:moveTo>
                  <a:lnTo>
                    <a:pt x="5842000" y="0"/>
                  </a:lnTo>
                  <a:cubicBezTo>
                    <a:pt x="5912140" y="0"/>
                    <a:pt x="5969000" y="56860"/>
                    <a:pt x="5969000" y="127000"/>
                  </a:cubicBezTo>
                  <a:lnTo>
                    <a:pt x="5969000" y="4445000"/>
                  </a:lnTo>
                  <a:cubicBezTo>
                    <a:pt x="5969000" y="4515140"/>
                    <a:pt x="5912140" y="4572000"/>
                    <a:pt x="5842000" y="4572000"/>
                  </a:cubicBezTo>
                  <a:lnTo>
                    <a:pt x="127000" y="4572000"/>
                  </a:lnTo>
                  <a:cubicBezTo>
                    <a:pt x="56860" y="4572000"/>
                    <a:pt x="0" y="4515140"/>
                    <a:pt x="0" y="44450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E3EBF4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6496050" y="3429000"/>
            <a:ext cx="4476750" cy="3429000"/>
            <a:chOff x="0" y="0"/>
            <a:chExt cx="5969000" cy="457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969000" cy="4572000"/>
            </a:xfrm>
            <a:custGeom>
              <a:avLst/>
              <a:gdLst/>
              <a:ahLst/>
              <a:cxnLst/>
              <a:rect r="r" b="b" t="t" l="l"/>
              <a:pathLst>
                <a:path h="4572000" w="5969000">
                  <a:moveTo>
                    <a:pt x="127000" y="0"/>
                  </a:moveTo>
                  <a:lnTo>
                    <a:pt x="5842000" y="0"/>
                  </a:lnTo>
                  <a:cubicBezTo>
                    <a:pt x="5912140" y="0"/>
                    <a:pt x="5969000" y="56860"/>
                    <a:pt x="5969000" y="127000"/>
                  </a:cubicBezTo>
                  <a:lnTo>
                    <a:pt x="5969000" y="4445000"/>
                  </a:lnTo>
                  <a:cubicBezTo>
                    <a:pt x="5969000" y="4515140"/>
                    <a:pt x="5912140" y="4572000"/>
                    <a:pt x="5842000" y="4572000"/>
                  </a:cubicBezTo>
                  <a:lnTo>
                    <a:pt x="127000" y="4572000"/>
                  </a:lnTo>
                  <a:cubicBezTo>
                    <a:pt x="56860" y="4572000"/>
                    <a:pt x="0" y="4515140"/>
                    <a:pt x="0" y="44450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61B3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819900" y="3829050"/>
            <a:ext cx="200025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sz="21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3-6 mdr.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19900" y="4562475"/>
            <a:ext cx="3286125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31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Integration</a:t>
            </a:r>
          </a:p>
          <a:p>
            <a:pPr algn="l">
              <a:lnSpc>
                <a:spcPts val="3628"/>
              </a:lnSpc>
            </a:pPr>
            <a:r>
              <a:rPr lang="en-US" sz="315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og governance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819900" y="5857875"/>
            <a:ext cx="3429000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17"/>
              </a:lnSpc>
            </a:pPr>
            <a:r>
              <a:rPr lang="en-US" sz="1650">
                <a:solidFill>
                  <a:srgbClr val="EAF0FF"/>
                </a:solidFill>
                <a:latin typeface="Arial"/>
                <a:ea typeface="Arial"/>
                <a:cs typeface="Arial"/>
                <a:sym typeface="Arial"/>
              </a:rPr>
              <a:t>Copilot Studio/Power Platform, datakontrol, human approval og change.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563350" y="3562350"/>
            <a:ext cx="4476750" cy="3429000"/>
            <a:chOff x="0" y="0"/>
            <a:chExt cx="5969000" cy="4572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969000" cy="4572000"/>
            </a:xfrm>
            <a:custGeom>
              <a:avLst/>
              <a:gdLst/>
              <a:ahLst/>
              <a:cxnLst/>
              <a:rect r="r" b="b" t="t" l="l"/>
              <a:pathLst>
                <a:path h="4572000" w="5969000">
                  <a:moveTo>
                    <a:pt x="127000" y="0"/>
                  </a:moveTo>
                  <a:lnTo>
                    <a:pt x="5842000" y="0"/>
                  </a:lnTo>
                  <a:cubicBezTo>
                    <a:pt x="5912140" y="0"/>
                    <a:pt x="5969000" y="56860"/>
                    <a:pt x="5969000" y="127000"/>
                  </a:cubicBezTo>
                  <a:lnTo>
                    <a:pt x="5969000" y="4445000"/>
                  </a:lnTo>
                  <a:cubicBezTo>
                    <a:pt x="5969000" y="4515140"/>
                    <a:pt x="5912140" y="4572000"/>
                    <a:pt x="5842000" y="4572000"/>
                  </a:cubicBezTo>
                  <a:lnTo>
                    <a:pt x="127000" y="4572000"/>
                  </a:lnTo>
                  <a:cubicBezTo>
                    <a:pt x="56860" y="4572000"/>
                    <a:pt x="0" y="4515140"/>
                    <a:pt x="0" y="44450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E3EBF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1449050" y="3429000"/>
            <a:ext cx="4476750" cy="3429000"/>
            <a:chOff x="0" y="0"/>
            <a:chExt cx="5969000" cy="45720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969000" cy="4572000"/>
            </a:xfrm>
            <a:custGeom>
              <a:avLst/>
              <a:gdLst/>
              <a:ahLst/>
              <a:cxnLst/>
              <a:rect r="r" b="b" t="t" l="l"/>
              <a:pathLst>
                <a:path h="4572000" w="5969000">
                  <a:moveTo>
                    <a:pt x="127000" y="0"/>
                  </a:moveTo>
                  <a:lnTo>
                    <a:pt x="5842000" y="0"/>
                  </a:lnTo>
                  <a:cubicBezTo>
                    <a:pt x="5912140" y="0"/>
                    <a:pt x="5969000" y="56860"/>
                    <a:pt x="5969000" y="127000"/>
                  </a:cubicBezTo>
                  <a:lnTo>
                    <a:pt x="5969000" y="4445000"/>
                  </a:lnTo>
                  <a:cubicBezTo>
                    <a:pt x="5969000" y="4515140"/>
                    <a:pt x="5912140" y="4572000"/>
                    <a:pt x="5842000" y="4572000"/>
                  </a:cubicBezTo>
                  <a:lnTo>
                    <a:pt x="127000" y="4572000"/>
                  </a:lnTo>
                  <a:cubicBezTo>
                    <a:pt x="56860" y="4572000"/>
                    <a:pt x="0" y="4515140"/>
                    <a:pt x="0" y="4445000"/>
                  </a:cubicBezTo>
                  <a:lnTo>
                    <a:pt x="0" y="127000"/>
                  </a:ln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0BAFF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1772900" y="3829050"/>
            <a:ext cx="200025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sz="210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6-12 mdr.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772900" y="4562475"/>
            <a:ext cx="3286125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31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Skalering</a:t>
            </a:r>
          </a:p>
          <a:p>
            <a:pPr algn="l">
              <a:lnSpc>
                <a:spcPts val="3628"/>
              </a:lnSpc>
            </a:pPr>
            <a:r>
              <a:rPr lang="en-US" sz="31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på journeys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772900" y="5857875"/>
            <a:ext cx="3429000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17"/>
              </a:lnSpc>
            </a:pPr>
            <a:r>
              <a:rPr lang="en-US" sz="1650">
                <a:solidFill>
                  <a:srgbClr val="061B3F"/>
                </a:solidFill>
                <a:latin typeface="Arial"/>
                <a:ea typeface="Arial"/>
                <a:cs typeface="Arial"/>
                <a:sym typeface="Arial"/>
              </a:rPr>
              <a:t>Genbrug agentmønster på abonnement, drift, opsigelse og back-office.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2286000" y="7829550"/>
            <a:ext cx="13868400" cy="914400"/>
            <a:chOff x="0" y="0"/>
            <a:chExt cx="18491200" cy="12192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84912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8491200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18389600" y="0"/>
                  </a:lnTo>
                  <a:cubicBezTo>
                    <a:pt x="18445735" y="0"/>
                    <a:pt x="18491200" y="45466"/>
                    <a:pt x="18491200" y="101600"/>
                  </a:cubicBezTo>
                  <a:lnTo>
                    <a:pt x="18491200" y="1117600"/>
                  </a:lnTo>
                  <a:cubicBezTo>
                    <a:pt x="18491200" y="1173734"/>
                    <a:pt x="18445735" y="1219200"/>
                    <a:pt x="18389600" y="1219200"/>
                  </a:cubicBezTo>
                  <a:lnTo>
                    <a:pt x="101600" y="1219200"/>
                  </a:lnTo>
                  <a:cubicBezTo>
                    <a:pt x="45466" y="1219200"/>
                    <a:pt x="0" y="1173734"/>
                    <a:pt x="0" y="1117600"/>
                  </a:cubicBezTo>
                  <a:close/>
                </a:path>
              </a:pathLst>
            </a:custGeom>
            <a:solidFill>
              <a:srgbClr val="E7EEF6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2205038" y="7729538"/>
            <a:ext cx="13877925" cy="923925"/>
            <a:chOff x="0" y="0"/>
            <a:chExt cx="18503900" cy="12319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8503900" cy="1231900"/>
            </a:xfrm>
            <a:custGeom>
              <a:avLst/>
              <a:gdLst/>
              <a:ahLst/>
              <a:cxnLst/>
              <a:rect r="r" b="b" t="t" l="l"/>
              <a:pathLst>
                <a:path h="1231900" w="18503900">
                  <a:moveTo>
                    <a:pt x="0" y="102616"/>
                  </a:moveTo>
                  <a:cubicBezTo>
                    <a:pt x="0" y="45974"/>
                    <a:pt x="45974" y="0"/>
                    <a:pt x="102616" y="0"/>
                  </a:cubicBezTo>
                  <a:lnTo>
                    <a:pt x="18401285" y="0"/>
                  </a:lnTo>
                  <a:cubicBezTo>
                    <a:pt x="18457926" y="0"/>
                    <a:pt x="18503900" y="45974"/>
                    <a:pt x="18503900" y="102616"/>
                  </a:cubicBezTo>
                  <a:lnTo>
                    <a:pt x="18503900" y="1129284"/>
                  </a:lnTo>
                  <a:cubicBezTo>
                    <a:pt x="18503900" y="1185926"/>
                    <a:pt x="18457926" y="1231900"/>
                    <a:pt x="18401285" y="1231900"/>
                  </a:cubicBezTo>
                  <a:lnTo>
                    <a:pt x="102616" y="1231900"/>
                  </a:lnTo>
                  <a:cubicBezTo>
                    <a:pt x="45974" y="1231900"/>
                    <a:pt x="0" y="1185926"/>
                    <a:pt x="0" y="1129284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DE7F1"/>
              </a:solidFill>
              <a:prstDash val="solid"/>
              <a:miter/>
            </a:ln>
          </p:spPr>
        </p:sp>
      </p:grpSp>
      <p:sp>
        <p:nvSpPr>
          <p:cNvPr name="TextBox 29" id="29"/>
          <p:cNvSpPr txBox="true"/>
          <p:nvPr/>
        </p:nvSpPr>
        <p:spPr>
          <a:xfrm rot="0">
            <a:off x="3026228" y="7791450"/>
            <a:ext cx="11644993" cy="68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1"/>
              </a:lnSpc>
            </a:pPr>
            <a:r>
              <a:rPr lang="en-US" sz="2025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Anbefaling: Start smalt nok til at bevise effekten, men design governance, integration og change management som et program fra dag ét.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76300" y="9667875"/>
            <a:ext cx="723900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© 2026 KPMG P/S · Arbejdsmateriale til Company X case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5621000" y="9667875"/>
            <a:ext cx="1428750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09"/>
              </a:lnSpc>
            </a:pPr>
            <a:r>
              <a:rPr lang="en-US" sz="900">
                <a:solidFill>
                  <a:srgbClr val="9C9C9C"/>
                </a:solidFill>
                <a:latin typeface="Arial"/>
                <a:ea typeface="Arial"/>
                <a:cs typeface="Arial"/>
                <a:sym typeface="Arial"/>
              </a:rPr>
              <a:t>Recommendation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7135475" y="9772650"/>
            <a:ext cx="19050" cy="190500"/>
            <a:chOff x="0" y="0"/>
            <a:chExt cx="25400" cy="254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5400" cy="254000"/>
            </a:xfrm>
            <a:custGeom>
              <a:avLst/>
              <a:gdLst/>
              <a:ahLst/>
              <a:cxnLst/>
              <a:rect r="r" b="b" t="t" l="l"/>
              <a:pathLst>
                <a:path h="254000" w="25400">
                  <a:moveTo>
                    <a:pt x="0" y="0"/>
                  </a:moveTo>
                  <a:lnTo>
                    <a:pt x="25400" y="254000"/>
                  </a:lnTo>
                </a:path>
              </a:pathLst>
            </a:custGeom>
            <a:blipFill>
              <a:blip r:embed="rId2">
                <a:alphaModFix amt="0"/>
              </a:blip>
              <a:stretch>
                <a:fillRect l="-1233035" t="0" r="-1233035" b="0"/>
              </a:stretch>
            </a:blipFill>
            <a:ln w="19050" cap="sq">
              <a:solidFill>
                <a:srgbClr val="061B3F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17297400" y="9620250"/>
            <a:ext cx="2667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350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10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866775" y="9476345"/>
            <a:ext cx="456796" cy="182005"/>
          </a:xfrm>
          <a:custGeom>
            <a:avLst/>
            <a:gdLst/>
            <a:ahLst/>
            <a:cxnLst/>
            <a:rect r="r" b="b" t="t" l="l"/>
            <a:pathLst>
              <a:path h="182005" w="456796">
                <a:moveTo>
                  <a:pt x="0" y="0"/>
                </a:moveTo>
                <a:lnTo>
                  <a:pt x="456796" y="0"/>
                </a:lnTo>
                <a:lnTo>
                  <a:pt x="456796" y="182005"/>
                </a:lnTo>
                <a:lnTo>
                  <a:pt x="0" y="1820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14382750" y="771525"/>
            <a:ext cx="314325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11"/>
              </a:lnSpc>
            </a:pPr>
            <a:r>
              <a:rPr lang="en-US" sz="105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Dokumentklassifikation: KPMG fortroligt</a:t>
            </a:r>
          </a:p>
        </p:txBody>
      </p:sp>
      <p:sp>
        <p:nvSpPr>
          <p:cNvPr name="Freeform 37" id="37"/>
          <p:cNvSpPr/>
          <p:nvPr/>
        </p:nvSpPr>
        <p:spPr>
          <a:xfrm flipH="false" flipV="false" rot="0">
            <a:off x="15621000" y="324641"/>
            <a:ext cx="287675" cy="287675"/>
          </a:xfrm>
          <a:custGeom>
            <a:avLst/>
            <a:gdLst/>
            <a:ahLst/>
            <a:cxnLst/>
            <a:rect r="r" b="b" t="t" l="l"/>
            <a:pathLst>
              <a:path h="287675" w="287675">
                <a:moveTo>
                  <a:pt x="0" y="0"/>
                </a:moveTo>
                <a:lnTo>
                  <a:pt x="287675" y="0"/>
                </a:lnTo>
                <a:lnTo>
                  <a:pt x="287675" y="287675"/>
                </a:lnTo>
                <a:lnTo>
                  <a:pt x="0" y="2876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38" id="38"/>
          <p:cNvSpPr/>
          <p:nvPr/>
        </p:nvSpPr>
        <p:spPr>
          <a:xfrm flipH="false" flipV="false" rot="0">
            <a:off x="15629775" y="324641"/>
            <a:ext cx="270125" cy="270125"/>
          </a:xfrm>
          <a:custGeom>
            <a:avLst/>
            <a:gdLst/>
            <a:ahLst/>
            <a:cxnLst/>
            <a:rect r="r" b="b" t="t" l="l"/>
            <a:pathLst>
              <a:path h="270125" w="270125">
                <a:moveTo>
                  <a:pt x="0" y="0"/>
                </a:moveTo>
                <a:lnTo>
                  <a:pt x="270125" y="0"/>
                </a:lnTo>
                <a:lnTo>
                  <a:pt x="270125" y="270125"/>
                </a:lnTo>
                <a:lnTo>
                  <a:pt x="0" y="2701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15746594" y="363749"/>
            <a:ext cx="36487" cy="36487"/>
          </a:xfrm>
          <a:custGeom>
            <a:avLst/>
            <a:gdLst/>
            <a:ahLst/>
            <a:cxnLst/>
            <a:rect r="r" b="b" t="t" l="l"/>
            <a:pathLst>
              <a:path h="36487" w="36487">
                <a:moveTo>
                  <a:pt x="0" y="0"/>
                </a:moveTo>
                <a:lnTo>
                  <a:pt x="36487" y="0"/>
                </a:lnTo>
                <a:lnTo>
                  <a:pt x="36487" y="36487"/>
                </a:lnTo>
                <a:lnTo>
                  <a:pt x="0" y="3648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40" id="40"/>
          <p:cNvSpPr/>
          <p:nvPr/>
        </p:nvSpPr>
        <p:spPr>
          <a:xfrm flipH="false" flipV="false" rot="0">
            <a:off x="15746594" y="520512"/>
            <a:ext cx="36487" cy="36487"/>
          </a:xfrm>
          <a:custGeom>
            <a:avLst/>
            <a:gdLst/>
            <a:ahLst/>
            <a:cxnLst/>
            <a:rect r="r" b="b" t="t" l="l"/>
            <a:pathLst>
              <a:path h="36487" w="36487">
                <a:moveTo>
                  <a:pt x="0" y="0"/>
                </a:moveTo>
                <a:lnTo>
                  <a:pt x="36487" y="0"/>
                </a:lnTo>
                <a:lnTo>
                  <a:pt x="36487" y="36487"/>
                </a:lnTo>
                <a:lnTo>
                  <a:pt x="0" y="3648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17284250" y="329482"/>
            <a:ext cx="697707" cy="277993"/>
          </a:xfrm>
          <a:custGeom>
            <a:avLst/>
            <a:gdLst/>
            <a:ahLst/>
            <a:cxnLst/>
            <a:rect r="r" b="b" t="t" l="l"/>
            <a:pathLst>
              <a:path h="277993" w="697707">
                <a:moveTo>
                  <a:pt x="0" y="0"/>
                </a:moveTo>
                <a:lnTo>
                  <a:pt x="697707" y="0"/>
                </a:lnTo>
                <a:lnTo>
                  <a:pt x="697707" y="277993"/>
                </a:lnTo>
                <a:lnTo>
                  <a:pt x="0" y="2779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16004827" y="482215"/>
            <a:ext cx="1628357" cy="149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"/>
              </a:lnSpc>
            </a:pPr>
            <a:r>
              <a:rPr lang="en-US" sz="595" b="true">
                <a:solidFill>
                  <a:srgbClr val="6D7584"/>
                </a:solidFill>
                <a:latin typeface="Arial Bold"/>
                <a:ea typeface="Arial Bold"/>
                <a:cs typeface="Arial Bold"/>
                <a:sym typeface="Arial Bold"/>
              </a:rPr>
              <a:t>TELECOMMUNICATIONS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6004827" y="265436"/>
            <a:ext cx="1279423" cy="203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5"/>
              </a:lnSpc>
            </a:pPr>
            <a:r>
              <a:rPr lang="en-US" sz="1282" b="true">
                <a:solidFill>
                  <a:srgbClr val="061B3F"/>
                </a:solidFill>
                <a:latin typeface="Arial Bold"/>
                <a:ea typeface="Arial Bold"/>
                <a:cs typeface="Arial Bold"/>
                <a:sym typeface="Arial Bold"/>
              </a:rPr>
              <a:t>Company X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7013370" y="333117"/>
            <a:ext cx="186098" cy="216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46"/>
              </a:lnSpc>
            </a:pPr>
            <a:r>
              <a:rPr lang="en-US" sz="1465">
                <a:solidFill>
                  <a:srgbClr val="798399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DAHNl8UKyR4</dc:identifier>
  <dcterms:modified xsi:type="dcterms:W3CDTF">2011-08-01T06:04:30Z</dcterms:modified>
  <cp:revision>1</cp:revision>
  <dc:title>KPMG CASE</dc:title>
</cp:coreProperties>
</file>